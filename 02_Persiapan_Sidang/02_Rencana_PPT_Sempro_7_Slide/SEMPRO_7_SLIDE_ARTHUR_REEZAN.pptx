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penguji yang saya hormati, serta Ibu Dr. Fredella Colline selaku dosen pembimbing.</a:t>
            </a:r>
          </a:p>
          <a:p/>
          <a:p>
            <a:r>
              <a:t>Perkenalkan, saya Arthur Reezan, NIM 312023002, mahasiswa Program Studi S1 Manajemen konsentrasi Keuangan FEB UKRIDA.</a:t>
            </a:r>
          </a:p>
          <a:p/>
          <a:p>
            <a:r>
              <a:t>Pada kesempatan ini saya akan mempresentasikan usulan penelitian proposal skripsi saya yang berjudul: "Pengaruh Hedonic Motivation, Desire for Completeness, dan Speculative Motive terhadap Impulsive Buying Booster Pack Kartu Pokémon TCG dengan Self-Control sebagai Variabel Moderasi".</a:t>
            </a:r>
          </a:p>
          <a:p/>
          <a:p>
            <a:r>
              <a:t>[TAMENG PRESENTER]:</a:t>
            </a:r>
          </a:p>
          <a:p>
            <a:r>
              <a:t>- Sebutkan gelar pembimbing secara lengkap sebagai bentuk etika kesantunan akademik.</a:t>
            </a:r>
          </a:p>
          <a:p>
            <a:r>
              <a:t>- Jangan membaca judul kata-per-kata dari slide; tatap mata dewan penguji.</a:t>
            </a:r>
          </a:p>
          <a:p>
            <a:r>
              <a:t>- Transisi: "Saya mulai dari fenomena industri dan perkembangan pasar yang melatarbelakangi penelitian ini pada slide ke-2."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Penelitian ini dilatarbelakangi oleh perkembangan industri collectibles alternatif, di mana Pokémon TCG bertransformasi dari kartu mainan hobi menjadi komoditas bernilai finansial.</a:t>
            </a:r>
          </a:p>
          <a:p/>
          <a:p>
            <a:r>
              <a:t>Pokémon merupakan waralaba media terbesar di dunia dengan pendapatan kumulatif melebihi 100 miliar dolar AS. Sebagaimana terlihat pada Gambar 1.2, produksi kartu fisiknya meledak dari 28,8 miliar lembar pada 2019 menjadi 64,8 miliar lembar pada 2024—lonjakan 125% dalam 5 tahun.</a:t>
            </a:r>
          </a:p>
          <a:p/>
          <a:p>
            <a:r>
              <a:t>Di Indonesia, kartu resmi berbahasa Indonesia hadir sejak 2019 dan didistribusikan secara masif hingga jaringan minimarket kasir modern. Karakteristik uniknya adalah produk dijual seharga 20 ribuan rupiah dalam format blind pack acak, di mana pembeli mengejar kartu langka bernilai jutaan rupiah. Hal ini memicu sensasi near-miss yang mendorong belanja berulang.</a:t>
            </a:r>
          </a:p>
          <a:p/>
          <a:p>
            <a:r>
              <a:t>[TAMENG PRESENTER]:</a:t>
            </a:r>
          </a:p>
          <a:p>
            <a:r>
              <a:t>- Tekankan 3 angka kunci: 100 Miliar Dolar, 64,8 Miliar Lembar, dan Rp20.000-an.</a:t>
            </a:r>
          </a:p>
          <a:p>
            <a:r>
              <a:t>- Transisi: "Karakteristik produk ini kemudian melahirkan masalah perilaku keuangan yang menjadi fokus penelitian saya di slide ke-3."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Permasalahan utama penelitian ini adalah bagaimana kombinasi harga terjangkau, kemasan acak, dan peluang kartu bernilai tinggi menciptakan dorongan belanja berulang tanpa perencanaan anggaran, atau impulsive buying.</a:t>
            </a:r>
          </a:p>
          <a:p/>
          <a:p>
            <a:r>
              <a:t>Di pasar sekunder (Gambar 1.3), data PriceCharting membuktikan disparitas harga ekstrem: kartu mentah dapat melonjak hingga 26 kali lipat setelah memperoleh penilaian PSA 10. Perlu ditegaskan, Gambar 1.3 ini adalah ilustrasi fenomena pasar sekunder, bukan data uji sekunder yang diolah.</a:t>
            </a:r>
          </a:p>
          <a:p/>
          <a:p>
            <a:r>
              <a:t>Dari literatur empiris terdapat 3 research gap:</a:t>
            </a:r>
          </a:p>
          <a:p>
            <a:r>
              <a:t>1. Gap Hedonis: inkonsistensi efek moderasi kontrol diri antara temuan Pranggabayu dan Apidana.</a:t>
            </a:r>
          </a:p>
          <a:p>
            <a:r>
              <a:t>2. Gap Kelengkapan: teori pseudo-set Barasz et al. belum pernah diuji empiris pada kartu fisik bernomor seri di Indonesia.</a:t>
            </a:r>
          </a:p>
          <a:p>
            <a:r>
              <a:t>3. Gap Spekulasi: riset sebelumnya baru menguji motif investasi terencana di komunitas; belum ada yang menguji apakah ekspektasi untung PSA 10 memicu belanja impulsif di kasir ritel serta ketiadaan variabel kontrol diri.</a:t>
            </a:r>
          </a:p>
          <a:p/>
          <a:p>
            <a:r>
              <a:t>Kebaruan penelitian saya adalah mengintegrasikan ketiga dorongan tersebut secara simultan dengan Self-Control sebagai pemoderasi.</a:t>
            </a:r>
          </a:p>
          <a:p/>
          <a:p>
            <a:r>
              <a:t>[TAMENG PRESENTER]:</a:t>
            </a:r>
          </a:p>
          <a:p>
            <a:r>
              <a:t>- Ingat penjelasan Gambar 1.3 adalah ilustrasi disparitas pasar sekunder.</a:t>
            </a:r>
          </a:p>
          <a:p>
            <a:r>
              <a:t>- Transisi: "Untuk membedah masalah dan mengisi celah riset tersebut, saya menyusun landasan teoretis berikut pada slide ke-4."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Penelitian ini dibangun di atas Behavioral Finance sebagai Grand Theory, yang menegaskan bahwa keputusan finansial individu tidak selalu rasional murni, melainkan dipengaruhi bias kognitif dan luapan afektif sesaat di etalase kasir.</a:t>
            </a:r>
          </a:p>
          <a:p/>
          <a:p>
            <a:r>
              <a:t>Grand theory ini ditopang oleh 3 supporting theories yang terpadu:</a:t>
            </a:r>
          </a:p>
          <a:p>
            <a:r>
              <a:t>1. S-O-R Framework mengenai stimulus kemasan kasir,</a:t>
            </a:r>
          </a:p>
          <a:p>
            <a:r>
              <a:t>2. Pseudo-Set Framing mengenai ketegangan kognitif melengkapi slot binder kosong, dan</a:t>
            </a:r>
          </a:p>
          <a:p>
            <a:r>
              <a:t>3. Self-Regulation Theory mengenai kapasitas volisional sebagai rem mental.</a:t>
            </a:r>
          </a:p>
          <a:p/>
          <a:p>
            <a:r>
              <a:t>Berdasarkan landasan teori tersebut, penelitian ini mengoperasionalkan lima variabel menggunakan instrumen baku internasional:</a:t>
            </a:r>
          </a:p>
          <a:p>
            <a:r>
              <a:t>- Y Impulsive Buying: skala IBTS Verplanken et al. (2001), 9 butir.</a:t>
            </a:r>
          </a:p>
          <a:p>
            <a:r>
              <a:t>- X1 Hedonic Motivation: skala Babin et al. (1994), 8 butir.</a:t>
            </a:r>
          </a:p>
          <a:p>
            <a:r>
              <a:t>- X2 Desire for Completeness: skala Barasz et al. (2017), 6 butir.</a:t>
            </a:r>
          </a:p>
          <a:p>
            <a:r>
              <a:t>- X3 Speculative Motive: skala Keynes (1936) &amp; Shiller (2000), 6 butir.</a:t>
            </a:r>
          </a:p>
          <a:p>
            <a:r>
              <a:t>- M Self-Control: skala BSCS Tangney et al. (2004), 8 butir.</a:t>
            </a:r>
          </a:p>
          <a:p/>
          <a:p>
            <a:r>
              <a:t>[TAMENG PRESENTER]:</a:t>
            </a:r>
          </a:p>
          <a:p>
            <a:r>
              <a:t>- Jika ditanya: Mengapa Grand Theory Keuangan Perilaku? Jawab: Karena kartu Pokémon kini telah mengalami financialization menjadi aset alternatif spekulatif.</a:t>
            </a:r>
          </a:p>
          <a:p>
            <a:r>
              <a:t>- Transisi: "Dari kajian teori dan temuan terdahulu, saya merumuskan model penelitian dan 6 hipotesis pada slide ke-5."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Berdasarkan sintesis riset empiris terdahulu, saya merumuskan model penelitian dengan tepat 6 hipotesis terarah.</a:t>
            </a:r>
          </a:p>
          <a:p/>
          <a:p>
            <a:r>
              <a:t>H1, H2, dan H3 menguji pengaruh langsung positif dari motivasi hedonis, hasrat kelengkapan koleksi, dan motif spekulasi terhadap pembelian impulsif. Sedangkan H4, H5, dan H6 menguji efek moderasi Self-Control yang dihipotesiskan memperlemah hubungan masing-masing variabel independen tersebut terhadap Impulsive Buying.</a:t>
            </a:r>
          </a:p>
          <a:p/>
          <a:p>
            <a:r>
              <a:t>Pengujian dilakukan menggunakan Moderated Regression Analysis (MRA) dua-tahap secara hierarkis sesuai kaidah Aiken &amp; West (1991):</a:t>
            </a:r>
          </a:p>
          <a:p>
            <a:r>
              <a:t>- Tahap 1 mengestimasi pengaruh aditif efek utama X1, X2, X3 serta memasukkan Self-Control sebagai baseline control aditif untuk mendapatkan R-Square Model 1.</a:t>
            </a:r>
          </a:p>
          <a:p>
            <a:r>
              <a:t>- Kemudian pada Tahap 2, ketiga istilah perkalian interaksi dimasukkan.</a:t>
            </a:r>
          </a:p>
          <a:p>
            <a:r>
              <a:t>Dengan demikian, lonjakan Delta R-Square pada Tahap 2 murni mengisolasi kontribusi efek moderasi tanpa tercampur efek langsung kontrol diri, yang diuji signifikansinya menggunakan F-change.</a:t>
            </a:r>
          </a:p>
          <a:p/>
          <a:p>
            <a:r>
              <a:t>[TAMENG PRESENTER]:</a:t>
            </a:r>
          </a:p>
          <a:p>
            <a:r>
              <a:t>- Pertanyaan Sidang Klasik: Mengapa harus dua tahap, Arthur? Kenapa tidak langsung satu regresi saja?</a:t>
            </a:r>
          </a:p>
          <a:p>
            <a:r>
              <a:t>  Jawaban: "Jika langsung satu model, kita tidak bisa membuktikan apakah tambahan daya jelas model (R²) berasal dari efek kontrol diri itu sendiri atau murni dari efek interaksinya. Prosedur 2-tahap menjamin Delta R² murni mengukur kontribusi moderasi melalui uji F-change."</a:t>
            </a:r>
          </a:p>
          <a:p>
            <a:r>
              <a:t>- Transisi: "Untuk menguji model dan keenam hipotesis ini secara ilmiah, rancangan metode penelitian disajikan pada slide ke-6."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Penelitian ini menggunakan pendekatan kuantitatif asosiatif kausal dengan desain cross-sectional berbasis kuesioner skala Likert 5 poin. Populasi penelitian adalah komunitas kolektor Pokémon TCG di Indonesia yang bersifat tak terbatas.</a:t>
            </a:r>
          </a:p>
          <a:p/>
          <a:p>
            <a:r>
              <a:t>Teknik pengambilan sampel adalah purposive sampling dengan kriteria WNI usia minimal 17 tahun dan pernah membeli booster pack fisik dalam setahun terakhir. Berdasarkan formula Green (1991), ukuran sampel minimum untuk uji t parsial 7 prediktor adalah 111 responden. Target sampel yang ditetapkan adalah 120 sampai 150 responden, didahului pilot test 30 responden untuk menguji validitas dan reliabilitas instrumen.</a:t>
            </a:r>
          </a:p>
          <a:p/>
          <a:p>
            <a:r>
              <a:t>Analisis data menggunakan SPSS dengan Moderated Regression Analysis berbasis OLS. Sebelum uji hipotesis, dilakukan pemenuhan asumsi klasik normalitas, multikolinearitas, dan heteroskedastisitas Glejser. Uji autokorelasi tidak dilakukan karena data survei bersifat cross-sectional, bukan data runtun waktu.</a:t>
            </a:r>
          </a:p>
          <a:p/>
          <a:p>
            <a:r>
              <a:t>Untuk mengatasi multikolinearitas esensial akibat perkalian interaksi moderasi, seluruh variabel independen dan moderator ditransformasikan menggunakan teknik Mean-Centering sesuai kaidah Aiken &amp; West (1991). Selanjutnya dilakukan uji t parsial, uji F-change, dan simple slopes analysis.</a:t>
            </a:r>
          </a:p>
          <a:p/>
          <a:p>
            <a:r>
              <a:t>[TAMENG PRESENTER]:</a:t>
            </a:r>
          </a:p>
          <a:p>
            <a:r>
              <a:t>- Sebutkan istilah "Mean-Centering" dengan tegas. Ini adalah jawaban mutlak jika ditanya soal multikolinearitas perkalian moderasi.</a:t>
            </a:r>
          </a:p>
          <a:p>
            <a:r>
              <a:t>- Transisi: "Sebagai rangkuman akhir, kontribusi dan simpulan rancangan proposal ini disajikan pada slide penutup."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penutup, penelitian ini dirancang untuk menguji bagaimana motivasi hedonis, hasrat kelengkapan koleksi, dan motif spekulasi memicu pembelian impulsif booster pack Pokémon TCG, serta bagaimana Self-Control berperan sebagai variabel moderasi.</a:t>
            </a:r>
          </a:p>
          <a:p/>
          <a:p>
            <a:r>
              <a:t>Penelitian ini diharapkan memberikan kontribusi teoretis bagi pengayaan literatur Behavioral Finance pada komoditas hobi di Indonesia dan memvalidasi efek moderasi Self-Control; serta secara praktis memberikan edukasi literasi keuangan dan proteksi finansial bagi generasi muda agar terhindar dari jebakan pengeluaran impulsif di etalase kasir ritel modern.</a:t>
            </a:r>
          </a:p>
          <a:p/>
          <a:p>
            <a:r>
              <a:t>Demikian pemaparan proposal penelitian saya. Saya mengucapkan terima kasih yang sebesar-besarnya kepada Ibu Dr. Fredella Colline atas bimbingannya, serta kepada Bapak dan Ibu dosen penguji atas perhatiannya. Saya sangat mengharapkan kritik, saran, dan masukan untuk penyempurnaan riset ini.</a:t>
            </a:r>
          </a:p>
          <a:p/>
          <a:p>
            <a:r>
              <a:t>Sesi tanya jawab dengan hormat saya buka. Terima kasih.</a:t>
            </a:r>
          </a:p>
          <a:p/>
          <a:p>
            <a:r>
              <a:t>[TAMENG PRESENTER]:</a:t>
            </a:r>
          </a:p>
          <a:p>
            <a:r>
              <a:t>- Ucapkan terima kasih dengan senyum, tatap dewan penguji dan pembimbing, lalu berdiri tegak dan siap membuka catatan proposal fisik.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UKRIDA_300x300.png"/>
          <p:cNvPicPr>
            <a:picLocks noChangeAspect="1"/>
          </p:cNvPicPr>
          <p:nvPr/>
        </p:nvPicPr>
        <p:blipFill>
          <a:blip r:embed="rId2"/>
          <a:stretch>
            <a:fillRect/>
          </a:stretch>
        </p:blipFill>
        <p:spPr>
          <a:xfrm>
            <a:off x="731520" y="502920"/>
            <a:ext cx="822960" cy="822960"/>
          </a:xfrm>
          <a:prstGeom prst="rect">
            <a:avLst/>
          </a:prstGeom>
        </p:spPr>
      </p:pic>
      <p:sp>
        <p:nvSpPr>
          <p:cNvPr id="7" name="TextBox 6"/>
          <p:cNvSpPr txBox="1"/>
          <p:nvPr/>
        </p:nvSpPr>
        <p:spPr>
          <a:xfrm>
            <a:off x="1691640" y="502920"/>
            <a:ext cx="5486400" cy="822960"/>
          </a:xfrm>
          <a:prstGeom prst="rect">
            <a:avLst/>
          </a:prstGeom>
          <a:noFill/>
        </p:spPr>
        <p:txBody>
          <a:bodyPr wrap="square" lIns="0">
            <a:spAutoFit/>
          </a:bodyPr>
          <a:lstStyle/>
          <a:p>
            <a:pPr>
              <a:defRPr sz="1300" b="1">
                <a:solidFill>
                  <a:srgbClr val="0F2642"/>
                </a:solidFill>
                <a:latin typeface="Segoe UI"/>
              </a:defRPr>
            </a:pPr>
            <a:r>
              <a:t>UNIVERSITAS KRISTEN KRIDA WACANA</a:t>
            </a:r>
          </a:p>
          <a:p>
            <a:pPr>
              <a:defRPr sz="1050">
                <a:solidFill>
                  <a:srgbClr val="475569"/>
                </a:solidFill>
                <a:latin typeface="Segoe UI"/>
              </a:defRPr>
            </a:pPr>
            <a:r>
              <a:t>Fakultas Ekonomi dan Bisnis • S1 Manajemen Keuangan</a:t>
            </a:r>
          </a:p>
        </p:txBody>
      </p:sp>
      <p:sp>
        <p:nvSpPr>
          <p:cNvPr id="8" name="Rounded Rectangle 7"/>
          <p:cNvSpPr/>
          <p:nvPr/>
        </p:nvSpPr>
        <p:spPr>
          <a:xfrm>
            <a:off x="731520" y="1508760"/>
            <a:ext cx="3931920" cy="292608"/>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tIns="36576"/>
          <a:lstStyle/>
          <a:p>
            <a:pPr algn="ctr">
              <a:defRPr sz="950" b="1">
                <a:solidFill>
                  <a:srgbClr val="D97706"/>
                </a:solidFill>
                <a:latin typeface="Segoe UI"/>
              </a:defRPr>
            </a:pPr>
            <a:r>
              <a:t>SEMINAR PROPOSAL TUGAS AKHIR (MODEL B: KUANTITATIF)</a:t>
            </a:r>
          </a:p>
        </p:txBody>
      </p:sp>
      <p:sp>
        <p:nvSpPr>
          <p:cNvPr id="9" name="TextBox 8"/>
          <p:cNvSpPr txBox="1"/>
          <p:nvPr/>
        </p:nvSpPr>
        <p:spPr>
          <a:xfrm>
            <a:off x="731520" y="1920240"/>
            <a:ext cx="6583680" cy="3291840"/>
          </a:xfrm>
          <a:prstGeom prst="rect">
            <a:avLst/>
          </a:prstGeom>
          <a:noFill/>
        </p:spPr>
        <p:txBody>
          <a:bodyPr wrap="square" lIns="0" rIns="0" tIns="0">
            <a:spAutoFit/>
          </a:bodyPr>
          <a:lstStyle/>
          <a:p>
            <a:pPr>
              <a:lnSpc>
                <a:spcPct val="115000"/>
              </a:lnSpc>
              <a:spcAft>
                <a:spcPts val="1200"/>
              </a:spcAft>
            </a:pPr>
            <a:r>
              <a:rPr sz="2000" b="1">
                <a:solidFill>
                  <a:srgbClr val="0F2642"/>
                </a:solidFill>
                <a:latin typeface="Segoe UI"/>
              </a:rPr>
              <a:t>PENGARUH </a:t>
            </a:r>
            <a:r>
              <a:rPr sz="2000" b="1">
                <a:solidFill>
                  <a:srgbClr val="7C3AED"/>
                </a:solidFill>
                <a:latin typeface="Segoe UI"/>
              </a:rPr>
              <a:t>HEDONIC MOTIVATION</a:t>
            </a:r>
            <a:r>
              <a:rPr sz="2000" b="1">
                <a:solidFill>
                  <a:srgbClr val="0F2642"/>
                </a:solidFill>
                <a:latin typeface="Segoe UI"/>
              </a:rPr>
              <a:t>, </a:t>
            </a:r>
            <a:r>
              <a:rPr sz="2000" b="1">
                <a:solidFill>
                  <a:srgbClr val="0284C7"/>
                </a:solidFill>
                <a:latin typeface="Segoe UI"/>
              </a:rPr>
              <a:t>DESIRE FOR COMPLETENESS</a:t>
            </a:r>
            <a:r>
              <a:rPr sz="2000" b="1">
                <a:solidFill>
                  <a:srgbClr val="0F2642"/>
                </a:solidFill>
                <a:latin typeface="Segoe UI"/>
              </a:rPr>
              <a:t>, DAN </a:t>
            </a:r>
            <a:r>
              <a:rPr sz="2000" b="1">
                <a:solidFill>
                  <a:srgbClr val="D97706"/>
                </a:solidFill>
                <a:latin typeface="Segoe UI"/>
              </a:rPr>
              <a:t>SPECULATIVE MOTIVE</a:t>
            </a:r>
            <a:r>
              <a:rPr sz="2000" b="1">
                <a:solidFill>
                  <a:srgbClr val="0F2642"/>
                </a:solidFill>
                <a:latin typeface="Segoe UI"/>
              </a:rPr>
              <a:t> TERHADAP </a:t>
            </a:r>
            <a:r>
              <a:rPr sz="2000" b="1">
                <a:solidFill>
                  <a:srgbClr val="E11D48"/>
                </a:solidFill>
                <a:latin typeface="Segoe UI"/>
              </a:rPr>
              <a:t>IMPULSIVE BUYING</a:t>
            </a:r>
            <a:r>
              <a:rPr sz="2000" b="1">
                <a:solidFill>
                  <a:srgbClr val="0F2642"/>
                </a:solidFill>
                <a:latin typeface="Segoe UI"/>
              </a:rPr>
              <a:t> BOOSTER PACK KARTU POKÉMON TCG DENGAN </a:t>
            </a:r>
            <a:r>
              <a:rPr sz="2000" b="1">
                <a:solidFill>
                  <a:srgbClr val="059669"/>
                </a:solidFill>
                <a:latin typeface="Segoe UI"/>
              </a:rPr>
              <a:t>SELF-CONTROL</a:t>
            </a:r>
            <a:r>
              <a:rPr sz="2000" b="1">
                <a:solidFill>
                  <a:srgbClr val="0F2642"/>
                </a:solidFill>
                <a:latin typeface="Segoe UI"/>
              </a:rPr>
              <a:t> SEBAGAI VARIABEL MODERASI</a:t>
            </a:r>
          </a:p>
          <a:p>
            <a:pPr>
              <a:lnSpc>
                <a:spcPct val="120000"/>
              </a:lnSpc>
            </a:pPr>
            <a:r>
              <a:rPr sz="1100" i="1">
                <a:solidFill>
                  <a:srgbClr val="475569"/>
                </a:solidFill>
                <a:latin typeface="Segoe UI"/>
              </a:rPr>
              <a:t>Studi Perilaku Konsumen Ekonometrika Keuangan Perilaku (Behavioral Finance) pada Komoditas Kolektibel Fisik di Indonesia</a:t>
            </a:r>
          </a:p>
        </p:txBody>
      </p:sp>
      <p:sp>
        <p:nvSpPr>
          <p:cNvPr id="10" name="Rounded Rectangle 9"/>
          <p:cNvSpPr/>
          <p:nvPr/>
        </p:nvSpPr>
        <p:spPr>
          <a:xfrm>
            <a:off x="7589520" y="502920"/>
            <a:ext cx="3870655" cy="5806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731520"/>
            <a:ext cx="3413455" cy="5303520"/>
          </a:xfrm>
          <a:prstGeom prst="rect">
            <a:avLst/>
          </a:prstGeom>
          <a:noFill/>
        </p:spPr>
        <p:txBody>
          <a:bodyPr wrap="square" lIns="0" rIns="0" tIns="0">
            <a:spAutoFit/>
          </a:bodyPr>
          <a:lstStyle/>
          <a:p>
            <a:pPr>
              <a:spcAft>
                <a:spcPts val="1400"/>
              </a:spcAft>
              <a:defRPr sz="1100" b="1">
                <a:solidFill>
                  <a:srgbClr val="1E3A8A"/>
                </a:solidFill>
                <a:latin typeface="Segoe UI"/>
              </a:defRPr>
            </a:pPr>
            <a:r>
              <a:t>INFORMASI PRESENTASI &amp; IDENTITAS</a:t>
            </a:r>
          </a:p>
          <a:p>
            <a:pPr>
              <a:defRPr sz="950">
                <a:solidFill>
                  <a:srgbClr val="64748B"/>
                </a:solidFill>
                <a:latin typeface="Segoe UI"/>
              </a:defRPr>
            </a:pPr>
            <a:r>
              <a:t>Peneliti / Mahasiswa</a:t>
            </a:r>
          </a:p>
          <a:p>
            <a:pPr>
              <a:defRPr sz="1700" b="1">
                <a:solidFill>
                  <a:srgbClr val="0F2642"/>
                </a:solidFill>
                <a:latin typeface="Segoe UI"/>
              </a:defRPr>
            </a:pPr>
            <a:r>
              <a:t>Arthur Reezan</a:t>
            </a:r>
          </a:p>
          <a:p>
            <a:pPr>
              <a:spcAft>
                <a:spcPts val="1400"/>
              </a:spcAft>
              <a:defRPr sz="1000">
                <a:solidFill>
                  <a:srgbClr val="475569"/>
                </a:solidFill>
                <a:latin typeface="Segoe UI"/>
              </a:defRPr>
            </a:pPr>
            <a:r>
              <a:t>NIM: 312023002 • Konsentrasi Keuangan</a:t>
            </a:r>
          </a:p>
          <a:p>
            <a:pPr>
              <a:defRPr sz="950">
                <a:solidFill>
                  <a:srgbClr val="64748B"/>
                </a:solidFill>
                <a:latin typeface="Segoe UI"/>
              </a:defRPr>
            </a:pPr>
            <a:r>
              <a:t>Dosen Pembimbing</a:t>
            </a:r>
          </a:p>
          <a:p>
            <a:pPr>
              <a:defRPr sz="1600" b="1">
                <a:solidFill>
                  <a:srgbClr val="0F2642"/>
                </a:solidFill>
                <a:latin typeface="Segoe UI"/>
              </a:defRPr>
            </a:pPr>
            <a:r>
              <a:t>Dr. Fredella Colline</a:t>
            </a:r>
          </a:p>
          <a:p>
            <a:pPr>
              <a:spcAft>
                <a:spcPts val="1400"/>
              </a:spcAft>
              <a:defRPr sz="1050" b="1">
                <a:solidFill>
                  <a:srgbClr val="D97706"/>
                </a:solidFill>
                <a:latin typeface="Segoe UI"/>
              </a:defRPr>
            </a:pPr>
            <a:r>
              <a:t>S.E., M.M., CFP®, PFM, CHCP-A</a:t>
            </a:r>
          </a:p>
          <a:p>
            <a:pPr>
              <a:defRPr sz="950">
                <a:solidFill>
                  <a:srgbClr val="64748B"/>
                </a:solidFill>
                <a:latin typeface="Segoe UI"/>
              </a:defRPr>
            </a:pPr>
            <a:r>
              <a:t>Institusi &amp; Waktu Sidang</a:t>
            </a:r>
          </a:p>
          <a:p>
            <a:pPr>
              <a:defRPr sz="1300" b="1">
                <a:solidFill>
                  <a:srgbClr val="0F2642"/>
                </a:solidFill>
                <a:latin typeface="Segoe UI"/>
              </a:defRPr>
            </a:pPr>
            <a:r>
              <a:t>FEB UKRIDA, Jakarta</a:t>
            </a:r>
          </a:p>
          <a:p>
            <a:pPr>
              <a:spcAft>
                <a:spcPts val="1600"/>
              </a:spcAft>
              <a:defRPr sz="1000">
                <a:solidFill>
                  <a:srgbClr val="475569"/>
                </a:solidFill>
                <a:latin typeface="Segoe UI"/>
              </a:defRPr>
            </a:pPr>
            <a:r>
              <a:t>Tahun Akademik 2025/2026</a:t>
            </a:r>
          </a:p>
          <a:p>
            <a:r>
              <a:rPr sz="1000" b="1">
                <a:solidFill>
                  <a:srgbClr val="0284C7"/>
                </a:solidFill>
                <a:latin typeface="Segoe UI"/>
              </a:rPr>
              <a:t>✦ Sesi Seminar Proposal • 10 Menit Paparan</a:t>
            </a:r>
          </a:p>
        </p:txBody>
      </p:sp>
      <p:sp>
        <p:nvSpPr>
          <p:cNvPr id="12" name="TextBox 11"/>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13" name="TextBox 12"/>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01 | Pendahuluan • Fenomena &amp; Pasar</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Fenomena Pokémon TCG &amp; Perkembangan Pasar Koleksi</a:t>
            </a:r>
          </a:p>
          <a:p>
            <a:pPr>
              <a:defRPr sz="1050">
                <a:solidFill>
                  <a:srgbClr val="475569"/>
                </a:solidFill>
                <a:latin typeface="Segoe UI"/>
              </a:defRPr>
            </a:pPr>
            <a:r>
              <a:t>Transformasi kartu hobi menjadi aset alternatif bernilai finansial dengan skala produksi global masif</a:t>
            </a:r>
          </a:p>
        </p:txBody>
      </p:sp>
      <p:sp>
        <p:nvSpPr>
          <p:cNvPr id="8" name="Rounded Rectangle 7"/>
          <p:cNvSpPr/>
          <p:nvPr/>
        </p:nvSpPr>
        <p:spPr>
          <a:xfrm>
            <a:off x="731520" y="1417320"/>
            <a:ext cx="2514600" cy="10515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2240280" cy="868680"/>
          </a:xfrm>
          <a:prstGeom prst="rect">
            <a:avLst/>
          </a:prstGeom>
          <a:noFill/>
        </p:spPr>
        <p:txBody>
          <a:bodyPr wrap="square" tIns="0">
            <a:spAutoFit/>
          </a:bodyPr>
          <a:lstStyle/>
          <a:p>
            <a:pPr>
              <a:defRPr sz="1700" b="1">
                <a:solidFill>
                  <a:srgbClr val="0F2642"/>
                </a:solidFill>
                <a:latin typeface="Segoe UI"/>
              </a:defRPr>
            </a:pPr>
            <a:r>
              <a:t>&gt; US$ 100 Miliar</a:t>
            </a:r>
          </a:p>
          <a:p>
            <a:pPr>
              <a:defRPr sz="900">
                <a:solidFill>
                  <a:srgbClr val="475569"/>
                </a:solidFill>
                <a:latin typeface="Segoe UI"/>
              </a:defRPr>
            </a:pPr>
            <a:r>
              <a:t>Waralaba Media #1 di Dunia (Statista)</a:t>
            </a:r>
          </a:p>
        </p:txBody>
      </p:sp>
      <p:sp>
        <p:nvSpPr>
          <p:cNvPr id="10" name="Rounded Rectangle 9"/>
          <p:cNvSpPr/>
          <p:nvPr/>
        </p:nvSpPr>
        <p:spPr>
          <a:xfrm>
            <a:off x="3383280" y="1417320"/>
            <a:ext cx="2514600" cy="105156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08760"/>
            <a:ext cx="2240280" cy="868680"/>
          </a:xfrm>
          <a:prstGeom prst="rect">
            <a:avLst/>
          </a:prstGeom>
          <a:noFill/>
        </p:spPr>
        <p:txBody>
          <a:bodyPr wrap="square" tIns="0">
            <a:spAutoFit/>
          </a:bodyPr>
          <a:lstStyle/>
          <a:p>
            <a:pPr>
              <a:defRPr sz="1800" b="1">
                <a:solidFill>
                  <a:srgbClr val="0284C7"/>
                </a:solidFill>
                <a:latin typeface="Segoe UI"/>
              </a:defRPr>
            </a:pPr>
            <a:r>
              <a:t>64,8 Miliar</a:t>
            </a:r>
          </a:p>
          <a:p>
            <a:pPr>
              <a:defRPr sz="900">
                <a:solidFill>
                  <a:srgbClr val="475569"/>
                </a:solidFill>
                <a:latin typeface="Segoe UI"/>
              </a:defRPr>
            </a:pPr>
            <a:r>
              <a:t>Produksi Kumulatif (+125% sejak 2019)</a:t>
            </a:r>
          </a:p>
        </p:txBody>
      </p:sp>
      <p:sp>
        <p:nvSpPr>
          <p:cNvPr id="12" name="Rounded Rectangle 11"/>
          <p:cNvSpPr/>
          <p:nvPr/>
        </p:nvSpPr>
        <p:spPr>
          <a:xfrm>
            <a:off x="731520" y="2606040"/>
            <a:ext cx="5166360" cy="3794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ambar1_2_pokemon_tcg_production_growth.png"/>
          <p:cNvPicPr>
            <a:picLocks noChangeAspect="1"/>
          </p:cNvPicPr>
          <p:nvPr/>
        </p:nvPicPr>
        <p:blipFill>
          <a:blip r:embed="rId2"/>
          <a:stretch>
            <a:fillRect/>
          </a:stretch>
        </p:blipFill>
        <p:spPr>
          <a:xfrm>
            <a:off x="868680" y="2697480"/>
            <a:ext cx="4892040" cy="3063240"/>
          </a:xfrm>
          <a:prstGeom prst="rect">
            <a:avLst/>
          </a:prstGeom>
        </p:spPr>
      </p:pic>
      <p:sp>
        <p:nvSpPr>
          <p:cNvPr id="14" name="TextBox 13"/>
          <p:cNvSpPr txBox="1"/>
          <p:nvPr/>
        </p:nvSpPr>
        <p:spPr>
          <a:xfrm>
            <a:off x="868680" y="5806440"/>
            <a:ext cx="4892040" cy="548640"/>
          </a:xfrm>
          <a:prstGeom prst="rect">
            <a:avLst/>
          </a:prstGeom>
          <a:noFill/>
        </p:spPr>
        <p:txBody>
          <a:bodyPr wrap="square" tIns="0">
            <a:spAutoFit/>
          </a:bodyPr>
          <a:lstStyle/>
          <a:p>
            <a:pPr>
              <a:defRPr sz="850" b="1">
                <a:solidFill>
                  <a:srgbClr val="0F2642"/>
                </a:solidFill>
                <a:latin typeface="Segoe UI"/>
              </a:defRPr>
            </a:pPr>
            <a:r>
              <a:t>Gambar 1.2: Pertumbuhan Kumulatif Produksi Kartu Pokémon TCG Global (2019–2024)</a:t>
            </a:r>
          </a:p>
          <a:p>
            <a:pPr>
              <a:defRPr sz="800">
                <a:solidFill>
                  <a:srgbClr val="64748B"/>
                </a:solidFill>
                <a:latin typeface="Segoe UI"/>
              </a:defRPr>
            </a:pPr>
            <a:r>
              <a:t>Sumber: The Pokémon Company (2024)</a:t>
            </a:r>
          </a:p>
        </p:txBody>
      </p:sp>
      <p:sp>
        <p:nvSpPr>
          <p:cNvPr id="15" name="Rounded Rectangle 14"/>
          <p:cNvSpPr/>
          <p:nvPr/>
        </p:nvSpPr>
        <p:spPr>
          <a:xfrm>
            <a:off x="6172200" y="1417320"/>
            <a:ext cx="5287975"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36792" y="1618488"/>
            <a:ext cx="384048" cy="384048"/>
          </a:xfrm>
          <a:prstGeom prst="ellipse">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FFFFFF"/>
                </a:solidFill>
                <a:latin typeface="Segoe UI"/>
              </a:defRPr>
            </a:pPr>
            <a:r>
              <a:t>1</a:t>
            </a:r>
          </a:p>
        </p:txBody>
      </p:sp>
      <p:sp>
        <p:nvSpPr>
          <p:cNvPr id="17" name="TextBox 16"/>
          <p:cNvSpPr txBox="1"/>
          <p:nvPr/>
        </p:nvSpPr>
        <p:spPr>
          <a:xfrm>
            <a:off x="6830568" y="1554480"/>
            <a:ext cx="4510735" cy="1325880"/>
          </a:xfrm>
          <a:prstGeom prst="rect">
            <a:avLst/>
          </a:prstGeom>
          <a:noFill/>
        </p:spPr>
        <p:txBody>
          <a:bodyPr wrap="square" tIns="0">
            <a:spAutoFit/>
          </a:bodyPr>
          <a:lstStyle/>
          <a:p>
            <a:pPr>
              <a:spcAft>
                <a:spcPts val="300"/>
              </a:spcAft>
              <a:defRPr sz="1200" b="1">
                <a:solidFill>
                  <a:srgbClr val="0F2642"/>
                </a:solidFill>
                <a:latin typeface="Segoe UI"/>
              </a:defRPr>
            </a:pPr>
            <a:r>
              <a:t>Distribusi Ritel Modern di Indonesia</a:t>
            </a:r>
          </a:p>
          <a:p>
            <a:pPr>
              <a:lnSpc>
                <a:spcPct val="125000"/>
              </a:lnSpc>
              <a:defRPr sz="1000">
                <a:solidFill>
                  <a:srgbClr val="475569"/>
                </a:solidFill>
                <a:latin typeface="Segoe UI"/>
              </a:defRPr>
            </a:pPr>
            <a:r>
              <a:t>Kartu resmi berbahasa Indonesia dipasarkan sejak 2019 dan masuk ke jaringan ritel minimarket modern (Indomaret, Alfamart) tanpa hambatan impor, menjadikannya mudah diakses oleh konsumen umum secara harian.</a:t>
            </a:r>
          </a:p>
        </p:txBody>
      </p:sp>
      <p:sp>
        <p:nvSpPr>
          <p:cNvPr id="18" name="Rounded Rectangle 17"/>
          <p:cNvSpPr/>
          <p:nvPr/>
        </p:nvSpPr>
        <p:spPr>
          <a:xfrm>
            <a:off x="6172200" y="3108960"/>
            <a:ext cx="5287975"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36792" y="3310128"/>
            <a:ext cx="384048" cy="384048"/>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FFFFFF"/>
                </a:solidFill>
                <a:latin typeface="Segoe UI"/>
              </a:defRPr>
            </a:pPr>
            <a:r>
              <a:t>2</a:t>
            </a:r>
          </a:p>
        </p:txBody>
      </p:sp>
      <p:sp>
        <p:nvSpPr>
          <p:cNvPr id="20" name="TextBox 19"/>
          <p:cNvSpPr txBox="1"/>
          <p:nvPr/>
        </p:nvSpPr>
        <p:spPr>
          <a:xfrm>
            <a:off x="6830568" y="3246120"/>
            <a:ext cx="4510735" cy="1325880"/>
          </a:xfrm>
          <a:prstGeom prst="rect">
            <a:avLst/>
          </a:prstGeom>
          <a:noFill/>
        </p:spPr>
        <p:txBody>
          <a:bodyPr wrap="square" tIns="0">
            <a:spAutoFit/>
          </a:bodyPr>
          <a:lstStyle/>
          <a:p>
            <a:pPr>
              <a:spcAft>
                <a:spcPts val="300"/>
              </a:spcAft>
              <a:defRPr sz="1200" b="1">
                <a:solidFill>
                  <a:srgbClr val="0F2642"/>
                </a:solidFill>
                <a:latin typeface="Segoe UI"/>
              </a:defRPr>
            </a:pPr>
            <a:r>
              <a:t>Karakteristik Kemasan Acak (Blind Pack)</a:t>
            </a:r>
          </a:p>
          <a:p>
            <a:pPr>
              <a:lnSpc>
                <a:spcPct val="125000"/>
              </a:lnSpc>
              <a:defRPr sz="1000">
                <a:solidFill>
                  <a:srgbClr val="475569"/>
                </a:solidFill>
                <a:latin typeface="Segoe UI"/>
              </a:defRPr>
            </a:pPr>
            <a:r>
              <a:t>Booster pack dijual seharga Rp20.000–Rp30.000 dalam format kemasan foil tertutup acak. Konsumen tidak mengetahui isi kartu sebelum menyobek kemasan demi mengejar kartu langka bernilai tinggi.</a:t>
            </a:r>
          </a:p>
        </p:txBody>
      </p:sp>
      <p:sp>
        <p:nvSpPr>
          <p:cNvPr id="21" name="Rounded Rectangle 20"/>
          <p:cNvSpPr/>
          <p:nvPr/>
        </p:nvSpPr>
        <p:spPr>
          <a:xfrm>
            <a:off x="6172200" y="4800600"/>
            <a:ext cx="5287975"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6792" y="5001768"/>
            <a:ext cx="384048" cy="38404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FFFFFF"/>
                </a:solidFill>
                <a:latin typeface="Segoe UI"/>
              </a:defRPr>
            </a:pPr>
            <a:r>
              <a:t>3</a:t>
            </a:r>
          </a:p>
        </p:txBody>
      </p:sp>
      <p:sp>
        <p:nvSpPr>
          <p:cNvPr id="23" name="TextBox 22"/>
          <p:cNvSpPr txBox="1"/>
          <p:nvPr/>
        </p:nvSpPr>
        <p:spPr>
          <a:xfrm>
            <a:off x="6830568" y="4937760"/>
            <a:ext cx="4510735" cy="1325880"/>
          </a:xfrm>
          <a:prstGeom prst="rect">
            <a:avLst/>
          </a:prstGeom>
          <a:noFill/>
        </p:spPr>
        <p:txBody>
          <a:bodyPr wrap="square" tIns="0">
            <a:spAutoFit/>
          </a:bodyPr>
          <a:lstStyle/>
          <a:p>
            <a:pPr>
              <a:spcAft>
                <a:spcPts val="300"/>
              </a:spcAft>
              <a:defRPr sz="1200" b="1">
                <a:solidFill>
                  <a:srgbClr val="0F2642"/>
                </a:solidFill>
                <a:latin typeface="Segoe UI"/>
              </a:defRPr>
            </a:pPr>
            <a:r>
              <a:t>Peluang Kartu Langka &amp; Letupan Dopamin</a:t>
            </a:r>
          </a:p>
          <a:p>
            <a:pPr>
              <a:lnSpc>
                <a:spcPct val="125000"/>
              </a:lnSpc>
              <a:defRPr sz="1000">
                <a:solidFill>
                  <a:srgbClr val="475569"/>
                </a:solidFill>
                <a:latin typeface="Segoe UI"/>
              </a:defRPr>
            </a:pPr>
            <a:r>
              <a:t>Peluang mendapatkan kartu langka (Secret Illustration Rare / SAR) memicu sensasi near-miss, ekspektasi cuan sekunder, dan pelepasan dopamin saat unboxing yang mendorong pembelian berulang tanpa rencana.</a:t>
            </a:r>
          </a:p>
        </p:txBody>
      </p:sp>
      <p:sp>
        <p:nvSpPr>
          <p:cNvPr id="24" name="TextBox 23"/>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25" name="TextBox 24"/>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01 | Pendahuluan • Masalah &amp; Gap</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Masalah Penelitian &amp; Kesenjangan Riset Terdahulu</a:t>
            </a:r>
          </a:p>
          <a:p>
            <a:pPr>
              <a:defRPr sz="1050">
                <a:solidFill>
                  <a:srgbClr val="475569"/>
                </a:solidFill>
                <a:latin typeface="Segoe UI"/>
              </a:defRPr>
            </a:pPr>
            <a:r>
              <a:t>Kombinasi rangsangan produk kasir dan inkonsistensi temuan literatur empiris terdahulu</a:t>
            </a:r>
          </a:p>
        </p:txBody>
      </p:sp>
      <p:sp>
        <p:nvSpPr>
          <p:cNvPr id="8" name="Rounded Rectangle 7"/>
          <p:cNvSpPr/>
          <p:nvPr/>
        </p:nvSpPr>
        <p:spPr>
          <a:xfrm>
            <a:off x="731520" y="1417320"/>
            <a:ext cx="516636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4892040" cy="1005840"/>
          </a:xfrm>
          <a:prstGeom prst="rect">
            <a:avLst/>
          </a:prstGeom>
          <a:noFill/>
        </p:spPr>
        <p:txBody>
          <a:bodyPr wrap="square" tIns="0">
            <a:spAutoFit/>
          </a:bodyPr>
          <a:lstStyle/>
          <a:p>
            <a:pPr>
              <a:spcAft>
                <a:spcPts val="400"/>
              </a:spcAft>
              <a:defRPr sz="1050" b="1">
                <a:solidFill>
                  <a:srgbClr val="0F2642"/>
                </a:solidFill>
                <a:latin typeface="Segoe UI"/>
              </a:defRPr>
            </a:pPr>
            <a:r>
              <a:t>Alur Rantai Kausalitas Masalah Belanja Impulsif</a:t>
            </a:r>
          </a:p>
          <a:p>
            <a:pPr>
              <a:spcAft>
                <a:spcPts val="200"/>
              </a:spcAft>
              <a:defRPr sz="880" b="1">
                <a:solidFill>
                  <a:srgbClr val="475569"/>
                </a:solidFill>
                <a:latin typeface="Segoe UI"/>
              </a:defRPr>
            </a:pPr>
            <a:r>
              <a:t>1. Blind Pack (Acak)  ➔  2. Harga Murah (Rp20rb)  ➔  3. Peluang Kartu Langka</a:t>
            </a:r>
          </a:p>
          <a:p>
            <a:pPr>
              <a:defRPr sz="880" b="1">
                <a:solidFill>
                  <a:srgbClr val="E11D48"/>
                </a:solidFill>
                <a:latin typeface="Segoe UI"/>
              </a:defRPr>
            </a:pPr>
            <a:r>
              <a:t>➔  4. Disparitas PSA 10 Pasar Sekunder  ➔  5. Pembelian Impulsif Berulang (Y)</a:t>
            </a:r>
          </a:p>
        </p:txBody>
      </p:sp>
      <p:sp>
        <p:nvSpPr>
          <p:cNvPr id="10" name="Rounded Rectangle 9"/>
          <p:cNvSpPr/>
          <p:nvPr/>
        </p:nvSpPr>
        <p:spPr>
          <a:xfrm>
            <a:off x="731520" y="2697480"/>
            <a:ext cx="5166360" cy="3703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ambar1_3_psa_grading_price_disparity.png"/>
          <p:cNvPicPr>
            <a:picLocks noChangeAspect="1"/>
          </p:cNvPicPr>
          <p:nvPr/>
        </p:nvPicPr>
        <p:blipFill>
          <a:blip r:embed="rId2"/>
          <a:stretch>
            <a:fillRect/>
          </a:stretch>
        </p:blipFill>
        <p:spPr>
          <a:xfrm>
            <a:off x="868680" y="2788920"/>
            <a:ext cx="4892040" cy="2926080"/>
          </a:xfrm>
          <a:prstGeom prst="rect">
            <a:avLst/>
          </a:prstGeom>
        </p:spPr>
      </p:pic>
      <p:sp>
        <p:nvSpPr>
          <p:cNvPr id="12" name="TextBox 11"/>
          <p:cNvSpPr txBox="1"/>
          <p:nvPr/>
        </p:nvSpPr>
        <p:spPr>
          <a:xfrm>
            <a:off x="868680" y="5760720"/>
            <a:ext cx="4892040" cy="548640"/>
          </a:xfrm>
          <a:prstGeom prst="rect">
            <a:avLst/>
          </a:prstGeom>
          <a:noFill/>
        </p:spPr>
        <p:txBody>
          <a:bodyPr wrap="square" tIns="0">
            <a:spAutoFit/>
          </a:bodyPr>
          <a:lstStyle/>
          <a:p>
            <a:pPr>
              <a:defRPr sz="850" b="1">
                <a:solidFill>
                  <a:srgbClr val="0F2642"/>
                </a:solidFill>
                <a:latin typeface="Segoe UI"/>
              </a:defRPr>
            </a:pPr>
            <a:r>
              <a:t>Gambar 1.3: Disparitas Harga Pasar Sekunder (Ungraded vs. PSA 10 Gem Mint)</a:t>
            </a:r>
          </a:p>
          <a:p>
            <a:pPr>
              <a:defRPr sz="750">
                <a:solidFill>
                  <a:srgbClr val="64748B"/>
                </a:solidFill>
                <a:latin typeface="Segoe UI"/>
              </a:defRPr>
            </a:pPr>
            <a:r>
              <a:t>Data PriceCharting: Grading melipatgandakan harga hingga 26× | *Ilustrasi fenomena pasar, bukan data uji kausal.</a:t>
            </a:r>
          </a:p>
        </p:txBody>
      </p:sp>
      <p:sp>
        <p:nvSpPr>
          <p:cNvPr id="13" name="Rounded Rectangle 12"/>
          <p:cNvSpPr/>
          <p:nvPr/>
        </p:nvSpPr>
        <p:spPr>
          <a:xfrm>
            <a:off x="6172200" y="1417320"/>
            <a:ext cx="528797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73152" cy="10058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490472"/>
            <a:ext cx="4967935" cy="868680"/>
          </a:xfrm>
          <a:prstGeom prst="rect">
            <a:avLst/>
          </a:prstGeom>
          <a:noFill/>
        </p:spPr>
        <p:txBody>
          <a:bodyPr wrap="square" tIns="0">
            <a:spAutoFit/>
          </a:bodyPr>
          <a:lstStyle/>
          <a:p>
            <a:pPr>
              <a:spcAft>
                <a:spcPts val="200"/>
              </a:spcAft>
              <a:defRPr sz="1100" b="1">
                <a:solidFill>
                  <a:srgbClr val="E11D48"/>
                </a:solidFill>
                <a:latin typeface="Segoe UI"/>
              </a:defRPr>
            </a:pPr>
            <a:r>
              <a:t>Gap X₁: Hedonic Motivation — Inkonsistensi Moderasi</a:t>
            </a:r>
          </a:p>
          <a:p>
            <a:pPr>
              <a:lnSpc>
                <a:spcPct val="125000"/>
              </a:lnSpc>
              <a:defRPr sz="950">
                <a:solidFill>
                  <a:srgbClr val="475569"/>
                </a:solidFill>
                <a:latin typeface="Segoe UI"/>
              </a:defRPr>
            </a:pPr>
            <a:r>
              <a:t>Pranggabayu &amp; Andjarwati (2022) mencatat pengaruh positif kuat, namun Apidana (2022) membuktikan kontrol diri gagal memoderasi dorongan belanja hedonis.</a:t>
            </a:r>
          </a:p>
        </p:txBody>
      </p:sp>
      <p:sp>
        <p:nvSpPr>
          <p:cNvPr id="16" name="Rounded Rectangle 15"/>
          <p:cNvSpPr/>
          <p:nvPr/>
        </p:nvSpPr>
        <p:spPr>
          <a:xfrm>
            <a:off x="6172200" y="2514600"/>
            <a:ext cx="528797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2514600"/>
            <a:ext cx="73152" cy="10058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587752"/>
            <a:ext cx="4967935" cy="868680"/>
          </a:xfrm>
          <a:prstGeom prst="rect">
            <a:avLst/>
          </a:prstGeom>
          <a:noFill/>
        </p:spPr>
        <p:txBody>
          <a:bodyPr wrap="square" tIns="0">
            <a:spAutoFit/>
          </a:bodyPr>
          <a:lstStyle/>
          <a:p>
            <a:pPr>
              <a:spcAft>
                <a:spcPts val="200"/>
              </a:spcAft>
              <a:defRPr sz="1100" b="1">
                <a:solidFill>
                  <a:srgbClr val="0284C7"/>
                </a:solidFill>
                <a:latin typeface="Segoe UI"/>
              </a:defRPr>
            </a:pPr>
            <a:r>
              <a:t>Gap X₂: Desire for Completeness — Kekosongan Pengujian Fisik</a:t>
            </a:r>
          </a:p>
          <a:p>
            <a:pPr>
              <a:lnSpc>
                <a:spcPct val="125000"/>
              </a:lnSpc>
              <a:defRPr sz="950">
                <a:solidFill>
                  <a:srgbClr val="475569"/>
                </a:solidFill>
                <a:latin typeface="Segoe UI"/>
              </a:defRPr>
            </a:pPr>
            <a:r>
              <a:t>Teori pseudo-set framing (Barasz et al., 2017) terbukti secara eksperimental di laboratorium, namun belum pernah diuji empiris pada kartu fisik bernomor seri koleksi di Indonesia.</a:t>
            </a:r>
          </a:p>
        </p:txBody>
      </p:sp>
      <p:sp>
        <p:nvSpPr>
          <p:cNvPr id="19" name="Rounded Rectangle 18"/>
          <p:cNvSpPr/>
          <p:nvPr/>
        </p:nvSpPr>
        <p:spPr>
          <a:xfrm>
            <a:off x="6172200" y="3611880"/>
            <a:ext cx="528797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611880"/>
            <a:ext cx="73152"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685032"/>
            <a:ext cx="4967935" cy="868680"/>
          </a:xfrm>
          <a:prstGeom prst="rect">
            <a:avLst/>
          </a:prstGeom>
          <a:noFill/>
        </p:spPr>
        <p:txBody>
          <a:bodyPr wrap="square" tIns="0">
            <a:spAutoFit/>
          </a:bodyPr>
          <a:lstStyle/>
          <a:p>
            <a:pPr>
              <a:spcAft>
                <a:spcPts val="200"/>
              </a:spcAft>
              <a:defRPr sz="1100" b="1">
                <a:solidFill>
                  <a:srgbClr val="D97706"/>
                </a:solidFill>
                <a:latin typeface="Segoe UI"/>
              </a:defRPr>
            </a:pPr>
            <a:r>
              <a:t>Gap X₃: Speculative Motive — Kasir Ritel vs. Transaksi Terencana</a:t>
            </a:r>
          </a:p>
          <a:p>
            <a:pPr>
              <a:lnSpc>
                <a:spcPct val="125000"/>
              </a:lnSpc>
              <a:defRPr sz="950">
                <a:solidFill>
                  <a:srgbClr val="475569"/>
                </a:solidFill>
                <a:latin typeface="Segoe UI"/>
              </a:defRPr>
            </a:pPr>
            <a:r>
              <a:t>Aryadi &amp; Lingga (2024) baru meneliti motif investasi pada transaksi komunitas terencana; belum ada studi yang menguji apakah ekspektasi arbitrase PSA 10 memicu belanja impulsif di kasir ritel serta ketiadaan uji moderasi kontrol diri.</a:t>
            </a:r>
          </a:p>
        </p:txBody>
      </p:sp>
      <p:sp>
        <p:nvSpPr>
          <p:cNvPr id="22" name="Rounded Rectangle 21"/>
          <p:cNvSpPr/>
          <p:nvPr/>
        </p:nvSpPr>
        <p:spPr>
          <a:xfrm>
            <a:off x="6172200" y="4800600"/>
            <a:ext cx="5287975" cy="16002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937760"/>
            <a:ext cx="4830775" cy="1325880"/>
          </a:xfrm>
          <a:prstGeom prst="rect">
            <a:avLst/>
          </a:prstGeom>
          <a:noFill/>
        </p:spPr>
        <p:txBody>
          <a:bodyPr wrap="square" tIns="0">
            <a:spAutoFit/>
          </a:bodyPr>
          <a:lstStyle/>
          <a:p>
            <a:pPr>
              <a:spcAft>
                <a:spcPts val="400"/>
              </a:spcAft>
              <a:defRPr sz="1200" b="1">
                <a:solidFill>
                  <a:srgbClr val="059669"/>
                </a:solidFill>
                <a:latin typeface="Segoe UI"/>
              </a:defRPr>
            </a:pPr>
            <a:r>
              <a:t>✨ Kebaruan Penelitian (Research Novelty)</a:t>
            </a:r>
          </a:p>
          <a:p>
            <a:pPr>
              <a:lnSpc>
                <a:spcPct val="130000"/>
              </a:lnSpc>
              <a:defRPr sz="1000">
                <a:solidFill>
                  <a:srgbClr val="0F172A"/>
                </a:solidFill>
                <a:latin typeface="Segoe UI"/>
              </a:defRPr>
            </a:pPr>
            <a:r>
              <a:t>Mengintegrasikan motif hedonis (X₁), hasrat kelengkapan (X₂), dan motif spekulasi (X₃) secara simultan dalam satu model struktural dengan Self-Control (M) sebagai variabel moderasi untuk menjelaskan fenomena pembelian impulsif di pasar komoditas alternatif Indonesia.</a:t>
            </a:r>
          </a:p>
        </p:txBody>
      </p:sp>
      <p:sp>
        <p:nvSpPr>
          <p:cNvPr id="24" name="TextBox 23"/>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25" name="TextBox 24"/>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02 | Tinjauan Pustaka • Teori &amp; Variabel</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Landasan Teori dan Operasionalisasi Variabel</a:t>
            </a:r>
          </a:p>
          <a:p>
            <a:pPr>
              <a:defRPr sz="1050">
                <a:solidFill>
                  <a:srgbClr val="475569"/>
                </a:solidFill>
                <a:latin typeface="Segoe UI"/>
              </a:defRPr>
            </a:pPr>
            <a:r>
              <a:t>Hierarki Grand Theory, Supporting Theories, dan 5 skala pengukuran baku internasional</a:t>
            </a:r>
          </a:p>
        </p:txBody>
      </p:sp>
      <p:sp>
        <p:nvSpPr>
          <p:cNvPr id="8" name="Rounded Rectangle 7"/>
          <p:cNvSpPr/>
          <p:nvPr/>
        </p:nvSpPr>
        <p:spPr>
          <a:xfrm>
            <a:off x="731520" y="1417320"/>
            <a:ext cx="10728655"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81328"/>
            <a:ext cx="5120640" cy="1280160"/>
          </a:xfrm>
          <a:prstGeom prst="rect">
            <a:avLst/>
          </a:prstGeom>
          <a:noFill/>
        </p:spPr>
        <p:txBody>
          <a:bodyPr wrap="square" tIns="0">
            <a:spAutoFit/>
          </a:bodyPr>
          <a:lstStyle/>
          <a:p>
            <a:pPr>
              <a:defRPr sz="1150" b="1">
                <a:solidFill>
                  <a:srgbClr val="0F2642"/>
                </a:solidFill>
                <a:latin typeface="Segoe UI"/>
              </a:defRPr>
            </a:pPr>
            <a:r>
              <a:t>🏛️ Grand Theory: Keuangan Perilaku (Behavioral Finance)</a:t>
            </a:r>
          </a:p>
          <a:p>
            <a:pPr>
              <a:spcAft>
                <a:spcPts val="200"/>
              </a:spcAft>
              <a:defRPr sz="900" b="1">
                <a:solidFill>
                  <a:srgbClr val="D97706"/>
                </a:solidFill>
                <a:latin typeface="Segoe UI"/>
              </a:defRPr>
            </a:pPr>
            <a:r>
              <a:t>Tokoh: Simon (1955) • Kahneman &amp; Tversky (1979) • Shiller (2000) • Thaler &amp; Shefrin (1981)</a:t>
            </a:r>
          </a:p>
          <a:p>
            <a:pPr>
              <a:lnSpc>
                <a:spcPct val="125000"/>
              </a:lnSpc>
              <a:defRPr sz="880">
                <a:solidFill>
                  <a:srgbClr val="475569"/>
                </a:solidFill>
                <a:latin typeface="Segoe UI"/>
              </a:defRPr>
            </a:pPr>
            <a:r>
              <a:t>Membuktikan keputusan finansial individu tidak rasional murni (Homo Economicus), melainkan dipengaruhi bias keterbatasan kognitif (bounded rationality), ilusi kendali (gambler's fallacy), dan dorongan afektif sesaat di etalase kasir.</a:t>
            </a:r>
          </a:p>
        </p:txBody>
      </p:sp>
      <p:sp>
        <p:nvSpPr>
          <p:cNvPr id="10" name="Rectangle 9"/>
          <p:cNvSpPr/>
          <p:nvPr/>
        </p:nvSpPr>
        <p:spPr>
          <a:xfrm>
            <a:off x="6080760" y="1508760"/>
            <a:ext cx="18288" cy="1234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81328"/>
            <a:ext cx="5120640" cy="1280160"/>
          </a:xfrm>
          <a:prstGeom prst="rect">
            <a:avLst/>
          </a:prstGeom>
          <a:noFill/>
        </p:spPr>
        <p:txBody>
          <a:bodyPr wrap="square" tIns="0">
            <a:spAutoFit/>
          </a:bodyPr>
          <a:lstStyle/>
          <a:p>
            <a:pPr>
              <a:spcAft>
                <a:spcPts val="300"/>
              </a:spcAft>
              <a:defRPr sz="1150" b="1">
                <a:solidFill>
                  <a:srgbClr val="0F2642"/>
                </a:solidFill>
                <a:latin typeface="Segoe UI"/>
              </a:defRPr>
            </a:pPr>
            <a:r>
              <a:t>3 Supporting Theories Terpadu</a:t>
            </a:r>
          </a:p>
          <a:p>
            <a:r>
              <a:rPr b="1" sz="880">
                <a:solidFill>
                  <a:srgbClr val="1E3A8A"/>
                </a:solidFill>
              </a:rPr>
              <a:t>1. S-O-R Framework (1974): </a:t>
            </a:r>
            <a:r>
              <a:rPr sz="880">
                <a:solidFill>
                  <a:srgbClr val="475569"/>
                </a:solidFill>
              </a:rPr>
              <a:t>Stimulus kemasan kasir (S) ➔ Gairah afektif (O) ➔ Respons impulsif (R).</a:t>
            </a:r>
          </a:p>
          <a:p>
            <a:r>
              <a:rPr b="1" sz="880">
                <a:solidFill>
                  <a:srgbClr val="1E3A8A"/>
                </a:solidFill>
              </a:rPr>
              <a:t>2. Pseudo-Set Framing (2017): </a:t>
            </a:r>
            <a:r>
              <a:rPr sz="880">
                <a:solidFill>
                  <a:srgbClr val="475569"/>
                </a:solidFill>
              </a:rPr>
              <a:t>Efek Zeigarnik; slot binder kosong memaksa penuntasan koleksi.</a:t>
            </a:r>
          </a:p>
          <a:p>
            <a:r>
              <a:rPr b="1" sz="880">
                <a:solidFill>
                  <a:srgbClr val="1E3A8A"/>
                </a:solidFill>
              </a:rPr>
              <a:t>3. Self-Regulation (2002): </a:t>
            </a:r>
            <a:r>
              <a:rPr sz="880">
                <a:solidFill>
                  <a:srgbClr val="475569"/>
                </a:solidFill>
              </a:rPr>
              <a:t>Kapasitas volisional (planner-doer) sebagai rem mental penahan godaan.</a:t>
            </a:r>
          </a:p>
        </p:txBody>
      </p:sp>
      <p:sp>
        <p:nvSpPr>
          <p:cNvPr id="12" name="Rounded Rectangle 11"/>
          <p:cNvSpPr/>
          <p:nvPr/>
        </p:nvSpPr>
        <p:spPr>
          <a:xfrm>
            <a:off x="731520" y="2926080"/>
            <a:ext cx="2035454"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1248" y="3035808"/>
            <a:ext cx="1815998" cy="274320"/>
          </a:xfrm>
          <a:prstGeom prst="roundRect">
            <a:avLst/>
          </a:prstGeom>
          <a:solidFill>
            <a:srgbClr val="FFE4E6"/>
          </a:solidFill>
          <a:ln w="9525">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00" b="1">
                <a:solidFill>
                  <a:srgbClr val="E11D48"/>
                </a:solidFill>
                <a:latin typeface="Segoe UI"/>
              </a:defRPr>
            </a:pPr>
            <a:r>
              <a:t>Y | Dependen</a:t>
            </a:r>
          </a:p>
        </p:txBody>
      </p:sp>
      <p:sp>
        <p:nvSpPr>
          <p:cNvPr id="14" name="TextBox 13"/>
          <p:cNvSpPr txBox="1"/>
          <p:nvPr/>
        </p:nvSpPr>
        <p:spPr>
          <a:xfrm>
            <a:off x="822960" y="3364992"/>
            <a:ext cx="1852574" cy="2971800"/>
          </a:xfrm>
          <a:prstGeom prst="rect">
            <a:avLst/>
          </a:prstGeom>
          <a:noFill/>
        </p:spPr>
        <p:txBody>
          <a:bodyPr wrap="square" tIns="0">
            <a:spAutoFit/>
          </a:bodyPr>
          <a:lstStyle/>
          <a:p>
            <a:pPr>
              <a:spcAft>
                <a:spcPts val="300"/>
              </a:spcAft>
              <a:defRPr sz="1100" b="1">
                <a:solidFill>
                  <a:srgbClr val="0F2642"/>
                </a:solidFill>
                <a:latin typeface="Segoe UI"/>
              </a:defRPr>
            </a:pPr>
            <a:r>
              <a:t>Impulsive Buying</a:t>
            </a:r>
          </a:p>
          <a:p>
            <a:pPr>
              <a:lnSpc>
                <a:spcPct val="120000"/>
              </a:lnSpc>
              <a:spcAft>
                <a:spcPts val="300"/>
              </a:spcAft>
              <a:defRPr sz="800">
                <a:solidFill>
                  <a:srgbClr val="475569"/>
                </a:solidFill>
                <a:latin typeface="Segoe UI"/>
              </a:defRPr>
            </a:pPr>
            <a:r>
              <a:t>Pembelian seketika tanpa perencanaan anggaran awal (unplanned), dipicu desakan emosi di kasir (Rook, 1987).</a:t>
            </a:r>
          </a:p>
          <a:p>
            <a:pPr>
              <a:spcAft>
                <a:spcPts val="400"/>
              </a:spcAft>
            </a:pPr>
            <a:r>
              <a:rPr sz="780" i="1">
                <a:solidFill>
                  <a:srgbClr val="E11D48"/>
                </a:solidFill>
              </a:rPr>
              <a:t>Konteks Kasir:
Aksi spontan comot pack di kasir tanpa rencana sebelumnya.</a:t>
            </a:r>
          </a:p>
          <a:p>
            <a:pPr>
              <a:defRPr sz="800" b="1">
                <a:solidFill>
                  <a:srgbClr val="0F2642"/>
                </a:solidFill>
              </a:defRPr>
            </a:pPr>
            <a:r>
              <a:t>Indikator Baku:</a:t>
            </a:r>
          </a:p>
          <a:p>
            <a:pPr>
              <a:defRPr sz="750">
                <a:solidFill>
                  <a:srgbClr val="0F172A"/>
                </a:solidFill>
              </a:defRPr>
            </a:pPr>
            <a:r>
              <a:t>• Spontanitas pembelian</a:t>
            </a:r>
          </a:p>
          <a:p>
            <a:pPr>
              <a:defRPr sz="750">
                <a:solidFill>
                  <a:srgbClr val="0F172A"/>
                </a:solidFill>
              </a:defRPr>
            </a:pPr>
            <a:r>
              <a:t>• Desakan emosional</a:t>
            </a:r>
          </a:p>
          <a:p>
            <a:pPr>
              <a:defRPr sz="750">
                <a:solidFill>
                  <a:srgbClr val="0F172A"/>
                </a:solidFill>
              </a:defRPr>
            </a:pPr>
            <a:r>
              <a:t>• Pengabaian anggaran</a:t>
            </a:r>
          </a:p>
          <a:p>
            <a:pPr>
              <a:defRPr sz="750">
                <a:solidFill>
                  <a:srgbClr val="0F172A"/>
                </a:solidFill>
              </a:defRPr>
            </a:pPr>
            <a:r>
              <a:t>• Kecepatan eksekusi</a:t>
            </a:r>
          </a:p>
          <a:p>
            <a:pPr>
              <a:spcBef>
                <a:spcPts val="600"/>
              </a:spcBef>
            </a:pPr>
            <a:r>
              <a:rPr sz="800" b="1">
                <a:solidFill>
                  <a:srgbClr val="E11D48"/>
                </a:solidFill>
              </a:rPr>
              <a:t>IBTS (Verplanken) • 9 Item</a:t>
            </a:r>
          </a:p>
        </p:txBody>
      </p:sp>
      <p:sp>
        <p:nvSpPr>
          <p:cNvPr id="15" name="Rounded Rectangle 14"/>
          <p:cNvSpPr/>
          <p:nvPr/>
        </p:nvSpPr>
        <p:spPr>
          <a:xfrm>
            <a:off x="2904134" y="2926080"/>
            <a:ext cx="2035454"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13862" y="3035808"/>
            <a:ext cx="1815998" cy="274320"/>
          </a:xfrm>
          <a:prstGeom prst="roundRect">
            <a:avLst/>
          </a:prstGeom>
          <a:solidFill>
            <a:srgbClr val="EDE9FE"/>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00" b="1">
                <a:solidFill>
                  <a:srgbClr val="7C3AED"/>
                </a:solidFill>
                <a:latin typeface="Segoe UI"/>
              </a:defRPr>
            </a:pPr>
            <a:r>
              <a:t>X₁ | Independen</a:t>
            </a:r>
          </a:p>
        </p:txBody>
      </p:sp>
      <p:sp>
        <p:nvSpPr>
          <p:cNvPr id="17" name="TextBox 16"/>
          <p:cNvSpPr txBox="1"/>
          <p:nvPr/>
        </p:nvSpPr>
        <p:spPr>
          <a:xfrm>
            <a:off x="2995574" y="3364992"/>
            <a:ext cx="1852574" cy="2971800"/>
          </a:xfrm>
          <a:prstGeom prst="rect">
            <a:avLst/>
          </a:prstGeom>
          <a:noFill/>
        </p:spPr>
        <p:txBody>
          <a:bodyPr wrap="square" tIns="0">
            <a:spAutoFit/>
          </a:bodyPr>
          <a:lstStyle/>
          <a:p>
            <a:pPr>
              <a:spcAft>
                <a:spcPts val="300"/>
              </a:spcAft>
              <a:defRPr sz="1100" b="1">
                <a:solidFill>
                  <a:srgbClr val="0F2642"/>
                </a:solidFill>
                <a:latin typeface="Segoe UI"/>
              </a:defRPr>
            </a:pPr>
            <a:r>
              <a:t>Hedonic Motivation</a:t>
            </a:r>
          </a:p>
          <a:p>
            <a:pPr>
              <a:lnSpc>
                <a:spcPct val="120000"/>
              </a:lnSpc>
              <a:spcAft>
                <a:spcPts val="300"/>
              </a:spcAft>
              <a:defRPr sz="800">
                <a:solidFill>
                  <a:srgbClr val="475569"/>
                </a:solidFill>
                <a:latin typeface="Segoe UI"/>
              </a:defRPr>
            </a:pPr>
            <a:r>
              <a:t>Motivasi pencarian kenikmatan emosional, sensasi sensorik, hiburan, dan pelepasan stres (Babin et al., 1994).</a:t>
            </a:r>
          </a:p>
          <a:p>
            <a:pPr>
              <a:spcAft>
                <a:spcPts val="400"/>
              </a:spcAft>
            </a:pPr>
            <a:r>
              <a:rPr sz="780" i="1">
                <a:solidFill>
                  <a:srgbClr val="7C3AED"/>
                </a:solidFill>
              </a:rPr>
              <a:t>Konteks Kasir:
Euforia merobek foil pack memburu kartu langka.</a:t>
            </a:r>
          </a:p>
          <a:p>
            <a:pPr>
              <a:defRPr sz="800" b="1">
                <a:solidFill>
                  <a:srgbClr val="0F2642"/>
                </a:solidFill>
              </a:defRPr>
            </a:pPr>
            <a:r>
              <a:t>Indikator Baku:</a:t>
            </a:r>
          </a:p>
          <a:p>
            <a:pPr>
              <a:defRPr sz="750">
                <a:solidFill>
                  <a:srgbClr val="0F172A"/>
                </a:solidFill>
              </a:defRPr>
            </a:pPr>
            <a:r>
              <a:t>• Petualangan belanja</a:t>
            </a:r>
          </a:p>
          <a:p>
            <a:pPr>
              <a:defRPr sz="750">
                <a:solidFill>
                  <a:srgbClr val="0F172A"/>
                </a:solidFill>
              </a:defRPr>
            </a:pPr>
            <a:r>
              <a:t>• Pelepasan stres</a:t>
            </a:r>
          </a:p>
          <a:p>
            <a:pPr>
              <a:defRPr sz="750">
                <a:solidFill>
                  <a:srgbClr val="0F172A"/>
                </a:solidFill>
              </a:defRPr>
            </a:pPr>
            <a:r>
              <a:t>• Sensasi robek pack</a:t>
            </a:r>
          </a:p>
          <a:p>
            <a:pPr>
              <a:defRPr sz="750">
                <a:solidFill>
                  <a:srgbClr val="0F172A"/>
                </a:solidFill>
              </a:defRPr>
            </a:pPr>
            <a:r>
              <a:t>• Kesenangan intrinsik</a:t>
            </a:r>
          </a:p>
          <a:p>
            <a:pPr>
              <a:spcBef>
                <a:spcPts val="600"/>
              </a:spcBef>
            </a:pPr>
            <a:r>
              <a:rPr sz="800" b="1">
                <a:solidFill>
                  <a:srgbClr val="7C3AED"/>
                </a:solidFill>
              </a:rPr>
              <a:t>Babin et al. (1994) • 8 Item</a:t>
            </a:r>
          </a:p>
        </p:txBody>
      </p:sp>
      <p:sp>
        <p:nvSpPr>
          <p:cNvPr id="18" name="Rounded Rectangle 17"/>
          <p:cNvSpPr/>
          <p:nvPr/>
        </p:nvSpPr>
        <p:spPr>
          <a:xfrm>
            <a:off x="5076748" y="2926080"/>
            <a:ext cx="2035454"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86476" y="3035808"/>
            <a:ext cx="1815998" cy="274320"/>
          </a:xfrm>
          <a:prstGeom prst="roundRect">
            <a:avLst/>
          </a:prstGeom>
          <a:solidFill>
            <a:srgbClr val="E0F2FE"/>
          </a:solidFill>
          <a:ln w="95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00" b="1">
                <a:solidFill>
                  <a:srgbClr val="0284C7"/>
                </a:solidFill>
                <a:latin typeface="Segoe UI"/>
              </a:defRPr>
            </a:pPr>
            <a:r>
              <a:t>X₂ | Independen</a:t>
            </a:r>
          </a:p>
        </p:txBody>
      </p:sp>
      <p:sp>
        <p:nvSpPr>
          <p:cNvPr id="20" name="TextBox 19"/>
          <p:cNvSpPr txBox="1"/>
          <p:nvPr/>
        </p:nvSpPr>
        <p:spPr>
          <a:xfrm>
            <a:off x="5168188" y="3364992"/>
            <a:ext cx="1852574" cy="2971800"/>
          </a:xfrm>
          <a:prstGeom prst="rect">
            <a:avLst/>
          </a:prstGeom>
          <a:noFill/>
        </p:spPr>
        <p:txBody>
          <a:bodyPr wrap="square" tIns="0">
            <a:spAutoFit/>
          </a:bodyPr>
          <a:lstStyle/>
          <a:p>
            <a:pPr>
              <a:spcAft>
                <a:spcPts val="300"/>
              </a:spcAft>
              <a:defRPr sz="1100" b="1">
                <a:solidFill>
                  <a:srgbClr val="0F2642"/>
                </a:solidFill>
                <a:latin typeface="Segoe UI"/>
              </a:defRPr>
            </a:pPr>
            <a:r>
              <a:t>Desire for Completeness</a:t>
            </a:r>
          </a:p>
          <a:p>
            <a:pPr>
              <a:lnSpc>
                <a:spcPct val="120000"/>
              </a:lnSpc>
              <a:spcAft>
                <a:spcPts val="300"/>
              </a:spcAft>
              <a:defRPr sz="800">
                <a:solidFill>
                  <a:srgbClr val="475569"/>
                </a:solidFill>
                <a:latin typeface="Segoe UI"/>
              </a:defRPr>
            </a:pPr>
            <a:r>
              <a:t>Ketegangan kognitif melengkapi seluruh elemen nomor seri hingga genap sempurna (Barasz et al., 2017).</a:t>
            </a:r>
          </a:p>
          <a:p>
            <a:pPr>
              <a:spcAft>
                <a:spcPts val="400"/>
              </a:spcAft>
            </a:pPr>
            <a:r>
              <a:rPr sz="780" i="1">
                <a:solidFill>
                  <a:srgbClr val="0284C7"/>
                </a:solidFill>
              </a:rPr>
              <a:t>Konteks Kasir:
Obsesi menutup slot kosong album binder (Zeigarnik).</a:t>
            </a:r>
          </a:p>
          <a:p>
            <a:pPr>
              <a:defRPr sz="800" b="1">
                <a:solidFill>
                  <a:srgbClr val="0F2642"/>
                </a:solidFill>
              </a:defRPr>
            </a:pPr>
            <a:r>
              <a:t>Indikator Baku:</a:t>
            </a:r>
          </a:p>
          <a:p>
            <a:pPr>
              <a:defRPr sz="750">
                <a:solidFill>
                  <a:srgbClr val="0F172A"/>
                </a:solidFill>
              </a:defRPr>
            </a:pPr>
            <a:r>
              <a:t>• Obsesi nomor seri</a:t>
            </a:r>
          </a:p>
          <a:p>
            <a:pPr>
              <a:defRPr sz="750">
                <a:solidFill>
                  <a:srgbClr val="0F172A"/>
                </a:solidFill>
              </a:defRPr>
            </a:pPr>
            <a:r>
              <a:t>• Ketegangan slot kosong</a:t>
            </a:r>
          </a:p>
          <a:p>
            <a:pPr>
              <a:defRPr sz="750">
                <a:solidFill>
                  <a:srgbClr val="0F172A"/>
                </a:solidFill>
              </a:defRPr>
            </a:pPr>
            <a:r>
              <a:t>• Desakan dekat finis</a:t>
            </a:r>
          </a:p>
          <a:p>
            <a:pPr>
              <a:defRPr sz="750">
                <a:solidFill>
                  <a:srgbClr val="0F172A"/>
                </a:solidFill>
              </a:defRPr>
            </a:pPr>
            <a:r>
              <a:t>• Ambisi master set</a:t>
            </a:r>
          </a:p>
          <a:p>
            <a:pPr>
              <a:spcBef>
                <a:spcPts val="600"/>
              </a:spcBef>
            </a:pPr>
            <a:r>
              <a:rPr sz="800" b="1">
                <a:solidFill>
                  <a:srgbClr val="0284C7"/>
                </a:solidFill>
              </a:rPr>
              <a:t>Barasz et al. (2017) • 6 Item</a:t>
            </a:r>
          </a:p>
        </p:txBody>
      </p:sp>
      <p:sp>
        <p:nvSpPr>
          <p:cNvPr id="21" name="Rounded Rectangle 20"/>
          <p:cNvSpPr/>
          <p:nvPr/>
        </p:nvSpPr>
        <p:spPr>
          <a:xfrm>
            <a:off x="7249363" y="2926080"/>
            <a:ext cx="2035454"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59091" y="3035808"/>
            <a:ext cx="1815998" cy="274320"/>
          </a:xfrm>
          <a:prstGeom prst="roundRect">
            <a:avLst/>
          </a:prstGeom>
          <a:solidFill>
            <a:srgbClr val="FEF3C7"/>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00" b="1">
                <a:solidFill>
                  <a:srgbClr val="D97706"/>
                </a:solidFill>
                <a:latin typeface="Segoe UI"/>
              </a:defRPr>
            </a:pPr>
            <a:r>
              <a:t>X₃ | Independen</a:t>
            </a:r>
          </a:p>
        </p:txBody>
      </p:sp>
      <p:sp>
        <p:nvSpPr>
          <p:cNvPr id="23" name="TextBox 22"/>
          <p:cNvSpPr txBox="1"/>
          <p:nvPr/>
        </p:nvSpPr>
        <p:spPr>
          <a:xfrm>
            <a:off x="7340803" y="3364992"/>
            <a:ext cx="1852574" cy="2971800"/>
          </a:xfrm>
          <a:prstGeom prst="rect">
            <a:avLst/>
          </a:prstGeom>
          <a:noFill/>
        </p:spPr>
        <p:txBody>
          <a:bodyPr wrap="square" tIns="0">
            <a:spAutoFit/>
          </a:bodyPr>
          <a:lstStyle/>
          <a:p>
            <a:pPr>
              <a:spcAft>
                <a:spcPts val="300"/>
              </a:spcAft>
              <a:defRPr sz="1100" b="1">
                <a:solidFill>
                  <a:srgbClr val="0F2642"/>
                </a:solidFill>
                <a:latin typeface="Segoe UI"/>
              </a:defRPr>
            </a:pPr>
            <a:r>
              <a:t>Speculative Motive</a:t>
            </a:r>
          </a:p>
          <a:p>
            <a:pPr>
              <a:lnSpc>
                <a:spcPct val="120000"/>
              </a:lnSpc>
              <a:spcAft>
                <a:spcPts val="300"/>
              </a:spcAft>
              <a:defRPr sz="800">
                <a:solidFill>
                  <a:srgbClr val="475569"/>
                </a:solidFill>
                <a:latin typeface="Segoe UI"/>
              </a:defRPr>
            </a:pPr>
            <a:r>
              <a:t>Motif akuisisi didorong ekspektasi kenaikan nilai ekonomi, capital gain, arbitrase (Keynes, 1936; Shiller).</a:t>
            </a:r>
          </a:p>
          <a:p>
            <a:pPr>
              <a:spcAft>
                <a:spcPts val="400"/>
              </a:spcAft>
            </a:pPr>
            <a:r>
              <a:rPr sz="780" i="1">
                <a:solidFill>
                  <a:srgbClr val="D97706"/>
                </a:solidFill>
              </a:rPr>
              <a:t>Konteks Kasir:
Peluang menarik kartu jutaan rupiah untuk grading PSA 10.</a:t>
            </a:r>
          </a:p>
          <a:p>
            <a:pPr>
              <a:defRPr sz="800" b="1">
                <a:solidFill>
                  <a:srgbClr val="0F2642"/>
                </a:solidFill>
              </a:defRPr>
            </a:pPr>
            <a:r>
              <a:t>Indikator Baku:</a:t>
            </a:r>
          </a:p>
          <a:p>
            <a:pPr>
              <a:defRPr sz="750">
                <a:solidFill>
                  <a:srgbClr val="0F172A"/>
                </a:solidFill>
              </a:defRPr>
            </a:pPr>
            <a:r>
              <a:t>• Ekspektasi kenaikan harga</a:t>
            </a:r>
          </a:p>
          <a:p>
            <a:pPr>
              <a:defRPr sz="750">
                <a:solidFill>
                  <a:srgbClr val="0F172A"/>
                </a:solidFill>
              </a:defRPr>
            </a:pPr>
            <a:r>
              <a:t>• Potensi arbitrase PSA 10</a:t>
            </a:r>
          </a:p>
          <a:p>
            <a:pPr>
              <a:defRPr sz="750">
                <a:solidFill>
                  <a:srgbClr val="0F172A"/>
                </a:solidFill>
              </a:defRPr>
            </a:pPr>
            <a:r>
              <a:t>• Likuiditas pasar sekunder</a:t>
            </a:r>
          </a:p>
          <a:p>
            <a:pPr>
              <a:defRPr sz="750">
                <a:solidFill>
                  <a:srgbClr val="0F172A"/>
                </a:solidFill>
              </a:defRPr>
            </a:pPr>
            <a:r>
              <a:t>• Akumulasi aset</a:t>
            </a:r>
          </a:p>
          <a:p>
            <a:pPr>
              <a:spcBef>
                <a:spcPts val="600"/>
              </a:spcBef>
            </a:pPr>
            <a:r>
              <a:rPr sz="800" b="1">
                <a:solidFill>
                  <a:srgbClr val="D97706"/>
                </a:solidFill>
              </a:rPr>
              <a:t>Keynes &amp; Shiller • 6 Item</a:t>
            </a:r>
          </a:p>
        </p:txBody>
      </p:sp>
      <p:sp>
        <p:nvSpPr>
          <p:cNvPr id="24" name="Rounded Rectangle 23"/>
          <p:cNvSpPr/>
          <p:nvPr/>
        </p:nvSpPr>
        <p:spPr>
          <a:xfrm>
            <a:off x="9421977" y="2926080"/>
            <a:ext cx="2035454"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31705" y="3035808"/>
            <a:ext cx="1815998" cy="274320"/>
          </a:xfrm>
          <a:prstGeom prst="round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00" b="1">
                <a:solidFill>
                  <a:srgbClr val="059669"/>
                </a:solidFill>
                <a:latin typeface="Segoe UI"/>
              </a:defRPr>
            </a:pPr>
            <a:r>
              <a:t>M | Moderasi</a:t>
            </a:r>
          </a:p>
        </p:txBody>
      </p:sp>
      <p:sp>
        <p:nvSpPr>
          <p:cNvPr id="26" name="TextBox 25"/>
          <p:cNvSpPr txBox="1"/>
          <p:nvPr/>
        </p:nvSpPr>
        <p:spPr>
          <a:xfrm>
            <a:off x="9513417" y="3364992"/>
            <a:ext cx="1852574" cy="2971800"/>
          </a:xfrm>
          <a:prstGeom prst="rect">
            <a:avLst/>
          </a:prstGeom>
          <a:noFill/>
        </p:spPr>
        <p:txBody>
          <a:bodyPr wrap="square" tIns="0">
            <a:spAutoFit/>
          </a:bodyPr>
          <a:lstStyle/>
          <a:p>
            <a:pPr>
              <a:spcAft>
                <a:spcPts val="300"/>
              </a:spcAft>
              <a:defRPr sz="1100" b="1">
                <a:solidFill>
                  <a:srgbClr val="0F2642"/>
                </a:solidFill>
                <a:latin typeface="Segoe UI"/>
              </a:defRPr>
            </a:pPr>
            <a:r>
              <a:t>Self-Control</a:t>
            </a:r>
          </a:p>
          <a:p>
            <a:pPr>
              <a:lnSpc>
                <a:spcPct val="120000"/>
              </a:lnSpc>
              <a:spcAft>
                <a:spcPts val="300"/>
              </a:spcAft>
              <a:defRPr sz="800">
                <a:solidFill>
                  <a:srgbClr val="475569"/>
                </a:solidFill>
                <a:latin typeface="Segoe UI"/>
              </a:defRPr>
            </a:pPr>
            <a:r>
              <a:t>Kapasitas regulasi diri volisional mengendalikan impuls sesaat demi disiplin anggaran (Baumeister, 2002).</a:t>
            </a:r>
          </a:p>
          <a:p>
            <a:pPr>
              <a:spcAft>
                <a:spcPts val="400"/>
              </a:spcAft>
            </a:pPr>
            <a:r>
              <a:rPr sz="780" i="1">
                <a:solidFill>
                  <a:srgbClr val="059669"/>
                </a:solidFill>
              </a:rPr>
              <a:t>Konteks Kasir:
Disiplin kognitif menahan godaan memborong pack.</a:t>
            </a:r>
          </a:p>
          <a:p>
            <a:pPr>
              <a:defRPr sz="800" b="1">
                <a:solidFill>
                  <a:srgbClr val="0F2642"/>
                </a:solidFill>
              </a:defRPr>
            </a:pPr>
            <a:r>
              <a:t>Indikator Baku:</a:t>
            </a:r>
          </a:p>
          <a:p>
            <a:pPr>
              <a:defRPr sz="750">
                <a:solidFill>
                  <a:srgbClr val="0F172A"/>
                </a:solidFill>
              </a:defRPr>
            </a:pPr>
            <a:r>
              <a:t>• Disiplin alokasi anggaran</a:t>
            </a:r>
          </a:p>
          <a:p>
            <a:pPr>
              <a:defRPr sz="750">
                <a:solidFill>
                  <a:srgbClr val="0F172A"/>
                </a:solidFill>
              </a:defRPr>
            </a:pPr>
            <a:r>
              <a:t>• Resistensi godaan kasir</a:t>
            </a:r>
          </a:p>
          <a:p>
            <a:pPr>
              <a:defRPr sz="750">
                <a:solidFill>
                  <a:srgbClr val="0F172A"/>
                </a:solidFill>
              </a:defRPr>
            </a:pPr>
            <a:r>
              <a:t>• Tunda kepuasan instan</a:t>
            </a:r>
          </a:p>
          <a:p>
            <a:pPr>
              <a:defRPr sz="750">
                <a:solidFill>
                  <a:srgbClr val="0F172A"/>
                </a:solidFill>
              </a:defRPr>
            </a:pPr>
            <a:r>
              <a:t>• Kepatuhan anggaran</a:t>
            </a:r>
          </a:p>
          <a:p>
            <a:pPr>
              <a:spcBef>
                <a:spcPts val="600"/>
              </a:spcBef>
            </a:pPr>
            <a:r>
              <a:rPr sz="800" b="1">
                <a:solidFill>
                  <a:srgbClr val="059669"/>
                </a:solidFill>
              </a:rPr>
              <a:t>BSCS (Tangney) • 8 Item</a:t>
            </a:r>
          </a:p>
        </p:txBody>
      </p:sp>
      <p:sp>
        <p:nvSpPr>
          <p:cNvPr id="27" name="TextBox 26"/>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28" name="TextBox 27"/>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02 | Rerangka Penelitian • Model &amp; 6 Hipotesis</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Penelitian Sebelumnya, Model Penelitian &amp; Hipotesis</a:t>
            </a:r>
          </a:p>
          <a:p>
            <a:pPr>
              <a:defRPr sz="1050">
                <a:solidFill>
                  <a:srgbClr val="475569"/>
                </a:solidFill>
                <a:latin typeface="Segoe UI"/>
              </a:defRPr>
            </a:pPr>
            <a:r>
              <a:t>Dasar empiris pengujian struktural Moderated Regression Analysis (MRA)</a:t>
            </a:r>
          </a:p>
        </p:txBody>
      </p:sp>
      <p:graphicFrame>
        <p:nvGraphicFramePr>
          <p:cNvPr id="8" name="Table 7"/>
          <p:cNvGraphicFramePr>
            <a:graphicFrameLocks noGrp="1"/>
          </p:cNvGraphicFramePr>
          <p:nvPr/>
        </p:nvGraphicFramePr>
        <p:xfrm>
          <a:off x="731520" y="1371600"/>
          <a:ext cx="10728655" cy="1371600"/>
        </p:xfrm>
        <a:graphic>
          <a:graphicData uri="http://schemas.openxmlformats.org/drawingml/2006/table">
            <a:tbl>
              <a:tblPr firstRow="1" bandRow="1">
                <a:tableStyleId>{5C22544A-7EE6-4342-B048-85BDC9FD1C3A}</a:tableStyleId>
              </a:tblPr>
              <a:tblGrid>
                <a:gridCol w="1463040"/>
                <a:gridCol w="3840480"/>
                <a:gridCol w="3413455"/>
                <a:gridCol w="2011680"/>
              </a:tblGrid>
              <a:tr h="274320">
                <a:tc>
                  <a:txBody>
                    <a:bodyPr/>
                    <a:lstStyle/>
                    <a:p>
                      <a:pPr algn="ctr">
                        <a:defRPr sz="1000" b="1">
                          <a:solidFill>
                            <a:srgbClr val="FFFFFF"/>
                          </a:solidFill>
                          <a:latin typeface="Segoe UI"/>
                        </a:defRPr>
                      </a:pPr>
                      <a:r>
                        <a:t>Hubungan Model</a:t>
                      </a:r>
                    </a:p>
                  </a:txBody>
                  <a:tcPr>
                    <a:solidFill>
                      <a:srgbClr val="0F2642"/>
                    </a:solidFill>
                  </a:tcPr>
                </a:tc>
                <a:tc>
                  <a:txBody>
                    <a:bodyPr/>
                    <a:lstStyle/>
                    <a:p>
                      <a:pPr algn="l">
                        <a:defRPr sz="1000" b="1">
                          <a:solidFill>
                            <a:srgbClr val="FFFFFF"/>
                          </a:solidFill>
                          <a:latin typeface="Segoe UI"/>
                        </a:defRPr>
                      </a:pPr>
                      <a:r>
                        <a:t>Fokus Riset Terdahulu</a:t>
                      </a:r>
                    </a:p>
                  </a:txBody>
                  <a:tcPr>
                    <a:solidFill>
                      <a:srgbClr val="0F2642"/>
                    </a:solidFill>
                  </a:tcPr>
                </a:tc>
                <a:tc>
                  <a:txBody>
                    <a:bodyPr/>
                    <a:lstStyle/>
                    <a:p>
                      <a:pPr algn="l">
                        <a:defRPr sz="1000" b="1">
                          <a:solidFill>
                            <a:srgbClr val="FFFFFF"/>
                          </a:solidFill>
                          <a:latin typeface="Segoe UI"/>
                        </a:defRPr>
                      </a:pPr>
                      <a:r>
                        <a:t>Rujukan Empiris Kunci</a:t>
                      </a:r>
                    </a:p>
                  </a:txBody>
                  <a:tcPr>
                    <a:solidFill>
                      <a:srgbClr val="0F2642"/>
                    </a:solidFill>
                  </a:tcPr>
                </a:tc>
                <a:tc>
                  <a:txBody>
                    <a:bodyPr/>
                    <a:lstStyle/>
                    <a:p>
                      <a:pPr algn="ctr">
                        <a:defRPr sz="1000" b="1">
                          <a:solidFill>
                            <a:srgbClr val="FFFFFF"/>
                          </a:solidFill>
                          <a:latin typeface="Segoe UI"/>
                        </a:defRPr>
                      </a:pPr>
                      <a:r>
                        <a:t>Dasar Hipotesis</a:t>
                      </a:r>
                    </a:p>
                  </a:txBody>
                  <a:tcPr>
                    <a:solidFill>
                      <a:srgbClr val="0F2642"/>
                    </a:solidFill>
                  </a:tcPr>
                </a:tc>
              </a:tr>
              <a:tr h="274320">
                <a:tc>
                  <a:txBody>
                    <a:bodyPr/>
                    <a:lstStyle/>
                    <a:p>
                      <a:pPr algn="ctr">
                        <a:defRPr sz="900" b="1">
                          <a:solidFill>
                            <a:srgbClr val="1E3A8A"/>
                          </a:solidFill>
                          <a:latin typeface="Segoe UI"/>
                        </a:defRPr>
                      </a:pPr>
                      <a:r>
                        <a:t>X₁ ➔ Y</a:t>
                      </a:r>
                    </a:p>
                  </a:txBody>
                  <a:tcPr>
                    <a:solidFill>
                      <a:srgbClr val="F8FAFC"/>
                    </a:solidFill>
                  </a:tcPr>
                </a:tc>
                <a:tc>
                  <a:txBody>
                    <a:bodyPr/>
                    <a:lstStyle/>
                    <a:p>
                      <a:pPr algn="l">
                        <a:defRPr sz="900">
                          <a:solidFill>
                            <a:srgbClr val="0F172A"/>
                          </a:solidFill>
                          <a:latin typeface="Segoe UI"/>
                        </a:defRPr>
                      </a:pPr>
                      <a:r>
                        <a:t>Motivasi hedonis memicu belanja impulsif tanpa rencana</a:t>
                      </a:r>
                    </a:p>
                  </a:txBody>
                  <a:tcPr>
                    <a:solidFill>
                      <a:srgbClr val="F8FAFC"/>
                    </a:solidFill>
                  </a:tcPr>
                </a:tc>
                <a:tc>
                  <a:txBody>
                    <a:bodyPr/>
                    <a:lstStyle/>
                    <a:p>
                      <a:pPr algn="l">
                        <a:defRPr sz="900">
                          <a:solidFill>
                            <a:srgbClr val="0F172A"/>
                          </a:solidFill>
                          <a:latin typeface="Segoe UI"/>
                        </a:defRPr>
                      </a:pPr>
                      <a:r>
                        <a:t>Pranggabayu &amp; Andjarwati (2022); Gong et al. (2024)</a:t>
                      </a:r>
                    </a:p>
                  </a:txBody>
                  <a:tcPr>
                    <a:solidFill>
                      <a:srgbClr val="F8FAFC"/>
                    </a:solidFill>
                  </a:tcPr>
                </a:tc>
                <a:tc>
                  <a:txBody>
                    <a:bodyPr/>
                    <a:lstStyle/>
                    <a:p>
                      <a:pPr algn="ctr">
                        <a:defRPr sz="900" b="1">
                          <a:solidFill>
                            <a:srgbClr val="0284C7"/>
                          </a:solidFill>
                          <a:latin typeface="Segoe UI"/>
                        </a:defRPr>
                      </a:pPr>
                      <a:r>
                        <a:t>H₁ (+) Positif</a:t>
                      </a:r>
                    </a:p>
                  </a:txBody>
                  <a:tcPr>
                    <a:solidFill>
                      <a:srgbClr val="F8FAFC"/>
                    </a:solidFill>
                  </a:tcPr>
                </a:tc>
              </a:tr>
              <a:tr h="274320">
                <a:tc>
                  <a:txBody>
                    <a:bodyPr/>
                    <a:lstStyle/>
                    <a:p>
                      <a:pPr algn="ctr">
                        <a:defRPr sz="900" b="1">
                          <a:solidFill>
                            <a:srgbClr val="1E3A8A"/>
                          </a:solidFill>
                          <a:latin typeface="Segoe UI"/>
                        </a:defRPr>
                      </a:pPr>
                      <a:r>
                        <a:t>X₂ ➔ Y</a:t>
                      </a:r>
                    </a:p>
                  </a:txBody>
                  <a:tcPr>
                    <a:solidFill>
                      <a:srgbClr val="FFFFFF"/>
                    </a:solidFill>
                  </a:tcPr>
                </a:tc>
                <a:tc>
                  <a:txBody>
                    <a:bodyPr/>
                    <a:lstStyle/>
                    <a:p>
                      <a:pPr algn="l">
                        <a:defRPr sz="900">
                          <a:solidFill>
                            <a:srgbClr val="0F172A"/>
                          </a:solidFill>
                          <a:latin typeface="Segoe UI"/>
                        </a:defRPr>
                      </a:pPr>
                      <a:r>
                        <a:t>Hasrat kelengkapan set memicu ketegangan belanja</a:t>
                      </a:r>
                    </a:p>
                  </a:txBody>
                  <a:tcPr>
                    <a:solidFill>
                      <a:srgbClr val="FFFFFF"/>
                    </a:solidFill>
                  </a:tcPr>
                </a:tc>
                <a:tc>
                  <a:txBody>
                    <a:bodyPr/>
                    <a:lstStyle/>
                    <a:p>
                      <a:pPr algn="l">
                        <a:defRPr sz="900">
                          <a:solidFill>
                            <a:srgbClr val="0F172A"/>
                          </a:solidFill>
                          <a:latin typeface="Segoe UI"/>
                        </a:defRPr>
                      </a:pPr>
                      <a:r>
                        <a:t>Barasz et al. (2017); Dewi et al. (2026)</a:t>
                      </a:r>
                    </a:p>
                  </a:txBody>
                  <a:tcPr>
                    <a:solidFill>
                      <a:srgbClr val="FFFFFF"/>
                    </a:solidFill>
                  </a:tcPr>
                </a:tc>
                <a:tc>
                  <a:txBody>
                    <a:bodyPr/>
                    <a:lstStyle/>
                    <a:p>
                      <a:pPr algn="ctr">
                        <a:defRPr sz="900" b="1">
                          <a:solidFill>
                            <a:srgbClr val="0284C7"/>
                          </a:solidFill>
                          <a:latin typeface="Segoe UI"/>
                        </a:defRPr>
                      </a:pPr>
                      <a:r>
                        <a:t>H₂ (+) Positif</a:t>
                      </a:r>
                    </a:p>
                  </a:txBody>
                  <a:tcPr>
                    <a:solidFill>
                      <a:srgbClr val="FFFFFF"/>
                    </a:solidFill>
                  </a:tcPr>
                </a:tc>
              </a:tr>
              <a:tr h="274320">
                <a:tc>
                  <a:txBody>
                    <a:bodyPr/>
                    <a:lstStyle/>
                    <a:p>
                      <a:pPr algn="ctr">
                        <a:defRPr sz="900" b="1">
                          <a:solidFill>
                            <a:srgbClr val="1E3A8A"/>
                          </a:solidFill>
                          <a:latin typeface="Segoe UI"/>
                        </a:defRPr>
                      </a:pPr>
                      <a:r>
                        <a:t>X₃ ➔ Y</a:t>
                      </a:r>
                    </a:p>
                  </a:txBody>
                  <a:tcPr>
                    <a:solidFill>
                      <a:srgbClr val="F8FAFC"/>
                    </a:solidFill>
                  </a:tcPr>
                </a:tc>
                <a:tc>
                  <a:txBody>
                    <a:bodyPr/>
                    <a:lstStyle/>
                    <a:p>
                      <a:pPr algn="l">
                        <a:defRPr sz="900">
                          <a:solidFill>
                            <a:srgbClr val="0F172A"/>
                          </a:solidFill>
                          <a:latin typeface="Segoe UI"/>
                        </a:defRPr>
                      </a:pPr>
                      <a:r>
                        <a:t>Motif investasi &amp; spekulasi arbitrase mendorong transaksi</a:t>
                      </a:r>
                    </a:p>
                  </a:txBody>
                  <a:tcPr>
                    <a:solidFill>
                      <a:srgbClr val="F8FAFC"/>
                    </a:solidFill>
                  </a:tcPr>
                </a:tc>
                <a:tc>
                  <a:txBody>
                    <a:bodyPr/>
                    <a:lstStyle/>
                    <a:p>
                      <a:pPr algn="l">
                        <a:defRPr sz="900">
                          <a:solidFill>
                            <a:srgbClr val="0F172A"/>
                          </a:solidFill>
                          <a:latin typeface="Segoe UI"/>
                        </a:defRPr>
                      </a:pPr>
                      <a:r>
                        <a:t>Aryadi &amp; Lingga (2024); Colline (2024)</a:t>
                      </a:r>
                    </a:p>
                  </a:txBody>
                  <a:tcPr>
                    <a:solidFill>
                      <a:srgbClr val="F8FAFC"/>
                    </a:solidFill>
                  </a:tcPr>
                </a:tc>
                <a:tc>
                  <a:txBody>
                    <a:bodyPr/>
                    <a:lstStyle/>
                    <a:p>
                      <a:pPr algn="ctr">
                        <a:defRPr sz="900" b="1">
                          <a:solidFill>
                            <a:srgbClr val="0284C7"/>
                          </a:solidFill>
                          <a:latin typeface="Segoe UI"/>
                        </a:defRPr>
                      </a:pPr>
                      <a:r>
                        <a:t>H₃ (+) Positif</a:t>
                      </a:r>
                    </a:p>
                  </a:txBody>
                  <a:tcPr>
                    <a:solidFill>
                      <a:srgbClr val="F8FAFC"/>
                    </a:solidFill>
                  </a:tcPr>
                </a:tc>
              </a:tr>
              <a:tr h="274320">
                <a:tc>
                  <a:txBody>
                    <a:bodyPr/>
                    <a:lstStyle/>
                    <a:p>
                      <a:pPr algn="ctr">
                        <a:defRPr sz="900" b="1">
                          <a:solidFill>
                            <a:srgbClr val="1E3A8A"/>
                          </a:solidFill>
                          <a:latin typeface="Segoe UI"/>
                        </a:defRPr>
                      </a:pPr>
                      <a:r>
                        <a:t>M ➔ (X₁₋₃ ➔ Y)</a:t>
                      </a:r>
                    </a:p>
                  </a:txBody>
                  <a:tcPr>
                    <a:solidFill>
                      <a:srgbClr val="FFFFFF"/>
                    </a:solidFill>
                  </a:tcPr>
                </a:tc>
                <a:tc>
                  <a:txBody>
                    <a:bodyPr/>
                    <a:lstStyle/>
                    <a:p>
                      <a:pPr algn="l">
                        <a:defRPr sz="900">
                          <a:solidFill>
                            <a:srgbClr val="0F172A"/>
                          </a:solidFill>
                          <a:latin typeface="Segoe UI"/>
                        </a:defRPr>
                      </a:pPr>
                      <a:r>
                        <a:t>Kontrol diri volisional meredam impulsivitas belanja</a:t>
                      </a:r>
                    </a:p>
                  </a:txBody>
                  <a:tcPr>
                    <a:solidFill>
                      <a:srgbClr val="FFFFFF"/>
                    </a:solidFill>
                  </a:tcPr>
                </a:tc>
                <a:tc>
                  <a:txBody>
                    <a:bodyPr/>
                    <a:lstStyle/>
                    <a:p>
                      <a:pPr algn="l">
                        <a:defRPr sz="900">
                          <a:solidFill>
                            <a:srgbClr val="0F172A"/>
                          </a:solidFill>
                          <a:latin typeface="Segoe UI"/>
                        </a:defRPr>
                      </a:pPr>
                      <a:r>
                        <a:t>Artadita &amp; Firmialy (2024); Lienardy &amp; Panasea (2026)</a:t>
                      </a:r>
                    </a:p>
                  </a:txBody>
                  <a:tcPr>
                    <a:solidFill>
                      <a:srgbClr val="FFFFFF"/>
                    </a:solidFill>
                  </a:tcPr>
                </a:tc>
                <a:tc>
                  <a:txBody>
                    <a:bodyPr/>
                    <a:lstStyle/>
                    <a:p>
                      <a:pPr algn="ctr">
                        <a:defRPr sz="900" b="1">
                          <a:solidFill>
                            <a:srgbClr val="059669"/>
                          </a:solidFill>
                          <a:latin typeface="Segoe UI"/>
                        </a:defRPr>
                      </a:pPr>
                      <a:r>
                        <a:t>H₄–H₆ (-) Memperlemah</a:t>
                      </a:r>
                    </a:p>
                  </a:txBody>
                  <a:tcPr>
                    <a:solidFill>
                      <a:srgbClr val="FFFFFF"/>
                    </a:solidFill>
                  </a:tcPr>
                </a:tc>
              </a:tr>
            </a:tbl>
          </a:graphicData>
        </a:graphic>
      </p:graphicFrame>
      <p:sp>
        <p:nvSpPr>
          <p:cNvPr id="9" name="Rounded Rectangle 8"/>
          <p:cNvSpPr/>
          <p:nvPr/>
        </p:nvSpPr>
        <p:spPr>
          <a:xfrm>
            <a:off x="731520" y="2834640"/>
            <a:ext cx="5166360" cy="3566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ambar_rerangka_penelitian.png"/>
          <p:cNvPicPr>
            <a:picLocks noChangeAspect="1"/>
          </p:cNvPicPr>
          <p:nvPr/>
        </p:nvPicPr>
        <p:blipFill>
          <a:blip r:embed="rId2"/>
          <a:stretch>
            <a:fillRect/>
          </a:stretch>
        </p:blipFill>
        <p:spPr>
          <a:xfrm>
            <a:off x="868680" y="2926080"/>
            <a:ext cx="4892040" cy="2834640"/>
          </a:xfrm>
          <a:prstGeom prst="rect">
            <a:avLst/>
          </a:prstGeom>
        </p:spPr>
      </p:pic>
      <p:sp>
        <p:nvSpPr>
          <p:cNvPr id="11" name="TextBox 10"/>
          <p:cNvSpPr txBox="1"/>
          <p:nvPr/>
        </p:nvSpPr>
        <p:spPr>
          <a:xfrm>
            <a:off x="868680" y="5852160"/>
            <a:ext cx="4892040" cy="457200"/>
          </a:xfrm>
          <a:prstGeom prst="rect">
            <a:avLst/>
          </a:prstGeom>
          <a:noFill/>
        </p:spPr>
        <p:txBody>
          <a:bodyPr wrap="square" tIns="0">
            <a:spAutoFit/>
          </a:bodyPr>
          <a:lstStyle/>
          <a:p>
            <a:pPr>
              <a:defRPr sz="850" b="1">
                <a:solidFill>
                  <a:srgbClr val="0F2642"/>
                </a:solidFill>
                <a:latin typeface="Segoe UI"/>
              </a:defRPr>
            </a:pPr>
            <a:r>
              <a:t>Gambar 2.1: Model Rerangka Konseptual Penelitian (MRA OLS Dua-Tahap)</a:t>
            </a:r>
          </a:p>
        </p:txBody>
      </p:sp>
      <p:sp>
        <p:nvSpPr>
          <p:cNvPr id="12" name="Rounded Rectangle 11"/>
          <p:cNvSpPr/>
          <p:nvPr/>
        </p:nvSpPr>
        <p:spPr>
          <a:xfrm>
            <a:off x="6080760" y="2834640"/>
            <a:ext cx="5379415"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907792"/>
            <a:ext cx="5105095" cy="1737360"/>
          </a:xfrm>
          <a:prstGeom prst="rect">
            <a:avLst/>
          </a:prstGeom>
          <a:noFill/>
        </p:spPr>
        <p:txBody>
          <a:bodyPr wrap="square" tIns="0">
            <a:spAutoFit/>
          </a:bodyPr>
          <a:lstStyle/>
          <a:p>
            <a:pPr>
              <a:spcAft>
                <a:spcPts val="400"/>
              </a:spcAft>
              <a:defRPr sz="1100" b="1">
                <a:solidFill>
                  <a:srgbClr val="0F2642"/>
                </a:solidFill>
                <a:latin typeface="Segoe UI"/>
              </a:defRPr>
            </a:pPr>
            <a:r>
              <a:t>🎯 Enam Hipotesis Penelitian Terarah</a:t>
            </a:r>
          </a:p>
          <a:p>
            <a:r>
              <a:rPr b="1" sz="880">
                <a:solidFill>
                  <a:srgbClr val="0284C7"/>
                </a:solidFill>
              </a:rPr>
              <a:t>H₁ (+): </a:t>
            </a:r>
            <a:r>
              <a:rPr sz="880">
                <a:solidFill>
                  <a:srgbClr val="0F172A"/>
                </a:solidFill>
              </a:rPr>
              <a:t>Hedonic Motivation berpengaruh positif terhadap Impulsive Buying.</a:t>
            </a:r>
          </a:p>
          <a:p>
            <a:r>
              <a:rPr b="1" sz="880">
                <a:solidFill>
                  <a:srgbClr val="0284C7"/>
                </a:solidFill>
              </a:rPr>
              <a:t>H₂ (+): </a:t>
            </a:r>
            <a:r>
              <a:rPr sz="880">
                <a:solidFill>
                  <a:srgbClr val="0F172A"/>
                </a:solidFill>
              </a:rPr>
              <a:t>Desire for Completeness berpengaruh positif terhadap Impulsive Buying.</a:t>
            </a:r>
          </a:p>
          <a:p>
            <a:r>
              <a:rPr b="1" sz="880">
                <a:solidFill>
                  <a:srgbClr val="0284C7"/>
                </a:solidFill>
              </a:rPr>
              <a:t>H₃ (+): </a:t>
            </a:r>
            <a:r>
              <a:rPr sz="880">
                <a:solidFill>
                  <a:srgbClr val="0F172A"/>
                </a:solidFill>
              </a:rPr>
              <a:t>Speculative Motive berpengaruh positif terhadap Impulsive Buying.</a:t>
            </a:r>
          </a:p>
          <a:p>
            <a:r>
              <a:rPr b="1" sz="880">
                <a:solidFill>
                  <a:srgbClr val="E11D48"/>
                </a:solidFill>
              </a:rPr>
              <a:t>H₄ (-): </a:t>
            </a:r>
            <a:r>
              <a:rPr sz="880">
                <a:solidFill>
                  <a:srgbClr val="0F172A"/>
                </a:solidFill>
              </a:rPr>
              <a:t>Self-Control memoderasi (memperlemah) pengaruh Hedonic Motivation.</a:t>
            </a:r>
          </a:p>
          <a:p>
            <a:r>
              <a:rPr b="1" sz="880">
                <a:solidFill>
                  <a:srgbClr val="E11D48"/>
                </a:solidFill>
              </a:rPr>
              <a:t>H₅ (-): </a:t>
            </a:r>
            <a:r>
              <a:rPr sz="880">
                <a:solidFill>
                  <a:srgbClr val="0F172A"/>
                </a:solidFill>
              </a:rPr>
              <a:t>Self-Control memoderasi (memperlemah) pengaruh Desire for Completeness.</a:t>
            </a:r>
          </a:p>
          <a:p>
            <a:r>
              <a:rPr b="1" sz="880">
                <a:solidFill>
                  <a:srgbClr val="E11D48"/>
                </a:solidFill>
              </a:rPr>
              <a:t>H₆ (-): </a:t>
            </a:r>
            <a:r>
              <a:rPr sz="880">
                <a:solidFill>
                  <a:srgbClr val="0F172A"/>
                </a:solidFill>
              </a:rPr>
              <a:t>Self-Control memoderasi (memperlemah) pengaruh Speculative Motive.</a:t>
            </a:r>
          </a:p>
        </p:txBody>
      </p:sp>
      <p:sp>
        <p:nvSpPr>
          <p:cNvPr id="14" name="Rounded Rectangle 13"/>
          <p:cNvSpPr/>
          <p:nvPr/>
        </p:nvSpPr>
        <p:spPr>
          <a:xfrm>
            <a:off x="6080760" y="4800600"/>
            <a:ext cx="5379415" cy="160020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4873752"/>
            <a:ext cx="5105095" cy="1463040"/>
          </a:xfrm>
          <a:prstGeom prst="rect">
            <a:avLst/>
          </a:prstGeom>
          <a:noFill/>
        </p:spPr>
        <p:txBody>
          <a:bodyPr wrap="square" tIns="0">
            <a:spAutoFit/>
          </a:bodyPr>
          <a:lstStyle/>
          <a:p>
            <a:pPr>
              <a:spcAft>
                <a:spcPts val="300"/>
              </a:spcAft>
              <a:defRPr sz="1000" b="1">
                <a:solidFill>
                  <a:srgbClr val="D97706"/>
                </a:solidFill>
                <a:latin typeface="Segoe UI"/>
              </a:defRPr>
            </a:pPr>
            <a:r>
              <a:t>📐 Prosedur Hierarkis MRA Dua-Tahap (Aiken &amp; West, 1991) — Mean-Centered</a:t>
            </a:r>
          </a:p>
          <a:p>
            <a:pPr>
              <a:defRPr sz="850" b="1">
                <a:solidFill>
                  <a:srgbClr val="0F2642"/>
                </a:solidFill>
                <a:latin typeface="Segoe UI"/>
              </a:defRPr>
            </a:pPr>
            <a:r>
              <a:t>Tahap 1 (Efek Utama Baseline): Y = α + β₁X₁* + β₂X₂* + β₃X₃* + β₄M* + e  ➔ [R₁²]</a:t>
            </a:r>
          </a:p>
          <a:p>
            <a:pPr>
              <a:spcAft>
                <a:spcPts val="300"/>
              </a:spcAft>
              <a:defRPr sz="850" b="1">
                <a:solidFill>
                  <a:srgbClr val="0F2642"/>
                </a:solidFill>
                <a:latin typeface="Segoe UI"/>
              </a:defRPr>
            </a:pPr>
            <a:r>
              <a:t>Tahap 2 (Model Interaksi Penuh): Model 1 + β₅(X₁*·M*) + β₆(X₂*·M*) + β₇(X₃*·M*) + e  ➔ [R₂²]</a:t>
            </a:r>
          </a:p>
          <a:p>
            <a:r>
              <a:rPr sz="819" b="1">
                <a:solidFill>
                  <a:srgbClr val="059669"/>
                </a:solidFill>
              </a:rPr>
              <a:t>💡 Uji Moderasi Murni: Signifikansi kenaikan ΔR² diuji via Fchange (p &lt; 0,05) | Efek Memperlemah: β₅, β₆, β₇ &lt; 0</a:t>
            </a:r>
          </a:p>
        </p:txBody>
      </p:sp>
      <p:sp>
        <p:nvSpPr>
          <p:cNvPr id="16" name="TextBox 15"/>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17" name="TextBox 16"/>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03 | Metode Penelitian • Desain &amp; Analisis</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Rancangan Metode Penelitian &amp; Analisis Data</a:t>
            </a:r>
          </a:p>
          <a:p>
            <a:pPr>
              <a:defRPr sz="1050">
                <a:solidFill>
                  <a:srgbClr val="475569"/>
                </a:solidFill>
                <a:latin typeface="Segoe UI"/>
              </a:defRPr>
            </a:pPr>
            <a:r>
              <a:t>Protokol purposive sampling, kaidah sampel Green (1991), dan ekonometrika MRA mean-centering</a:t>
            </a:r>
          </a:p>
        </p:txBody>
      </p:sp>
      <p:sp>
        <p:nvSpPr>
          <p:cNvPr id="8" name="Rounded Rectangle 7"/>
          <p:cNvSpPr/>
          <p:nvPr/>
        </p:nvSpPr>
        <p:spPr>
          <a:xfrm>
            <a:off x="731520" y="1417320"/>
            <a:ext cx="5257800" cy="23957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545336"/>
            <a:ext cx="4928616" cy="2139696"/>
          </a:xfrm>
          <a:prstGeom prst="rect">
            <a:avLst/>
          </a:prstGeom>
          <a:noFill/>
        </p:spPr>
        <p:txBody>
          <a:bodyPr wrap="square" tIns="0">
            <a:spAutoFit/>
          </a:bodyPr>
          <a:lstStyle/>
          <a:p>
            <a:pPr>
              <a:spcAft>
                <a:spcPts val="400"/>
              </a:spcAft>
              <a:defRPr sz="1150" b="1">
                <a:solidFill>
                  <a:srgbClr val="0F2642"/>
                </a:solidFill>
                <a:latin typeface="Segoe UI"/>
              </a:defRPr>
            </a:pPr>
            <a:r>
              <a:t>1. Desain Riset &amp; Pengumpulan Data</a:t>
            </a:r>
          </a:p>
          <a:p>
            <a:pPr>
              <a:spcAft>
                <a:spcPts val="400"/>
              </a:spcAft>
              <a:defRPr sz="900" b="1">
                <a:solidFill>
                  <a:srgbClr val="0284C7"/>
                </a:solidFill>
                <a:latin typeface="Segoe UI"/>
              </a:defRPr>
            </a:pPr>
            <a:r>
              <a:t>🔬 Kuantitatif Asosiatif Kausal  •  ⏱️ Kros-Seksional  •  📋 Google Forms Daring</a:t>
            </a:r>
          </a:p>
          <a:p>
            <a:pPr>
              <a:spcAft>
                <a:spcPts val="500"/>
              </a:spcAft>
              <a:defRPr sz="900">
                <a:solidFill>
                  <a:srgbClr val="475569"/>
                </a:solidFill>
                <a:latin typeface="Segoe UI"/>
              </a:defRPr>
            </a:pPr>
            <a:r>
              <a:t>Penyebaran: Kuesioner daring terstruktur dibagikan ke komunitas resmi Pokémon TCG di Indonesia.</a:t>
            </a:r>
          </a:p>
          <a:p>
            <a:pPr>
              <a:defRPr sz="900" b="1">
                <a:solidFill>
                  <a:srgbClr val="0F2642"/>
                </a:solidFill>
                <a:latin typeface="Segoe UI"/>
              </a:defRPr>
            </a:pPr>
            <a:r>
              <a:t>Skala Likert 5-Poin:</a:t>
            </a:r>
          </a:p>
          <a:p>
            <a:pPr>
              <a:spcAft>
                <a:spcPts val="400"/>
              </a:spcAft>
              <a:defRPr sz="850" b="1">
                <a:solidFill>
                  <a:srgbClr val="D97706"/>
                </a:solidFill>
                <a:latin typeface="Segoe UI"/>
              </a:defRPr>
            </a:pPr>
            <a:r>
              <a:t>[1: Sangat Tidak Setuju]  [2: TS]  [3: Netral]  [4: S]  [5: Sangat Setuju]</a:t>
            </a:r>
          </a:p>
          <a:p>
            <a:pPr>
              <a:defRPr sz="880">
                <a:solidFill>
                  <a:srgbClr val="64748B"/>
                </a:solidFill>
                <a:latin typeface="Segoe UI"/>
              </a:defRPr>
            </a:pPr>
            <a:r>
              <a:t>• Skor Komposit: Dihitung dari rerata butir per konstruk variabel (Ghozali, 2018).</a:t>
            </a:r>
          </a:p>
        </p:txBody>
      </p:sp>
      <p:sp>
        <p:nvSpPr>
          <p:cNvPr id="10" name="Rounded Rectangle 9"/>
          <p:cNvSpPr/>
          <p:nvPr/>
        </p:nvSpPr>
        <p:spPr>
          <a:xfrm>
            <a:off x="6202375" y="1417320"/>
            <a:ext cx="5257800" cy="23957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6967" y="1545336"/>
            <a:ext cx="4928616" cy="2139696"/>
          </a:xfrm>
          <a:prstGeom prst="rect">
            <a:avLst/>
          </a:prstGeom>
          <a:noFill/>
        </p:spPr>
        <p:txBody>
          <a:bodyPr wrap="square" tIns="0">
            <a:spAutoFit/>
          </a:bodyPr>
          <a:lstStyle/>
          <a:p>
            <a:pPr>
              <a:spcAft>
                <a:spcPts val="400"/>
              </a:spcAft>
              <a:defRPr sz="1150" b="1">
                <a:solidFill>
                  <a:srgbClr val="0F2642"/>
                </a:solidFill>
                <a:latin typeface="Segoe UI"/>
              </a:defRPr>
            </a:pPr>
            <a:r>
              <a:t>2. Populasi &amp; Ukuran Sampel</a:t>
            </a:r>
          </a:p>
          <a:p>
            <a:pPr>
              <a:spcAft>
                <a:spcPts val="400"/>
              </a:spcAft>
              <a:defRPr sz="900" b="1">
                <a:solidFill>
                  <a:srgbClr val="D97706"/>
                </a:solidFill>
                <a:latin typeface="Segoe UI"/>
              </a:defRPr>
            </a:pPr>
            <a:r>
              <a:t>🌐 Populasi: Infinite (Komunitas Kolektor)  •  🎯 Purposive Sampling</a:t>
            </a:r>
          </a:p>
          <a:p>
            <a:pPr>
              <a:spcAft>
                <a:spcPts val="500"/>
              </a:spcAft>
              <a:defRPr sz="900">
                <a:solidFill>
                  <a:srgbClr val="475569"/>
                </a:solidFill>
                <a:latin typeface="Segoe UI"/>
              </a:defRPr>
            </a:pPr>
            <a:r>
              <a:t>Kriteria Inklusi: WNI usia ≥ 17 tahun &amp; pernah membeli booster pack fisik resmi min. 1× (12 bulan terakhir).</a:t>
            </a:r>
          </a:p>
          <a:p>
            <a:pPr>
              <a:defRPr sz="900" b="1">
                <a:solidFill>
                  <a:srgbClr val="0F2642"/>
                </a:solidFill>
                <a:latin typeface="Segoe UI"/>
              </a:defRPr>
            </a:pPr>
            <a:r>
              <a:t>Kaidah Formula Green (1991) — k = 7 Prediktor Model MRA:</a:t>
            </a:r>
          </a:p>
          <a:p>
            <a:pPr>
              <a:spcAft>
                <a:spcPts val="400"/>
              </a:spcAft>
              <a:defRPr sz="880">
                <a:solidFill>
                  <a:srgbClr val="0F172A"/>
                </a:solidFill>
                <a:latin typeface="Segoe UI"/>
              </a:defRPr>
            </a:pPr>
            <a:r>
              <a:t>• Uji-F Simultan: N ≥ 50 + 8(7) = 106 Responden</a:t>
            </a:r>
            <a:br/>
            <a:r>
              <a:t>• Uji-t Parsial (Ambang Mutlak): N ≥ 104 + 7 = 111 Responden</a:t>
            </a:r>
          </a:p>
          <a:p>
            <a:r>
              <a:rPr sz="919" b="1">
                <a:solidFill>
                  <a:srgbClr val="059669"/>
                </a:solidFill>
                <a:latin typeface="Segoe UI"/>
              </a:rPr>
              <a:t>🎯 Target Sampel: 120 s.d. 150 Responden  |  Pilot Test: N = 30</a:t>
            </a:r>
          </a:p>
        </p:txBody>
      </p:sp>
      <p:sp>
        <p:nvSpPr>
          <p:cNvPr id="12" name="Rounded Rectangle 11"/>
          <p:cNvSpPr/>
          <p:nvPr/>
        </p:nvSpPr>
        <p:spPr>
          <a:xfrm>
            <a:off x="731520" y="3977639"/>
            <a:ext cx="5257800" cy="23957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105655"/>
            <a:ext cx="4928616" cy="2139696"/>
          </a:xfrm>
          <a:prstGeom prst="rect">
            <a:avLst/>
          </a:prstGeom>
          <a:noFill/>
        </p:spPr>
        <p:txBody>
          <a:bodyPr wrap="square" tIns="0">
            <a:spAutoFit/>
          </a:bodyPr>
          <a:lstStyle/>
          <a:p>
            <a:pPr>
              <a:spcAft>
                <a:spcPts val="400"/>
              </a:spcAft>
              <a:defRPr sz="1150" b="1">
                <a:solidFill>
                  <a:srgbClr val="0F2642"/>
                </a:solidFill>
                <a:latin typeface="Segoe UI"/>
              </a:defRPr>
            </a:pPr>
            <a:r>
              <a:t>3. Uji Kualitas Data &amp; Asumsi Klasik OLS</a:t>
            </a:r>
          </a:p>
          <a:p>
            <a:pPr>
              <a:defRPr sz="880">
                <a:solidFill>
                  <a:srgbClr val="0F172A"/>
                </a:solidFill>
                <a:latin typeface="Segoe UI"/>
              </a:defRPr>
            </a:pPr>
            <a:r>
              <a:t>✔️ Validitas Konstruk: Pearson Product Moment (rhitung &gt; rtabel; p &lt; 0,05).</a:t>
            </a:r>
          </a:p>
          <a:p>
            <a:pPr>
              <a:defRPr sz="880">
                <a:solidFill>
                  <a:srgbClr val="0F172A"/>
                </a:solidFill>
                <a:latin typeface="Segoe UI"/>
              </a:defRPr>
            </a:pPr>
            <a:r>
              <a:t>✔️ Reliabilitas Konsistensi: Cronbach's Alpha (α ≥ 0,70 standar Sekaran &amp; Ghozali).</a:t>
            </a:r>
          </a:p>
          <a:p>
            <a:pPr>
              <a:spcAft>
                <a:spcPts val="500"/>
              </a:spcAft>
              <a:defRPr sz="880">
                <a:solidFill>
                  <a:srgbClr val="0F172A"/>
                </a:solidFill>
                <a:latin typeface="Segoe UI"/>
              </a:defRPr>
            </a:pPr>
            <a:r>
              <a:t>✔️ Uji Asumsi Klasik: Normalitas K-S (&gt; 0,05), Multikolinearitas VIF &lt; 10, Heteroskedastisitas Glejser (&gt; 0,05).</a:t>
            </a:r>
          </a:p>
          <a:p>
            <a:r>
              <a:rPr sz="819" b="1">
                <a:solidFill>
                  <a:srgbClr val="E11D48"/>
                </a:solidFill>
                <a:latin typeface="Segoe UI"/>
              </a:rPr>
              <a:t>🛡️ Tameng Sidang (Bebas Autokorelasi):
Uji Durbin-Watson / Run Test tidak dilakukan karena data survei bersifat kros-seksional (cross-sectional), bukan runtun waktu / time-series (Ghozali, 2018).</a:t>
            </a:r>
          </a:p>
        </p:txBody>
      </p:sp>
      <p:sp>
        <p:nvSpPr>
          <p:cNvPr id="14" name="Rounded Rectangle 13"/>
          <p:cNvSpPr/>
          <p:nvPr/>
        </p:nvSpPr>
        <p:spPr>
          <a:xfrm>
            <a:off x="6202375" y="3977639"/>
            <a:ext cx="5257800" cy="23957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6967" y="4105655"/>
            <a:ext cx="4928616" cy="2139696"/>
          </a:xfrm>
          <a:prstGeom prst="rect">
            <a:avLst/>
          </a:prstGeom>
          <a:noFill/>
        </p:spPr>
        <p:txBody>
          <a:bodyPr wrap="square" tIns="0">
            <a:spAutoFit/>
          </a:bodyPr>
          <a:lstStyle/>
          <a:p>
            <a:pPr>
              <a:spcAft>
                <a:spcPts val="400"/>
              </a:spcAft>
              <a:defRPr sz="1150" b="1">
                <a:solidFill>
                  <a:srgbClr val="0F2642"/>
                </a:solidFill>
                <a:latin typeface="Segoe UI"/>
              </a:defRPr>
            </a:pPr>
            <a:r>
              <a:t>4. Ekonometrika MRA &amp; Solusi Centering</a:t>
            </a:r>
          </a:p>
          <a:p>
            <a:r>
              <a:rPr sz="950" b="1">
                <a:solidFill>
                  <a:srgbClr val="D97706"/>
                </a:solidFill>
                <a:latin typeface="Segoe UI"/>
              </a:rPr>
              <a:t>⭐ Solusi Mutlak: Mean-Centering (Aiken &amp; West, 1991)</a:t>
            </a:r>
          </a:p>
          <a:p>
            <a:pPr>
              <a:spcAft>
                <a:spcPts val="400"/>
              </a:spcAft>
              <a:defRPr sz="880">
                <a:solidFill>
                  <a:srgbClr val="0F172A"/>
                </a:solidFill>
                <a:latin typeface="Segoe UI"/>
              </a:defRPr>
            </a:pPr>
            <a:r>
              <a:t>Xi* = Xi − X̄i  dan  M* = M − M̄  untuk melumpuhkan multikolinearitas esensial antarvariabel tunggal dan interaksi perkalian.</a:t>
            </a:r>
          </a:p>
          <a:p>
            <a:pPr>
              <a:defRPr sz="850">
                <a:solidFill>
                  <a:srgbClr val="475569"/>
                </a:solidFill>
                <a:latin typeface="Segoe UI"/>
              </a:defRPr>
            </a:pPr>
            <a:r>
              <a:t>1. Uji Parsial (t-test): Menguji arah koefisien H₁–H₃ (β &gt; 0) dan moderasi H₄–H₆ (β &lt; 0).</a:t>
            </a:r>
          </a:p>
          <a:p>
            <a:pPr>
              <a:defRPr sz="850">
                <a:solidFill>
                  <a:srgbClr val="475569"/>
                </a:solidFill>
                <a:latin typeface="Segoe UI"/>
              </a:defRPr>
            </a:pPr>
            <a:r>
              <a:t>2. Uji Moderasi Murni: Signifikansi lonjakan ΔR² diuji via Fchange (p &lt; 0,05).</a:t>
            </a:r>
          </a:p>
          <a:p>
            <a:pPr>
              <a:defRPr sz="850">
                <a:solidFill>
                  <a:srgbClr val="475569"/>
                </a:solidFill>
                <a:latin typeface="Segoe UI"/>
              </a:defRPr>
            </a:pPr>
            <a:r>
              <a:t>3. Simple Slopes Analysis: Uji kemiringan pada 3 level Self-Control (-1 SD, Mean, +1 SD).</a:t>
            </a:r>
          </a:p>
        </p:txBody>
      </p:sp>
      <p:sp>
        <p:nvSpPr>
          <p:cNvPr id="16" name="TextBox 15"/>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17" name="TextBox 16"/>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0" cy="73152"/>
          </a:xfrm>
          <a:prstGeom prst="rect">
            <a:avLst/>
          </a:prstGeom>
          <a:solidFill>
            <a:srgbClr val="0F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0"/>
            <a:ext cx="32004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2004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90495"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9456"/>
            <a:ext cx="3474720" cy="274320"/>
          </a:xfrm>
          <a:prstGeom prst="roundRect">
            <a:avLst/>
          </a:prstGeom>
          <a:solidFill>
            <a:srgbClr val="FEF3C7"/>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lIns="109728" rIns="109728" tIns="18288" bIns="18288"/>
          <a:lstStyle/>
          <a:p>
            <a:pPr algn="l">
              <a:defRPr sz="950" b="1">
                <a:solidFill>
                  <a:srgbClr val="D97706"/>
                </a:solidFill>
                <a:latin typeface="Segoe UI"/>
              </a:defRPr>
            </a:pPr>
            <a:r>
              <a:t>04 | Penutup • Kontribusi &amp; Tanya Jawab</a:t>
            </a:r>
          </a:p>
        </p:txBody>
      </p:sp>
      <p:sp>
        <p:nvSpPr>
          <p:cNvPr id="7" name="TextBox 6"/>
          <p:cNvSpPr txBox="1"/>
          <p:nvPr/>
        </p:nvSpPr>
        <p:spPr>
          <a:xfrm>
            <a:off x="731520" y="530352"/>
            <a:ext cx="10728655" cy="749808"/>
          </a:xfrm>
          <a:prstGeom prst="rect">
            <a:avLst/>
          </a:prstGeom>
          <a:noFill/>
        </p:spPr>
        <p:txBody>
          <a:bodyPr wrap="square" lIns="0" rIns="0" tIns="0" bIns="0">
            <a:spAutoFit/>
          </a:bodyPr>
          <a:lstStyle/>
          <a:p>
            <a:pPr>
              <a:spcAft>
                <a:spcPts val="200"/>
              </a:spcAft>
              <a:defRPr sz="1900" b="1">
                <a:solidFill>
                  <a:srgbClr val="0F2642"/>
                </a:solidFill>
                <a:latin typeface="Segoe UI"/>
              </a:defRPr>
            </a:pPr>
            <a:r>
              <a:t>Kesimpulan Rancangan &amp; Kontribusi Penelitian</a:t>
            </a:r>
          </a:p>
          <a:p>
            <a:pPr>
              <a:defRPr sz="1050">
                <a:solidFill>
                  <a:srgbClr val="475569"/>
                </a:solidFill>
                <a:latin typeface="Segoe UI"/>
              </a:defRPr>
            </a:pPr>
            <a:r>
              <a:t>Nilai kemanfaatan riset bagi perkembangan ilmu ekonomi dan pembukaan sesi tanya jawab</a:t>
            </a:r>
          </a:p>
        </p:txBody>
      </p:sp>
      <p:sp>
        <p:nvSpPr>
          <p:cNvPr id="8" name="Rounded Rectangle 7"/>
          <p:cNvSpPr/>
          <p:nvPr/>
        </p:nvSpPr>
        <p:spPr>
          <a:xfrm>
            <a:off x="731520" y="1417320"/>
            <a:ext cx="5257800" cy="297180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618488"/>
            <a:ext cx="4745736" cy="2569464"/>
          </a:xfrm>
          <a:prstGeom prst="rect">
            <a:avLst/>
          </a:prstGeom>
          <a:noFill/>
        </p:spPr>
        <p:txBody>
          <a:bodyPr wrap="square" tIns="0">
            <a:spAutoFit/>
          </a:bodyPr>
          <a:lstStyle/>
          <a:p>
            <a:pPr>
              <a:spcAft>
                <a:spcPts val="200"/>
              </a:spcAft>
              <a:defRPr sz="1350" b="1">
                <a:solidFill>
                  <a:srgbClr val="D97706"/>
                </a:solidFill>
                <a:latin typeface="Segoe UI"/>
              </a:defRPr>
            </a:pPr>
            <a:r>
              <a:t>📚 Kontribusi Teoretis</a:t>
            </a:r>
          </a:p>
          <a:p>
            <a:pPr>
              <a:spcAft>
                <a:spcPts val="800"/>
              </a:spcAft>
              <a:defRPr sz="1150" b="1">
                <a:solidFill>
                  <a:srgbClr val="0F2642"/>
                </a:solidFill>
                <a:latin typeface="Segoe UI"/>
              </a:defRPr>
            </a:pPr>
            <a:r>
              <a:t>Pengayaan Literatur Behavioral Finance &amp; Collectibles</a:t>
            </a:r>
          </a:p>
          <a:p>
            <a:pPr>
              <a:lnSpc>
                <a:spcPct val="130000"/>
              </a:lnSpc>
              <a:spcAft>
                <a:spcPts val="800"/>
              </a:spcAft>
              <a:defRPr sz="1000">
                <a:solidFill>
                  <a:srgbClr val="475569"/>
                </a:solidFill>
                <a:latin typeface="Segoe UI"/>
              </a:defRPr>
            </a:pPr>
            <a:r>
              <a:t>• Memperluas penerapan teori keuangan perilaku (Behavioral Finance) pada aset hobi fisik yang memiliki pasar sekunder terorganisir dan disparitas harga nyata di Indonesia.</a:t>
            </a:r>
          </a:p>
          <a:p>
            <a:pPr>
              <a:lnSpc>
                <a:spcPct val="130000"/>
              </a:lnSpc>
              <a:defRPr sz="1000">
                <a:solidFill>
                  <a:srgbClr val="475569"/>
                </a:solidFill>
                <a:latin typeface="Segoe UI"/>
              </a:defRPr>
            </a:pPr>
            <a:r>
              <a:t>• Memvalidasi secara empiris peran Self-Control sebagai rem volisional kognitif dalam memoderasi dan meredam dorongan belanja impulsif yang dipicu oleh hasrat kelengkapan (pseudo-set) dan motif spekulasi.</a:t>
            </a:r>
          </a:p>
        </p:txBody>
      </p:sp>
      <p:sp>
        <p:nvSpPr>
          <p:cNvPr id="10" name="Rounded Rectangle 9"/>
          <p:cNvSpPr/>
          <p:nvPr/>
        </p:nvSpPr>
        <p:spPr>
          <a:xfrm>
            <a:off x="6202375" y="1417320"/>
            <a:ext cx="5257800" cy="297180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8407" y="1618488"/>
            <a:ext cx="4745736" cy="2569464"/>
          </a:xfrm>
          <a:prstGeom prst="rect">
            <a:avLst/>
          </a:prstGeom>
          <a:noFill/>
        </p:spPr>
        <p:txBody>
          <a:bodyPr wrap="square" tIns="0">
            <a:spAutoFit/>
          </a:bodyPr>
          <a:lstStyle/>
          <a:p>
            <a:pPr>
              <a:spcAft>
                <a:spcPts val="200"/>
              </a:spcAft>
              <a:defRPr sz="1350" b="1">
                <a:solidFill>
                  <a:srgbClr val="059669"/>
                </a:solidFill>
                <a:latin typeface="Segoe UI"/>
              </a:defRPr>
            </a:pPr>
            <a:r>
              <a:t>💼 Kontribusi Praktis</a:t>
            </a:r>
          </a:p>
          <a:p>
            <a:pPr>
              <a:spcAft>
                <a:spcPts val="800"/>
              </a:spcAft>
              <a:defRPr sz="1150" b="1">
                <a:solidFill>
                  <a:srgbClr val="0F2642"/>
                </a:solidFill>
                <a:latin typeface="Segoe UI"/>
              </a:defRPr>
            </a:pPr>
            <a:r>
              <a:t>Edukasi Literasi Keuangan &amp; Proteksi Kolektor Muda</a:t>
            </a:r>
          </a:p>
          <a:p>
            <a:pPr>
              <a:lnSpc>
                <a:spcPct val="130000"/>
              </a:lnSpc>
              <a:spcAft>
                <a:spcPts val="800"/>
              </a:spcAft>
              <a:defRPr sz="1000">
                <a:solidFill>
                  <a:srgbClr val="475569"/>
                </a:solidFill>
                <a:latin typeface="Segoe UI"/>
              </a:defRPr>
            </a:pPr>
            <a:r>
              <a:t>• Menjadi pedoman kesadaran literasi finansial bagi komunitas kolektor generasi muda agar terhindar dari jebakan pengeluaran impulsif tanpa perencanaan anggaran akibat euforia perburuan kartu langka (PSA 10).</a:t>
            </a:r>
          </a:p>
          <a:p>
            <a:pPr>
              <a:lnSpc>
                <a:spcPct val="130000"/>
              </a:lnSpc>
              <a:defRPr sz="1000">
                <a:solidFill>
                  <a:srgbClr val="475569"/>
                </a:solidFill>
                <a:latin typeface="Segoe UI"/>
              </a:defRPr>
            </a:pPr>
            <a:r>
              <a:t>• Memberikan masukan strategis bagi pelaku industri ritel modern mengenai etika penataan produk kemasan acak di kasir agar tetap menjaga kesejahteraan finansial konsumen muda.</a:t>
            </a:r>
          </a:p>
        </p:txBody>
      </p:sp>
      <p:sp>
        <p:nvSpPr>
          <p:cNvPr id="12" name="Rounded Rectangle 11"/>
          <p:cNvSpPr/>
          <p:nvPr/>
        </p:nvSpPr>
        <p:spPr>
          <a:xfrm>
            <a:off x="731520" y="4526280"/>
            <a:ext cx="10728655" cy="1783080"/>
          </a:xfrm>
          <a:prstGeom prst="roundRect">
            <a:avLst/>
          </a:prstGeom>
          <a:solidFill>
            <a:srgbClr val="0F2642"/>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63440"/>
            <a:ext cx="10362895" cy="1508760"/>
          </a:xfrm>
          <a:prstGeom prst="rect">
            <a:avLst/>
          </a:prstGeom>
          <a:noFill/>
        </p:spPr>
        <p:txBody>
          <a:bodyPr wrap="square" tIns="0">
            <a:spAutoFit/>
          </a:bodyPr>
          <a:lstStyle/>
          <a:p>
            <a:pPr algn="ctr">
              <a:spcAft>
                <a:spcPts val="400"/>
              </a:spcAft>
              <a:defRPr sz="1700" b="1">
                <a:solidFill>
                  <a:srgbClr val="D97706"/>
                </a:solidFill>
                <a:latin typeface="Segoe UI"/>
              </a:defRPr>
            </a:pPr>
            <a:r>
              <a:t>Demikian Pemaparan Usulan Proposal Skripsi</a:t>
            </a:r>
          </a:p>
          <a:p>
            <a:pPr algn="ctr">
              <a:spcAft>
                <a:spcPts val="800"/>
              </a:spcAft>
              <a:defRPr sz="1200">
                <a:solidFill>
                  <a:srgbClr val="E2E8F0"/>
                </a:solidFill>
                <a:latin typeface="Segoe UI"/>
              </a:defRPr>
            </a:pPr>
            <a:r>
              <a:t>Terima Kasih atas Bimbingan Ibu Dr. Fredella Colline dan Perhatian Bapak/Ibu Dewan Penguji</a:t>
            </a:r>
          </a:p>
          <a:p>
            <a:pPr algn="ctr"/>
            <a:r>
              <a:rPr sz="1500" b="1">
                <a:solidFill>
                  <a:srgbClr val="34D399"/>
                </a:solidFill>
                <a:latin typeface="Segoe UI"/>
              </a:rPr>
              <a:t>💬 Sesi Tanya Jawab (Q&amp;A) Dibuka</a:t>
            </a:r>
          </a:p>
        </p:txBody>
      </p:sp>
      <p:sp>
        <p:nvSpPr>
          <p:cNvPr id="14" name="TextBox 13"/>
          <p:cNvSpPr txBox="1"/>
          <p:nvPr/>
        </p:nvSpPr>
        <p:spPr>
          <a:xfrm>
            <a:off x="731520" y="6510528"/>
            <a:ext cx="7315200" cy="274320"/>
          </a:xfrm>
          <a:prstGeom prst="rect">
            <a:avLst/>
          </a:prstGeom>
          <a:noFill/>
        </p:spPr>
        <p:txBody>
          <a:bodyPr wrap="none" lIns="0" tIns="0">
            <a:spAutoFit/>
          </a:bodyPr>
          <a:lstStyle/>
          <a:p>
            <a:pPr>
              <a:defRPr sz="900">
                <a:solidFill>
                  <a:srgbClr val="64748B"/>
                </a:solidFill>
                <a:latin typeface="Segoe UI"/>
              </a:defRPr>
            </a:pPr>
            <a:r>
              <a:t>Arthur Reezan • NIM: 312023002 • S1 Manajemen Keuangan FEB UKRIDA</a:t>
            </a:r>
          </a:p>
        </p:txBody>
      </p:sp>
      <p:sp>
        <p:nvSpPr>
          <p:cNvPr id="15" name="TextBox 14"/>
          <p:cNvSpPr txBox="1"/>
          <p:nvPr/>
        </p:nvSpPr>
        <p:spPr>
          <a:xfrm>
            <a:off x="9601200" y="6510528"/>
            <a:ext cx="1858975" cy="274320"/>
          </a:xfrm>
          <a:prstGeom prst="rect">
            <a:avLst/>
          </a:prstGeom>
          <a:noFill/>
        </p:spPr>
        <p:txBody>
          <a:bodyPr wrap="none" rIns="0" tIns="0">
            <a:spAutoFit/>
          </a:bodyPr>
          <a:lstStyle/>
          <a:p>
            <a:pPr algn="r">
              <a:defRPr sz="950" b="1">
                <a:solidFill>
                  <a:srgbClr val="0F2642"/>
                </a:solidFill>
                <a:latin typeface="Segoe UI"/>
              </a:defRPr>
            </a:pPr>
            <a: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