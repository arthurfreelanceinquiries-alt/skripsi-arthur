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rthu\AppData\Local\Temp\html2pptx-hUwWc0\html2pptx-bg-1789997122609-e5a26d8377a2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0" y="590550"/>
            <a:ext cx="4386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UNIVERSITAS KRISTEN KRIDA WACANA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19200" y="781050"/>
            <a:ext cx="4386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0AE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Fakultas Ekonomi dan Bisnis • Program Studi S1 Manajemen Keuangan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8848725" y="619125"/>
            <a:ext cx="2733675" cy="285750"/>
          </a:xfrm>
          <a:prstGeom prst="roundRect">
            <a:avLst>
              <a:gd name="adj" fmla="val 66667"/>
            </a:avLst>
          </a:prstGeom>
          <a:solidFill>
            <a:srgbClr val="F4A261">
              <a:alpha val="15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029700" y="685800"/>
            <a:ext cx="2419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SEMINAR PROPOSAL SKRIPSI 2026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09600" y="2193131"/>
            <a:ext cx="10298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PROPOSAL TUGAS AKHIR (MODEL B: KUANTITATIF ASOSIATIF)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09600" y="2488406"/>
            <a:ext cx="1029843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PENGARUH 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HEDONIC MOTIVATION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, 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DESIRE FOR COMPLETENESS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, DAN 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SPECULATIVE MOTIVE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 TERHADAP 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IMPULSIVE BUYING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 BOOSTER PACK KARTU POKÉMON TCG DENGAN 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SELF-CONTROL</a:t>
            </a:r>
            <a:pPr algn="l" indent="0" marL="0">
              <a:lnSpc>
                <a:spcPts val="3188"/>
              </a:lnSpc>
              <a:spcAft>
                <a:spcPts val="120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 SEBAGAI VARIABEL MODERASI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09600" y="4260056"/>
            <a:ext cx="92297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Kajian Ekonometrika Keuangan Perilaku (Behavioral Finance) pada Pasar Komoditas Alternatif &amp; Kolektibel di Indonesia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609600" y="5519738"/>
            <a:ext cx="109728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9600" y="5753100"/>
            <a:ext cx="1729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PENELITI / MAHASISWA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9600" y="5934075"/>
            <a:ext cx="17293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Arthur Reezan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9600" y="6172200"/>
            <a:ext cx="17293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NIM: S1 Manajemen Keuangan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238625" y="5753100"/>
            <a:ext cx="39250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DOSEN PEMBIMBING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38625" y="5934075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Dr. Fredella Colline, S.E., M.M., CFP®, PFM, CHCP-A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38625" y="6172200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Dosen Tetap FEB UKRIDA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9989058" y="5753100"/>
            <a:ext cx="1593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TANGGAL PELAKSANAAN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989058" y="5934075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89058" y="6172200"/>
            <a:ext cx="15933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Jakarta Barat, Indonesia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986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1 • FENOMENA &amp; LATAR BELAKANG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89868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Transformasi Komoditas: Dari Kartu Hobi Anak ke Aset Spekulatif Ritel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44225" y="457200"/>
            <a:ext cx="6381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68050" y="504825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02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109043"/>
            <a:ext cx="3505200" cy="2502694"/>
          </a:xfrm>
          <a:prstGeom prst="roundRect">
            <a:avLst>
              <a:gd name="adj" fmla="val 5328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38125" dist="952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9625" y="2347168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0113" y="2418606"/>
            <a:ext cx="165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625" y="2823418"/>
            <a:ext cx="31672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Aksesibilitas Ritel Massal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9625" y="3137743"/>
            <a:ext cx="3167253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Kartu resmi fisik berbahasa Indonesia dipasarkan langsung di etalase kasir minimarket modern (Indomaret, Alfamart) tanpa hambatan impor.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9625" y="3895576"/>
            <a:ext cx="3105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9625" y="4014639"/>
            <a:ext cx="31672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Harga Terjangkau: Rp20.000 – Rp30.000 / pack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343400" y="2109043"/>
            <a:ext cx="3505200" cy="2502694"/>
          </a:xfrm>
          <a:prstGeom prst="roundRect">
            <a:avLst>
              <a:gd name="adj" fmla="val 5328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38125" dist="952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43425" y="2347168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4A261">
              <a:alpha val="20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14863" y="2418606"/>
            <a:ext cx="204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3425" y="2823418"/>
            <a:ext cx="31672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Mekanisme Kejutan Lotre (Loot Box)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43425" y="3137743"/>
            <a:ext cx="316725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 kemasan bersegel acak (blind pack) memicu sensasi letupan dopamin saat dibuka, melumpuhkan rem pertimbangan kognitif secara instan.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43425" y="4102150"/>
            <a:ext cx="3105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43425" y="4221212"/>
            <a:ext cx="31672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Pemicu: Sensasi Robek Kemasan (Pack Opening)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077200" y="2109043"/>
            <a:ext cx="3505200" cy="2502694"/>
          </a:xfrm>
          <a:prstGeom prst="roundRect">
            <a:avLst>
              <a:gd name="adj" fmla="val 5328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38125" dist="952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77225" y="2347168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63946">
              <a:alpha val="20000"/>
            </a:srgbClr>
          </a:solidFill>
          <a:ln w="9525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48663" y="2418606"/>
            <a:ext cx="204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7225" y="2823418"/>
            <a:ext cx="31672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Asimetri Nilai Finansial Ekstrem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7225" y="3137743"/>
            <a:ext cx="316725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Peluang memperoleh kartu langka (Special Illustration Rare / SAR) yang dapat dijual kembali di pasar sekunder dengan valuasi hingga jutaan rupiah.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77225" y="4102150"/>
            <a:ext cx="3105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77225" y="4221212"/>
            <a:ext cx="31672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Valuasi Pasar: Rp500.000 – Rp3.000.000+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9600" y="5734050"/>
            <a:ext cx="10972800" cy="666750"/>
          </a:xfrm>
          <a:prstGeom prst="rect">
            <a:avLst/>
          </a:prstGeom>
          <a:solidFill>
            <a:srgbClr val="0B2545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8650" y="5867400"/>
            <a:ext cx="0" cy="40005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8200" y="5867400"/>
            <a:ext cx="107647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Inti Masalah Penelitian: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Perpaduan antara </a:t>
            </a:r>
            <a:pPr algn="l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akses kasir instan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, </a:t>
            </a:r>
            <a:pPr algn="l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hasrat melengkapi set album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, dan </a:t>
            </a:r>
            <a:pPr algn="l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ilusi keuntungan spekulasi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mendorong lonjakan perilaku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Impulsive Buying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pada konsumen dan kolektor di Indonesia.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7451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1 • BUKTI EMPIRIS PASAR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74517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Data Industri Global Terverifikasi 100% Legit (Bebas Halusinasi)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44225" y="419100"/>
            <a:ext cx="6381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68050" y="466725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03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691580"/>
            <a:ext cx="5334000" cy="3181350"/>
          </a:xfrm>
          <a:prstGeom prst="roundRect">
            <a:avLst>
              <a:gd name="adj" fmla="val 4192"/>
            </a:avLst>
          </a:prstGeom>
          <a:solidFill>
            <a:srgbClr val="1C2541">
              <a:alpha val="7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38125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C:\Users\arthu\AppData\Local\Temp\html2pptx-W1pKpl\html2pptx-bg-1789997129781-651cc8ec928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853505"/>
            <a:ext cx="501015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47241" y="4234755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Gambar 1.1: 10 Waralaba Media Berpendapatan Tertinggi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721424" y="4425255"/>
            <a:ext cx="51103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Sumber: Statista Chart 24277 (2024). Pokémon menguasai peringkat #1 dunia (US$ 100 Miliar).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48400" y="1691580"/>
            <a:ext cx="5334000" cy="3181350"/>
          </a:xfrm>
          <a:prstGeom prst="roundRect">
            <a:avLst>
              <a:gd name="adj" fmla="val 4192"/>
            </a:avLst>
          </a:prstGeom>
          <a:solidFill>
            <a:srgbClr val="1C2541">
              <a:alpha val="7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38125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C:\Users\arthu\AppData\Local\Temp\html2pptx-W1pKpl\html2pptx-bg-1789997129902-ce4e7eb55cf4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853505"/>
            <a:ext cx="5010150" cy="2286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82016" y="4234755"/>
            <a:ext cx="3866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Gambar 1.2: Pertumbuhan Produksi Kartu Pokémon TCG Global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6360224" y="4425255"/>
            <a:ext cx="51103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Sumber: The Pokémon Company Corporate Figures (2024). Produksi kumulatif melesat ke 64,8 Miliar kartu.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09600" y="56578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0B2545">
              <a:alpha val="60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09625" y="5781675"/>
            <a:ext cx="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US$ 100B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624905" y="5888385"/>
            <a:ext cx="44633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Valuasi waralaba media nomor 1 di dunia, melampaui Mickey Mouse, Star Wars, dan Marvel Cinematic Universe.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191250" y="5915025"/>
            <a:ext cx="612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+125%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905625" y="5888385"/>
            <a:ext cx="45662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Lonjakan volume cetak global dalam 5 tahun terakhir (28,8 Miliar di FY2019 → 64,8 Miliar lembar di FY2024).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790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639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1 • MOTIF SPEKULASI PASAR SEKUNDER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790841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Disparitas Harga Sekunder &amp; Peran Sertifikasi Grading Profesional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34700" y="419100"/>
            <a:ext cx="647700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58525" y="466725"/>
            <a:ext cx="408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04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783681"/>
            <a:ext cx="6155978" cy="3524250"/>
          </a:xfrm>
          <a:prstGeom prst="roundRect">
            <a:avLst>
              <a:gd name="adj" fmla="val 3784"/>
            </a:avLst>
          </a:prstGeom>
          <a:solidFill>
            <a:srgbClr val="1C2541">
              <a:alpha val="7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38125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C:\Users\arthu\AppData\Local\Temp\html2pptx-t9Zm81\html2pptx-bg-1789997137893-78ddc681492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945606"/>
            <a:ext cx="5832128" cy="2952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49272" y="5993606"/>
            <a:ext cx="38764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Gambar 1.3: Disparitas Harga Mentah (Raw) vs PSA 10 Gem Mint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7032278" y="2747963"/>
            <a:ext cx="4550122" cy="1128713"/>
          </a:xfrm>
          <a:prstGeom prst="roundRect">
            <a:avLst>
              <a:gd name="adj" fmla="val 10127"/>
            </a:avLst>
          </a:prstGeom>
          <a:solidFill>
            <a:srgbClr val="1C2541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213253" y="2909888"/>
            <a:ext cx="42719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Efek Multiplier 2,0x – 26,0x Lipat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13253" y="3157538"/>
            <a:ext cx="427193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PriceCharting membuktikan kartu dengan segel PSA 10 memiliki harga pasar berkali-kali lipat dibanding kartu mentah yang baru dibuka dari booster pack.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7032278" y="4029075"/>
            <a:ext cx="4550122" cy="1219200"/>
          </a:xfrm>
          <a:prstGeom prst="roundRect">
            <a:avLst>
              <a:gd name="adj" fmla="val 9375"/>
            </a:avLst>
          </a:prstGeom>
          <a:solidFill>
            <a:srgbClr val="1C2541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213253" y="4191000"/>
            <a:ext cx="42719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Standardisasi Fisik 4 Parameter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13253" y="4438650"/>
            <a:ext cx="42719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Lembaga grading (PSA, BGS, CGC) menguji kartu secara objektif dengan parameter baku: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7213253" y="4886325"/>
            <a:ext cx="704850" cy="200025"/>
          </a:xfrm>
          <a:prstGeom prst="roundRect">
            <a:avLst>
              <a:gd name="adj" fmla="val 28571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Centering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994303" y="4886325"/>
            <a:ext cx="590550" cy="200025"/>
          </a:xfrm>
          <a:prstGeom prst="roundRect">
            <a:avLst>
              <a:gd name="adj" fmla="val 28571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Corners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8661053" y="4886325"/>
            <a:ext cx="495300" cy="200025"/>
          </a:xfrm>
          <a:prstGeom prst="roundRect">
            <a:avLst>
              <a:gd name="adj" fmla="val 28571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Edges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9232553" y="4886325"/>
            <a:ext cx="571500" cy="200025"/>
          </a:xfrm>
          <a:prstGeom prst="roundRect">
            <a:avLst>
              <a:gd name="adj" fmla="val 28571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Surface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7032278" y="5400675"/>
            <a:ext cx="4550122" cy="942975"/>
          </a:xfrm>
          <a:prstGeom prst="roundRect">
            <a:avLst>
              <a:gd name="adj" fmla="val 12121"/>
            </a:avLst>
          </a:prstGeom>
          <a:solidFill>
            <a:srgbClr val="1C2541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213253" y="5562600"/>
            <a:ext cx="42719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Arbitrase &amp; Financialization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13253" y="5810250"/>
            <a:ext cx="42719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Kartu Pokémon bukan lagi sekadar mainan, melainkan diperlakukan sebagai instrumen investasi alternatif yang likuid di pasar global.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42900"/>
            <a:ext cx="68397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1 • RESEARCH GAP &amp; KAUSALITAS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68397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Matriks 7 Subjek Hubungan Empiris &amp; Penjelasan "The Why"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1020425" y="342900"/>
            <a:ext cx="6381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44250" y="390525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05 / 15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832521"/>
          <a:ext cx="9144000" cy="914400"/>
        </p:xfrm>
        <a:graphic>
          <a:graphicData uri="http://schemas.openxmlformats.org/drawingml/2006/table">
            <a:tbl>
              <a:tblPr/>
              <a:tblGrid>
                <a:gridCol w="1557486"/>
                <a:gridCol w="2781300"/>
                <a:gridCol w="2781300"/>
                <a:gridCol w="4005114"/>
              </a:tblGrid>
              <a:tr h="300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Subjek Hubungan</a:t>
                      </a:r>
                      <a:endParaRPr lang="en-US" sz="863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Kelompok A (Signifikan / Positif)</a:t>
                      </a:r>
                      <a:endParaRPr lang="en-US" sz="863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Kelompok B (Batas Teori / Negatif / N.S.)</a:t>
                      </a:r>
                      <a:endParaRPr lang="en-US" sz="863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Penjelasan Mengapa Terjadi Gap ("The Why")</a:t>
                      </a:r>
                      <a:endParaRPr lang="en-US" sz="863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X1 ➔ Y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Arnold &amp; Reynolds (2003), Gong (2024)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Batas Mental Budgeting (Thaler, 1999)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Produk utiliter belanja tertahan anggaran; pack TCG memicu letupan dopamin seketika.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X2 ➔ Y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Gao et al. (2014), Barasz (2017), Dewi (2026)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Kolektor Matang (Long &amp; Schiffman, 2000)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Kolektor pemula beli pack acak untuk melengkapi album; senior membeli kartu tunggal terencana.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X3 ➔ Y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Aryadi &amp; Lingga (2024), Colline (2024)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Analogi Efisiensi Pasar (Barber, 2008)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Euforia harga PSA 10 memicu ilusi lotre; pelaku sadar risiko menolak spekulasi acak.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 ➔ Y (Direct)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Baumeister (2002), Tangney et al. (2004)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Batas Cognitive Bypass (Stern, 1962)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Self-control efektif saat mental prima; jebol saat ego depletion di kasir minimarket.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X1 · M ➔ Y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Lienardy &amp; Panasea (2026, moderasi efektif)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Apidana (2022), Artadita (2024) H3 ditolak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Moderasi bekerja pada stimulus wajar; rem gagal saat dorongan afektif mencapai euforia ekstrem.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X2 · M ➔ Y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Artadita &amp; Firmialy (2024, parsial)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Obsesi Koleksi (Belk 1995, Barasz 2017)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Uji moderasi langsung X2·M belum pernah dilakukan di TCG fisik (Novelty Gap Penelitian).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0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25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X3 · M ➔ Y</a:t>
                      </a:r>
                      <a:endParaRPr lang="en-US" sz="863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52B78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Katauke et al. (2023, literasi finansial)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b="1" dirty="0">
                          <a:solidFill>
                            <a:srgbClr val="F2848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Teori Gelembung Spekulatif (Shiller, 2000)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64"/>
                        </a:lnSpc>
                        <a:buNone/>
                      </a:pPr>
                      <a:r>
                        <a:rPr lang="en-US" sz="863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Pengujian empiris rem kontrol diri atas histeria spekulasi kartu langka adalah hipotesis baru (H6).</a:t>
                      </a:r>
                      <a:endParaRPr lang="en-US" sz="863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3400" y="6219825"/>
            <a:ext cx="11125200" cy="295275"/>
          </a:xfrm>
          <a:prstGeom prst="rect">
            <a:avLst/>
          </a:prstGeom>
          <a:solidFill>
            <a:srgbClr val="48CAE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47688" y="6296025"/>
            <a:ext cx="0" cy="142875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14375" y="6296025"/>
            <a:ext cx="11007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Rasional Ilmiah: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Penelitian ini tidak sekadar mengulang model, melainkan menyelesaikan 7 celah hubungan empiris dengan menyajikan eksplanasi kausalitas perilaku konsumen komoditas alternatif.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60138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1 • STRUKTUR PERTANYAAN PENELITIAN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60138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6 Rumusan Masalah &amp; Tujuan Penelitian Direksional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44225" y="419100"/>
            <a:ext cx="6381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68050" y="466725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06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448520"/>
            <a:ext cx="5372100" cy="2105620"/>
          </a:xfrm>
          <a:prstGeom prst="roundRect">
            <a:avLst>
              <a:gd name="adj" fmla="val 6333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28675" y="2929533"/>
            <a:ext cx="4933950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8675" y="2648545"/>
            <a:ext cx="2934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📌 Efek Langsung Utama (Direct Effects)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8675" y="3048595"/>
            <a:ext cx="552450" cy="208955"/>
          </a:xfrm>
          <a:prstGeom prst="roundRect">
            <a:avLst>
              <a:gd name="adj" fmla="val 27350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lIns="66675" tIns="19050" rIns="66675" bIns="1905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RM/T 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476375" y="3048595"/>
            <a:ext cx="437197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Menganalisis pengaruh positif </a:t>
            </a:r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Hedonic Motivation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(X1) terhadap Impulsive Buying (Y) kartu Pokémon TCG.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28675" y="3521869"/>
            <a:ext cx="552450" cy="208955"/>
          </a:xfrm>
          <a:prstGeom prst="roundRect">
            <a:avLst>
              <a:gd name="adj" fmla="val 27350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lIns="66675" tIns="19050" rIns="66675" bIns="1905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RM/T 2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476375" y="3521869"/>
            <a:ext cx="437197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Menganalisis pengaruh positif </a:t>
            </a:r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Desire for Completeness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(X2) terhadap Impulsive Buying (Y) kartu Pokémon TCG.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28675" y="3995142"/>
            <a:ext cx="552450" cy="208955"/>
          </a:xfrm>
          <a:prstGeom prst="roundRect">
            <a:avLst>
              <a:gd name="adj" fmla="val 27350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lIns="66675" tIns="19050" rIns="66675" bIns="1905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RM/T 3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476375" y="3995142"/>
            <a:ext cx="437197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Menganalisis pengaruh positif </a:t>
            </a:r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Speculative Motive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(X3) terhadap Impulsive Buying (Y) kartu Pokémon TCG.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10300" y="2448520"/>
            <a:ext cx="5372100" cy="2105620"/>
          </a:xfrm>
          <a:prstGeom prst="roundRect">
            <a:avLst>
              <a:gd name="adj" fmla="val 6333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29375" y="2929533"/>
            <a:ext cx="4933950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29375" y="264854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🛡️ Efek Moderasi Memperlemah (Moderation Effects)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9375" y="3048595"/>
            <a:ext cx="552450" cy="208955"/>
          </a:xfrm>
          <a:prstGeom prst="roundRect">
            <a:avLst>
              <a:gd name="adj" fmla="val 27350"/>
            </a:avLst>
          </a:prstGeom>
          <a:solidFill>
            <a:srgbClr val="F4A261">
              <a:alpha val="20000"/>
            </a:srgbClr>
          </a:solidFill>
          <a:ln w="9525">
            <a:solidFill>
              <a:srgbClr val="F4A261"/>
            </a:solidFill>
          </a:ln>
        </p:spPr>
        <p:txBody>
          <a:bodyPr wrap="square" lIns="66675" tIns="19050" rIns="66675" bIns="1905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F4A2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RM/T 4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077075" y="3048595"/>
            <a:ext cx="437197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Menguji apakah </a:t>
            </a:r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Self-Control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(M) memoderasi (memperlemah) pengaruh Hedonic Motivation (X1) terhadap Impulsive Buying (Y).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429375" y="3521869"/>
            <a:ext cx="552450" cy="208955"/>
          </a:xfrm>
          <a:prstGeom prst="roundRect">
            <a:avLst>
              <a:gd name="adj" fmla="val 27350"/>
            </a:avLst>
          </a:prstGeom>
          <a:solidFill>
            <a:srgbClr val="F4A261">
              <a:alpha val="20000"/>
            </a:srgbClr>
          </a:solidFill>
          <a:ln w="9525">
            <a:solidFill>
              <a:srgbClr val="F4A261"/>
            </a:solidFill>
          </a:ln>
        </p:spPr>
        <p:txBody>
          <a:bodyPr wrap="square" lIns="66675" tIns="19050" rIns="66675" bIns="1905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F4A2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RM/T 5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077075" y="3521869"/>
            <a:ext cx="437197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Menguji apakah </a:t>
            </a:r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Self-Control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(M) memoderasi (memperlemah) pengaruh Desire for Completeness (X2) terhadap Impulsive Buying (Y).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429375" y="3995142"/>
            <a:ext cx="552450" cy="208955"/>
          </a:xfrm>
          <a:prstGeom prst="roundRect">
            <a:avLst>
              <a:gd name="adj" fmla="val 27350"/>
            </a:avLst>
          </a:prstGeom>
          <a:solidFill>
            <a:srgbClr val="F4A261">
              <a:alpha val="20000"/>
            </a:srgbClr>
          </a:solidFill>
          <a:ln w="9525">
            <a:solidFill>
              <a:srgbClr val="F4A261"/>
            </a:solidFill>
          </a:ln>
        </p:spPr>
        <p:txBody>
          <a:bodyPr wrap="square" lIns="66675" tIns="19050" rIns="66675" bIns="1905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F4A2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RM/T 6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77075" y="3995142"/>
            <a:ext cx="437197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Menguji apakah </a:t>
            </a:r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Self-Control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(M) memoderasi (memperlemah) pengaruh Speculative Motive (X3) terhadap Impulsive Buying (Y).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09600" y="6096000"/>
            <a:ext cx="10972800" cy="342900"/>
          </a:xfrm>
          <a:prstGeom prst="rect">
            <a:avLst/>
          </a:prstGeom>
          <a:solidFill>
            <a:srgbClr val="0B2545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3888" y="6191250"/>
            <a:ext cx="0" cy="152400"/>
          </a:xfrm>
          <a:prstGeom prst="line">
            <a:avLst/>
          </a:prstGeom>
          <a:noFill/>
          <a:ln w="28575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90575" y="6191250"/>
            <a:ext cx="10852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Ketetapan D15:</a:t>
            </a:r>
            <a:pPr algn="l" indent="0" marL="0">
              <a:buNone/>
            </a:pPr>
            <a:r>
              <a:rPr lang="en-US" sz="938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Seluruh rumusan masalah dan tujuan penelitian dirumuskan secara terarah (direksional) guna menjamin konsistensi matematis dengan pengujian hipotesis regresi MRA.</a:t>
            </a:r>
            <a:endParaRPr lang="en-US" sz="9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74032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 • TINJAUAN PUSTAKA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71500"/>
            <a:ext cx="740321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Hirarki Teoretis: Integrasi Grand Theory &amp; Supporting Theories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53750" y="381000"/>
            <a:ext cx="628650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77575" y="428625"/>
            <a:ext cx="3886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050" dirty="0"/>
          </a:p>
        </p:txBody>
      </p:sp>
      <p:pic>
        <p:nvPicPr>
          <p:cNvPr id="6" name="Image 0" descr="C:\Users\arthu\AppData\Local\Temp\html2pptx-f3qyRv\html2pptx-bg-1789997151111-5bd2fd42b89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035201"/>
            <a:ext cx="5242768" cy="37084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3235226"/>
            <a:ext cx="4290268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267325" y="3454301"/>
            <a:ext cx="0" cy="2679799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00100" y="6349901"/>
            <a:ext cx="4290268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19125" y="3454301"/>
            <a:ext cx="0" cy="2679799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9150" y="3787676"/>
            <a:ext cx="43372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Behavioral Finance (Keuangan Perilaku)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19150" y="4130576"/>
            <a:ext cx="43372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75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Shiller (2000), Keynes (1936), Thaler &amp; Shefrin (1981)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19150" y="4397276"/>
            <a:ext cx="4337212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 asumsi pasar rasional mutlak. Mengakui bahwa keputusan pembelian kartu koleksi dipengaruhi oleh bias kognitif, ilusi lotre, histeria pasar sekunder, dan konflik internal antara </a:t>
            </a:r>
            <a:pPr algn="l" indent="0" marL="0">
              <a:lnSpc>
                <a:spcPts val="1569"/>
              </a:lnSpc>
              <a:buNone/>
            </a:pPr>
            <a:r>
              <a:rPr lang="en-US" sz="1013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(perencana rasional) vs </a:t>
            </a:r>
            <a:pPr algn="l" indent="0" marL="0">
              <a:lnSpc>
                <a:spcPts val="1569"/>
              </a:lnSpc>
              <a:buNone/>
            </a:pPr>
            <a:r>
              <a:rPr lang="en-US" sz="1013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Doer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(pelaku impulsif).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5509468" y="3225701"/>
            <a:ext cx="6072932" cy="969466"/>
          </a:xfrm>
          <a:prstGeom prst="rect">
            <a:avLst/>
          </a:prstGeom>
          <a:solidFill>
            <a:srgbClr val="1C254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661868" y="3230463"/>
            <a:ext cx="576813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1581656" y="3340001"/>
            <a:ext cx="0" cy="74086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661868" y="4192488"/>
            <a:ext cx="576813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528518" y="3340001"/>
            <a:ext cx="0" cy="740866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699968" y="3349526"/>
            <a:ext cx="5834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1. Teori Stimulus-Organism-Response (S-O-R)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5699968" y="3559076"/>
            <a:ext cx="5834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63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Mehrabian &amp; Russell (1974)</a:t>
            </a:r>
            <a:endParaRPr lang="en-US" sz="863" dirty="0"/>
          </a:p>
        </p:txBody>
      </p:sp>
      <p:sp>
        <p:nvSpPr>
          <p:cNvPr id="21" name="Text 18"/>
          <p:cNvSpPr/>
          <p:nvPr/>
        </p:nvSpPr>
        <p:spPr>
          <a:xfrm>
            <a:off x="5699968" y="3740051"/>
            <a:ext cx="5834917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Etalase kasir dan kilauan kemasan foil menjadi stimulus eksternal (S) yang membangkitkan emosi hedonis (O) menuju tindakan pembelian impulsif spontan (R).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09468" y="4309467"/>
            <a:ext cx="6072932" cy="969466"/>
          </a:xfrm>
          <a:prstGeom prst="rect">
            <a:avLst/>
          </a:prstGeom>
          <a:solidFill>
            <a:srgbClr val="1C254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661868" y="4314230"/>
            <a:ext cx="576813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1581656" y="4423767"/>
            <a:ext cx="0" cy="74086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661868" y="5276255"/>
            <a:ext cx="576813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5528518" y="4423767"/>
            <a:ext cx="0" cy="740866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699968" y="4433292"/>
            <a:ext cx="5834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2. Psikologi Kolektor &amp; "The Completing the Set Effect"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5699968" y="4642842"/>
            <a:ext cx="5834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63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Gao et al. (2014), Barasz et al. (2017), Zeigarnik (1927)</a:t>
            </a:r>
            <a:endParaRPr lang="en-US" sz="863" dirty="0"/>
          </a:p>
        </p:txBody>
      </p:sp>
      <p:sp>
        <p:nvSpPr>
          <p:cNvPr id="29" name="Text 26"/>
          <p:cNvSpPr/>
          <p:nvPr/>
        </p:nvSpPr>
        <p:spPr>
          <a:xfrm>
            <a:off x="5699968" y="4823817"/>
            <a:ext cx="5834917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Slot album koleksi yang belum terisi memicu ketegangan psikologis (Zeigarnik Effect). Konsumen terdorong terus membeli kemasan demi menutup ruang kosong (Pseudo-Set Framing).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509468" y="5393234"/>
            <a:ext cx="6072932" cy="969466"/>
          </a:xfrm>
          <a:prstGeom prst="rect">
            <a:avLst/>
          </a:prstGeom>
          <a:solidFill>
            <a:srgbClr val="1C254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661868" y="5397996"/>
            <a:ext cx="576813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1581656" y="5507534"/>
            <a:ext cx="0" cy="74086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661868" y="6360021"/>
            <a:ext cx="576813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5528518" y="5507534"/>
            <a:ext cx="0" cy="740866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699968" y="5517059"/>
            <a:ext cx="5834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3. Teori Regulasi Diri (Self-Regulation Theory)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5699968" y="5726609"/>
            <a:ext cx="5834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63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Baumeister (2002), Vohs &amp; Faber (2007), Tangney et al. (2004)</a:t>
            </a:r>
            <a:endParaRPr lang="en-US" sz="863" dirty="0"/>
          </a:p>
        </p:txBody>
      </p:sp>
      <p:sp>
        <p:nvSpPr>
          <p:cNvPr id="37" name="Text 34"/>
          <p:cNvSpPr/>
          <p:nvPr/>
        </p:nvSpPr>
        <p:spPr>
          <a:xfrm>
            <a:off x="5699968" y="5907584"/>
            <a:ext cx="5834917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Kapasitas kontrol diri memfungsikan rem volisional untuk menunda kepuasan instan (delay of gratification), memoderasi dorongan emosional belanja.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61950"/>
            <a:ext cx="54115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2 • KERANGKA KONSEPTUAL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71500" y="552450"/>
            <a:ext cx="541153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Model Penelitian &amp; 6 Hipotesis Asosiatif (MRA)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82325" y="361950"/>
            <a:ext cx="6381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06150" y="409575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08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916460"/>
            <a:ext cx="11049000" cy="3352800"/>
          </a:xfrm>
          <a:prstGeom prst="roundRect">
            <a:avLst>
              <a:gd name="adj" fmla="val 4545"/>
            </a:avLst>
          </a:prstGeom>
          <a:solidFill>
            <a:srgbClr val="1C2541">
              <a:alpha val="5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5825" y="2154585"/>
            <a:ext cx="4182963" cy="581025"/>
          </a:xfrm>
          <a:prstGeom prst="roundRect">
            <a:avLst>
              <a:gd name="adj" fmla="val 16393"/>
            </a:avLst>
          </a:prstGeom>
          <a:solidFill>
            <a:srgbClr val="0B2545">
              <a:alpha val="85000"/>
            </a:srgbClr>
          </a:solidFill>
          <a:ln w="9525">
            <a:solidFill>
              <a:srgbClr val="48CAE4"/>
            </a:solidFill>
          </a:ln>
          <a:effectLst>
            <a:outerShdw sx="100000" sy="100000" kx="0" ky="0" algn="bl" rotWithShape="0" blurRad="142875" dist="38100" dir="54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7750" y="2278410"/>
            <a:ext cx="3936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Hedonic Motivation (X1)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47750" y="2468910"/>
            <a:ext cx="3936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63" dirty="0">
                <a:solidFill>
                  <a:srgbClr val="A0AE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Kesenangan &amp; letupan dopamin belanja</a:t>
            </a:r>
            <a:endParaRPr lang="en-US" sz="863" dirty="0"/>
          </a:p>
        </p:txBody>
      </p:sp>
      <p:sp>
        <p:nvSpPr>
          <p:cNvPr id="10" name="Text 8"/>
          <p:cNvSpPr/>
          <p:nvPr/>
        </p:nvSpPr>
        <p:spPr>
          <a:xfrm>
            <a:off x="885825" y="2868960"/>
            <a:ext cx="4182963" cy="581025"/>
          </a:xfrm>
          <a:prstGeom prst="roundRect">
            <a:avLst>
              <a:gd name="adj" fmla="val 16393"/>
            </a:avLst>
          </a:prstGeom>
          <a:solidFill>
            <a:srgbClr val="0B2545">
              <a:alpha val="85000"/>
            </a:srgbClr>
          </a:solidFill>
          <a:ln w="9525">
            <a:solidFill>
              <a:srgbClr val="48CAE4"/>
            </a:solidFill>
          </a:ln>
          <a:effectLst>
            <a:outerShdw sx="100000" sy="100000" kx="0" ky="0" algn="bl" rotWithShape="0" blurRad="142875" dist="38100" dir="54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7750" y="2992785"/>
            <a:ext cx="3936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Desire for Completeness (X2)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47750" y="3183285"/>
            <a:ext cx="3936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63" dirty="0">
                <a:solidFill>
                  <a:srgbClr val="A0AE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Hasrat menutup slot album kosong</a:t>
            </a:r>
            <a:endParaRPr lang="en-US" sz="863" dirty="0"/>
          </a:p>
        </p:txBody>
      </p:sp>
      <p:sp>
        <p:nvSpPr>
          <p:cNvPr id="13" name="Text 11"/>
          <p:cNvSpPr/>
          <p:nvPr/>
        </p:nvSpPr>
        <p:spPr>
          <a:xfrm>
            <a:off x="885825" y="3583335"/>
            <a:ext cx="4182963" cy="581025"/>
          </a:xfrm>
          <a:prstGeom prst="roundRect">
            <a:avLst>
              <a:gd name="adj" fmla="val 16393"/>
            </a:avLst>
          </a:prstGeom>
          <a:solidFill>
            <a:srgbClr val="0B2545">
              <a:alpha val="85000"/>
            </a:srgbClr>
          </a:solidFill>
          <a:ln w="9525">
            <a:solidFill>
              <a:srgbClr val="48CAE4"/>
            </a:solidFill>
          </a:ln>
          <a:effectLst>
            <a:outerShdw sx="100000" sy="100000" kx="0" ky="0" algn="bl" rotWithShape="0" blurRad="142875" dist="38100" dir="54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7750" y="3707160"/>
            <a:ext cx="3936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Speculative Motive (X3)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47750" y="3897660"/>
            <a:ext cx="3936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63" dirty="0">
                <a:solidFill>
                  <a:srgbClr val="A0AE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Ekspektasi capital gain kartu langka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5700564" y="2592735"/>
            <a:ext cx="790575" cy="238125"/>
          </a:xfrm>
          <a:prstGeom prst="roundRect">
            <a:avLst>
              <a:gd name="adj" fmla="val 24000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95250" tIns="38100" rIns="95250" bIns="38100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 (+) ➔</a:t>
            </a:r>
            <a:endParaRPr lang="en-US" sz="863" dirty="0"/>
          </a:p>
        </p:txBody>
      </p:sp>
      <p:sp>
        <p:nvSpPr>
          <p:cNvPr id="17" name="Text 15"/>
          <p:cNvSpPr/>
          <p:nvPr/>
        </p:nvSpPr>
        <p:spPr>
          <a:xfrm>
            <a:off x="5700564" y="3040410"/>
            <a:ext cx="790575" cy="238125"/>
          </a:xfrm>
          <a:prstGeom prst="roundRect">
            <a:avLst>
              <a:gd name="adj" fmla="val 24000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95250" tIns="38100" rIns="95250" bIns="38100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 (+) ➔</a:t>
            </a:r>
            <a:endParaRPr lang="en-US" sz="863" dirty="0"/>
          </a:p>
        </p:txBody>
      </p:sp>
      <p:sp>
        <p:nvSpPr>
          <p:cNvPr id="18" name="Text 16"/>
          <p:cNvSpPr/>
          <p:nvPr/>
        </p:nvSpPr>
        <p:spPr>
          <a:xfrm>
            <a:off x="5700564" y="3488085"/>
            <a:ext cx="790575" cy="238125"/>
          </a:xfrm>
          <a:prstGeom prst="roundRect">
            <a:avLst>
              <a:gd name="adj" fmla="val 24000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95250" tIns="38100" rIns="95250" bIns="38100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 (+) ➔</a:t>
            </a:r>
            <a:endParaRPr lang="en-US" sz="863" dirty="0"/>
          </a:p>
        </p:txBody>
      </p:sp>
      <p:pic>
        <p:nvPicPr>
          <p:cNvPr id="19" name="Image 0" descr="C:\Users\arthu\AppData\Local\Temp\html2pptx-zTsvaR\html2pptx-bg-1789997153367-460df0095f7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020" y="2468910"/>
            <a:ext cx="3067050" cy="153352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147745" y="2640360"/>
            <a:ext cx="21336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500420" y="2840385"/>
            <a:ext cx="0" cy="638175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47745" y="3678585"/>
            <a:ext cx="21336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928670" y="2840385"/>
            <a:ext cx="0" cy="638175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45840" y="2859435"/>
            <a:ext cx="2137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VARIABEL DEPENDEN (Y)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145840" y="3040410"/>
            <a:ext cx="21374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Impulsive Buying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145840" y="3316635"/>
            <a:ext cx="2137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Pembelian Spontan Booster Pack Fisik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85825" y="4492972"/>
            <a:ext cx="104203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528888" y="4631085"/>
            <a:ext cx="7134225" cy="400050"/>
          </a:xfrm>
          <a:prstGeom prst="roundRect">
            <a:avLst>
              <a:gd name="adj" fmla="val 23810"/>
            </a:avLst>
          </a:prstGeom>
          <a:solidFill>
            <a:srgbClr val="E63946">
              <a:alpha val="15000"/>
            </a:srgbClr>
          </a:solidFill>
          <a:ln w="9525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767013" y="4745385"/>
            <a:ext cx="30992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Variabel Moderasi (M): Self-Control (Kontrol Diri)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57888" y="4735860"/>
            <a:ext cx="1104900" cy="190500"/>
          </a:xfrm>
          <a:prstGeom prst="roundRect">
            <a:avLst>
              <a:gd name="adj" fmla="val 20000"/>
            </a:avLst>
          </a:prstGeom>
          <a:solidFill>
            <a:srgbClr val="E63946">
              <a:alpha val="20000"/>
            </a:srgbClr>
          </a:solidFill>
          <a:ln w="9525">
            <a:solidFill>
              <a:srgbClr val="E63946"/>
            </a:solidFill>
          </a:ln>
        </p:spPr>
        <p:txBody>
          <a:bodyPr wrap="square" lIns="76200" tIns="19050" rIns="76200" bIns="1905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39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H4: Mod X1 (-)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7138988" y="4735860"/>
            <a:ext cx="1104900" cy="190500"/>
          </a:xfrm>
          <a:prstGeom prst="roundRect">
            <a:avLst>
              <a:gd name="adj" fmla="val 20000"/>
            </a:avLst>
          </a:prstGeom>
          <a:solidFill>
            <a:srgbClr val="E63946">
              <a:alpha val="20000"/>
            </a:srgbClr>
          </a:solidFill>
          <a:ln w="9525">
            <a:solidFill>
              <a:srgbClr val="E63946"/>
            </a:solidFill>
          </a:ln>
        </p:spPr>
        <p:txBody>
          <a:bodyPr wrap="square" lIns="76200" tIns="19050" rIns="76200" bIns="1905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39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H5: Mod X2 (-)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8320088" y="4735860"/>
            <a:ext cx="1104900" cy="190500"/>
          </a:xfrm>
          <a:prstGeom prst="roundRect">
            <a:avLst>
              <a:gd name="adj" fmla="val 20000"/>
            </a:avLst>
          </a:prstGeom>
          <a:solidFill>
            <a:srgbClr val="E63946">
              <a:alpha val="20000"/>
            </a:srgbClr>
          </a:solidFill>
          <a:ln w="9525">
            <a:solidFill>
              <a:srgbClr val="E63946"/>
            </a:solidFill>
          </a:ln>
        </p:spPr>
        <p:txBody>
          <a:bodyPr wrap="square" lIns="76200" tIns="19050" rIns="76200" bIns="1905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39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H6: Mod X3 (-)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61010" y="6336060"/>
            <a:ext cx="112699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Arah Pengujian: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H1–H3 menguji pengaruh positif langsung; H4–H6 menguji efek moderasi </a:t>
            </a:r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memperlemah (-)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oleh kontrol diri konsumen.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6004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1 &amp; 2 • DIFERENSIASI RISET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600417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3 Pilar Kebaruan Ilmiah (Novelty) Penelitian Skripsi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44225" y="419100"/>
            <a:ext cx="6381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68050" y="466725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09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169021"/>
            <a:ext cx="3505200" cy="2597944"/>
          </a:xfrm>
          <a:prstGeom prst="roundRect">
            <a:avLst>
              <a:gd name="adj" fmla="val 5133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238125" dist="952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00100" y="2188071"/>
            <a:ext cx="31242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0038" y="2397621"/>
            <a:ext cx="0" cy="2140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" y="4764584"/>
            <a:ext cx="3124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14363" y="2397621"/>
            <a:ext cx="0" cy="2140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9625" y="2435721"/>
            <a:ext cx="31672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09625" y="2826246"/>
            <a:ext cx="3167253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Objek Komoditas Baru &amp; Spesifik (TCG Fisik)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09625" y="3361432"/>
            <a:ext cx="3167253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Mayoritas riset terdahulu meneliti busana (fashion) atau e-commerce generik. Riset ini meneliti kartu fisik koleksi dengan mekanisme blind box berhadiah acak di etalase minimarket.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809625" y="4266902"/>
            <a:ext cx="3105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9625" y="4385965"/>
            <a:ext cx="3167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Diferensiasi: Fenomena Dopamin Pack Opening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43400" y="2169021"/>
            <a:ext cx="3505200" cy="2597944"/>
          </a:xfrm>
          <a:prstGeom prst="roundRect">
            <a:avLst>
              <a:gd name="adj" fmla="val 5133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238125" dist="952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33900" y="2188071"/>
            <a:ext cx="31242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43838" y="2397621"/>
            <a:ext cx="0" cy="2140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33900" y="4764584"/>
            <a:ext cx="3124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348163" y="2397621"/>
            <a:ext cx="0" cy="2140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43425" y="2435721"/>
            <a:ext cx="31672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02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543425" y="2826246"/>
            <a:ext cx="316725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Integrasi 3 Matra Anteseden Perilaku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4543425" y="3150989"/>
            <a:ext cx="3167253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Memadukan faktor hedonis emosional (X1), bias kognitif psikologi kolektor (X2: Desire for Completeness), dan motif pasar spekulatif finansial (X3: Speculative Motive).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4543425" y="4266902"/>
            <a:ext cx="3105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43425" y="4385965"/>
            <a:ext cx="3167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Diferensiasi: Model Perilaku Komprehensif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7200" y="2169021"/>
            <a:ext cx="3505200" cy="2597944"/>
          </a:xfrm>
          <a:prstGeom prst="roundRect">
            <a:avLst>
              <a:gd name="adj" fmla="val 5133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238125" dist="952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267700" y="2188071"/>
            <a:ext cx="31242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1577638" y="2397621"/>
            <a:ext cx="0" cy="2140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267700" y="4764584"/>
            <a:ext cx="3124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081963" y="2397621"/>
            <a:ext cx="0" cy="2140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77225" y="2435721"/>
            <a:ext cx="31672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03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277225" y="2826246"/>
            <a:ext cx="316725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Fungsi Rem Volisional Self-Control (M)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8277225" y="3150989"/>
            <a:ext cx="3167253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Menguji kapasitas kontrol diri sebagai rem eksekutif yang memperlemah dorongan impulsif, membedah ambang batas ego depletion saat konsumen berhadapan dengan kasir ritel.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277225" y="4266902"/>
            <a:ext cx="3105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77225" y="4385965"/>
            <a:ext cx="3167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Diferensiasi: Pengujian Moderasi Hierarkis MRA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9600" y="6029325"/>
            <a:ext cx="10972800" cy="409575"/>
          </a:xfrm>
          <a:prstGeom prst="roundRect">
            <a:avLst>
              <a:gd name="adj" fmla="val 23256"/>
            </a:avLst>
          </a:prstGeom>
          <a:solidFill>
            <a:srgbClr val="0B2545">
              <a:alpha val="70000"/>
            </a:srgbClr>
          </a:solidFill>
          <a:ln w="9525">
            <a:solidFill>
              <a:srgbClr val="48C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3898" y="6153150"/>
            <a:ext cx="107842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Kontribusi Akademik:</a:t>
            </a:r>
            <a:pPr algn="ctr" indent="0" marL="0"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Memberikan kebaruan empiris bagi literatur Manajemen Keuangan FEB UKRIDA dalam ranah </a:t>
            </a:r>
            <a:pPr algn="ctr" indent="0" marL="0">
              <a:buNone/>
            </a:pPr>
            <a:r>
              <a:rPr lang="en-US" sz="975" i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Behavioral Finance</a:t>
            </a:r>
            <a:pPr algn="ctr" indent="0" marL="0">
              <a:buNone/>
            </a:pPr>
            <a:r>
              <a:rPr lang="en-US" sz="975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pada pasar aset alternatif.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6072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 • PROSEDUR PENELITIAN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60721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Desain Penelitian, Kriteria Inklusi, &amp; Ukuran Sampel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010900" y="381000"/>
            <a:ext cx="609600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34725" y="428625"/>
            <a:ext cx="3691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235696"/>
            <a:ext cx="5951190" cy="2540794"/>
          </a:xfrm>
          <a:prstGeom prst="roundRect">
            <a:avLst>
              <a:gd name="adj" fmla="val 5248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90575" y="2716709"/>
            <a:ext cx="5513040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" y="2454771"/>
            <a:ext cx="56233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Desain &amp; Kriteria Inklusi Purposive Sampling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575" y="2854821"/>
            <a:ext cx="838200" cy="219075"/>
          </a:xfrm>
          <a:prstGeom prst="roundRect">
            <a:avLst>
              <a:gd name="adj" fmla="val 26087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Kriteria 1</a:t>
            </a:r>
            <a:endParaRPr lang="en-US" sz="863" dirty="0"/>
          </a:p>
        </p:txBody>
      </p:sp>
      <p:sp>
        <p:nvSpPr>
          <p:cNvPr id="10" name="Text 8"/>
          <p:cNvSpPr/>
          <p:nvPr/>
        </p:nvSpPr>
        <p:spPr>
          <a:xfrm>
            <a:off x="1743075" y="2854821"/>
            <a:ext cx="4651751" cy="53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Warga Negara Indonesia (WNI) berusia minimal 17 tahun: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Menjamin kepemilikan KTP, kapasitas hukum finansial mandiri, dan diskresi pengeluaran pribadi (UU 24/2013).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90575" y="3526631"/>
            <a:ext cx="838200" cy="219075"/>
          </a:xfrm>
          <a:prstGeom prst="roundRect">
            <a:avLst>
              <a:gd name="adj" fmla="val 26087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Kriteria 2</a:t>
            </a:r>
            <a:endParaRPr lang="en-US" sz="863" dirty="0"/>
          </a:p>
        </p:txBody>
      </p:sp>
      <p:sp>
        <p:nvSpPr>
          <p:cNvPr id="12" name="Text 10"/>
          <p:cNvSpPr/>
          <p:nvPr/>
        </p:nvSpPr>
        <p:spPr>
          <a:xfrm>
            <a:off x="1743075" y="3526631"/>
            <a:ext cx="4651751" cy="53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Pembelian booster pack resmi minimal 1x dalam 6–12 bulan: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Memastikan responden memiliki pengalaman belanja aktual terkini dan mengeliminasi distorsi ingatan (recall bias).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90575" y="4198441"/>
            <a:ext cx="838200" cy="219075"/>
          </a:xfrm>
          <a:prstGeom prst="roundRect">
            <a:avLst>
              <a:gd name="adj" fmla="val 26087"/>
            </a:avLst>
          </a:prstGeom>
          <a:solidFill>
            <a:srgbClr val="48CAE4">
              <a:alpha val="20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28575" rIns="76200" bIns="28575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Kriteria 3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1743075" y="4198441"/>
            <a:ext cx="46517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Komoditas Fisik Bahasa Indonesia: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Berfokus pada kartu cetak resmi ritel, bukan kartu simulasi digital / game online.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751290" y="2235696"/>
            <a:ext cx="4869061" cy="2540794"/>
          </a:xfrm>
          <a:prstGeom prst="roundRect">
            <a:avLst>
              <a:gd name="adj" fmla="val 5248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970365" y="2716709"/>
            <a:ext cx="4430911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70365" y="2454771"/>
            <a:ext cx="45195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Justifikasi Ilmiah Ukuran Sampel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70365" y="2854821"/>
            <a:ext cx="4430911" cy="895350"/>
          </a:xfrm>
          <a:prstGeom prst="roundRect">
            <a:avLst>
              <a:gd name="adj" fmla="val 10638"/>
            </a:avLst>
          </a:prstGeom>
          <a:solidFill>
            <a:srgbClr val="0B2545">
              <a:alpha val="85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13240" y="2997696"/>
            <a:ext cx="2166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Kaidah Green (1991) Uji R²: N ≥ 50 + 8k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10848826" y="2997696"/>
            <a:ext cx="4177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≥ 106</a:t>
            </a:r>
            <a:endParaRPr lang="en-US" sz="938" dirty="0"/>
          </a:p>
        </p:txBody>
      </p:sp>
      <p:sp>
        <p:nvSpPr>
          <p:cNvPr id="21" name="Text 19"/>
          <p:cNvSpPr/>
          <p:nvPr/>
        </p:nvSpPr>
        <p:spPr>
          <a:xfrm>
            <a:off x="7113240" y="3226296"/>
            <a:ext cx="2574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Kaidah Green (1991) Uji Koefisien: N ≥ 104 + k</a:t>
            </a:r>
            <a:endParaRPr lang="en-US" sz="938" dirty="0"/>
          </a:p>
        </p:txBody>
      </p:sp>
      <p:sp>
        <p:nvSpPr>
          <p:cNvPr id="22" name="Text 20"/>
          <p:cNvSpPr/>
          <p:nvPr/>
        </p:nvSpPr>
        <p:spPr>
          <a:xfrm>
            <a:off x="10915501" y="3226296"/>
            <a:ext cx="349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 ≥ 111</a:t>
            </a:r>
            <a:endParaRPr lang="en-US" sz="938" dirty="0"/>
          </a:p>
        </p:txBody>
      </p:sp>
      <p:sp>
        <p:nvSpPr>
          <p:cNvPr id="23" name="Text 21"/>
          <p:cNvSpPr/>
          <p:nvPr/>
        </p:nvSpPr>
        <p:spPr>
          <a:xfrm>
            <a:off x="7113240" y="3454896"/>
            <a:ext cx="2652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Cohen (1988) Statistical Power: Power = 0.80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10372576" y="3454896"/>
            <a:ext cx="903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2B7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Medium Effect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6970365" y="3883521"/>
            <a:ext cx="4430911" cy="638175"/>
          </a:xfrm>
          <a:prstGeom prst="roundRect">
            <a:avLst>
              <a:gd name="adj" fmla="val 11940"/>
            </a:avLst>
          </a:prstGeom>
          <a:solidFill>
            <a:srgbClr val="F4A261">
              <a:alpha val="15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32927" y="3988296"/>
            <a:ext cx="43057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120 – 150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32927" y="4274046"/>
            <a:ext cx="4305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3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SAMPEL RESPONDEN VALID</a:t>
            </a:r>
            <a:endParaRPr lang="en-US" sz="863" dirty="0"/>
          </a:p>
        </p:txBody>
      </p:sp>
      <p:sp>
        <p:nvSpPr>
          <p:cNvPr id="28" name="Text 26"/>
          <p:cNvSpPr/>
          <p:nvPr/>
        </p:nvSpPr>
        <p:spPr>
          <a:xfrm>
            <a:off x="571500" y="6143625"/>
            <a:ext cx="11049000" cy="333375"/>
          </a:xfrm>
          <a:prstGeom prst="rect">
            <a:avLst/>
          </a:prstGeom>
          <a:solidFill>
            <a:srgbClr val="0B2545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85788" y="6238875"/>
            <a:ext cx="0" cy="142875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52475" y="6238875"/>
            <a:ext cx="10929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Kanal Distribusi: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Kuesioner daring (Google Forms) disebarkan secara purposif di komunitas aktif Pokémon TCG Indonesia (Facebook TCG ID, Discord Pokémon Indo, dan Local Game Stores).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65579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3 • INSTRUMEN PENGUKURAN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552450"/>
            <a:ext cx="6557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Operasionalisasi 5 Variabel Penelitian &amp; Skala Baku Teruji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1087100" y="361950"/>
            <a:ext cx="571500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210925" y="409575"/>
            <a:ext cx="330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11 / 15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2312789"/>
          <a:ext cx="9144000" cy="914400"/>
        </p:xfrm>
        <a:graphic>
          <a:graphicData uri="http://schemas.openxmlformats.org/drawingml/2006/table">
            <a:tbl>
              <a:tblPr/>
              <a:tblGrid>
                <a:gridCol w="2002482"/>
                <a:gridCol w="2781300"/>
                <a:gridCol w="5006280"/>
                <a:gridCol w="1335137"/>
              </a:tblGrid>
              <a:tr h="319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Variabel</a:t>
                      </a:r>
                      <a:endParaRPr lang="en-US" sz="900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85725" marB="857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Rujukan Teori / Skala Baku</a:t>
                      </a:r>
                      <a:endParaRPr lang="en-US" sz="900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85725" marB="857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Indikator Operasional Kunci</a:t>
                      </a:r>
                      <a:endParaRPr lang="en-US" sz="900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85725" marB="857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  <a:latin typeface="Outfit Thin" pitchFamily="34" charset="0"/>
                          <a:ea typeface="Outfit Thin" pitchFamily="34" charset="-122"/>
                          <a:cs typeface="Outfit Thin" pitchFamily="34" charset="-120"/>
                        </a:rPr>
                        <a:t>Jumlah Item</a:t>
                      </a:r>
                      <a:endParaRPr lang="en-US" sz="900" dirty="0">
                        <a:latin typeface="Outfit Thin" charset="0"/>
                        <a:ea typeface="Outfit Thin" charset="0"/>
                        <a:cs typeface="Outfit Thin" charset="0"/>
                      </a:endParaRPr>
                    </a:p>
                  </a:txBody>
                  <a:tcPr marL="114300" marR="114300" marT="85725" marB="857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4A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>
                        <a:alpha val="95000"/>
                      </a:srgbClr>
                    </a:solidFill>
                  </a:tcPr>
                </a:tc>
              </a:tr>
              <a:tr h="32255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Y: Impulsive Buying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IBTS (Verplanken &amp; Herabadi, 2001; Rook 1987)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Spontanitas belanja kasir, dorongan afektif seketika, pengabaian konsekuensi finansial.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6–8 Item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255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X1: Hedonic Motivation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Arnold &amp; Reynolds (2003; Babin 1994)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Sensasi robek pack (thrill), pelepasan stres, kenikmatan estetika kartu foil.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5–6 Item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8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X2: Desire for Completeness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Pseudo-Set Framing (Barasz et al., 2017; Gao 2014)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Ketegangan melihat binder kosong, dorongan melengkapi nomor urut kartu satu set.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4–5 Item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8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X3: Speculative Motive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Capital Gain &amp; Behavioral Finance (Shiller 2000)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Ekspektasi kenaikan harga kartu langka, potensi sertifikasi PSA 10, arbitrase sekunder.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4–5 Item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8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48CAE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M: Self-Control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Brief Self-Control Scale / BSCS (Tangney et al., 2004)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Kemampuan menahan godaan spontan, disiplin anggaran hobi, pengendalian impulsif.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5–6 Item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3400" y="6200775"/>
            <a:ext cx="11125200" cy="295275"/>
          </a:xfrm>
          <a:prstGeom prst="rect">
            <a:avLst/>
          </a:prstGeom>
          <a:solidFill>
            <a:srgbClr val="0B2545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47688" y="6276975"/>
            <a:ext cx="0" cy="142875"/>
          </a:xfrm>
          <a:prstGeom prst="line">
            <a:avLst/>
          </a:prstGeom>
          <a:noFill/>
          <a:ln w="28575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33400" y="6200775"/>
            <a:ext cx="11347704" cy="295275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Skala Pengukuran: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Skala Likert 5 Poin (1 = Sangat Tidak Setuju s.d. 5 = Sangat Setuju).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Uji Instrumen: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Validitas Pearson Product Moment (r-hitung &gt; r-tabel) &amp; Reliabilitas Cronbach's Alpha (α ≥ 0,60).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74032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3 • ANALISIS EKONOMETRIKA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740321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Model Moderated Regression Analysis (MRA) 2-Tahap Hierarkis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020425" y="381000"/>
            <a:ext cx="6000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44250" y="428625"/>
            <a:ext cx="359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12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252811"/>
            <a:ext cx="11049000" cy="990600"/>
          </a:xfrm>
          <a:prstGeom prst="roundRect">
            <a:avLst>
              <a:gd name="adj" fmla="val 11538"/>
            </a:avLst>
          </a:prstGeom>
          <a:solidFill>
            <a:srgbClr val="1C2541">
              <a:alpha val="7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19050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0575" y="2419499"/>
            <a:ext cx="53532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Tahap 1: Model Baseline Aditif (Efek Langsung &amp; Kontrol Langsung Pemoderasi)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896475" y="2414736"/>
            <a:ext cx="1504950" cy="190500"/>
          </a:xfrm>
          <a:prstGeom prst="roundRect">
            <a:avLst>
              <a:gd name="adj" fmla="val 20000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19050" rIns="76200" bIns="1905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1 (SPSS / OLS)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90575" y="2681436"/>
            <a:ext cx="10610850" cy="400050"/>
          </a:xfrm>
          <a:prstGeom prst="roundRect">
            <a:avLst>
              <a:gd name="adj" fmla="val 19048"/>
            </a:avLst>
          </a:prstGeom>
          <a:solidFill>
            <a:srgbClr val="0B2545">
              <a:alpha val="85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2500" y="2786211"/>
            <a:ext cx="10492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= α + β₁X₁* + β₂X₂* + β₃X₃* + β₄M* + 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71500" y="3395811"/>
            <a:ext cx="11049000" cy="990600"/>
          </a:xfrm>
          <a:prstGeom prst="roundRect">
            <a:avLst>
              <a:gd name="adj" fmla="val 11538"/>
            </a:avLst>
          </a:prstGeom>
          <a:solidFill>
            <a:srgbClr val="1C2541">
              <a:alpha val="7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19050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0575" y="3562499"/>
            <a:ext cx="40902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Tahap 2: Model MRA Penuh (Interaksi Moderasi Multiplikatif)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696450" y="3557736"/>
            <a:ext cx="1704975" cy="190500"/>
          </a:xfrm>
          <a:prstGeom prst="roundRect">
            <a:avLst>
              <a:gd name="adj" fmla="val 20000"/>
            </a:avLst>
          </a:prstGeom>
          <a:solidFill>
            <a:srgbClr val="48CAE4">
              <a:alpha val="15000"/>
            </a:srgbClr>
          </a:solidFill>
          <a:ln w="9525">
            <a:solidFill>
              <a:srgbClr val="48CAE4"/>
            </a:solidFill>
          </a:ln>
        </p:spPr>
        <p:txBody>
          <a:bodyPr wrap="square" lIns="76200" tIns="19050" rIns="76200" bIns="1905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2 (Interaksi MRA)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90575" y="3824436"/>
            <a:ext cx="10610850" cy="400050"/>
          </a:xfrm>
          <a:prstGeom prst="roundRect">
            <a:avLst>
              <a:gd name="adj" fmla="val 19048"/>
            </a:avLst>
          </a:prstGeom>
          <a:solidFill>
            <a:srgbClr val="0B2545">
              <a:alpha val="85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2500" y="3929211"/>
            <a:ext cx="10492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= α + β₁X₁* + β₂X₂* + β₃X₃* + β₄M* + β₅(X₁*·M*) + β₆(X₂*·M*) + β₇(X₃*·M*) + 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71500" y="5770513"/>
            <a:ext cx="3581400" cy="706487"/>
          </a:xfrm>
          <a:prstGeom prst="rect">
            <a:avLst/>
          </a:prstGeom>
          <a:solidFill>
            <a:srgbClr val="1C2541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04850" y="5775275"/>
            <a:ext cx="3314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48137" y="5865763"/>
            <a:ext cx="0" cy="5159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04850" y="6470600"/>
            <a:ext cx="3314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5788" y="5865763"/>
            <a:ext cx="0" cy="515987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3425" y="5875288"/>
            <a:ext cx="3342132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Notasi Mean-Centering (*):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Variabel X dan M dikurangi rata-rata sampelnya guna mengeliminasi bahaya multikolinearitas esensial (Aiken &amp; West, 1991).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05300" y="5770513"/>
            <a:ext cx="3581400" cy="706487"/>
          </a:xfrm>
          <a:prstGeom prst="rect">
            <a:avLst/>
          </a:prstGeom>
          <a:solidFill>
            <a:srgbClr val="1C2541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438650" y="5775275"/>
            <a:ext cx="3314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881937" y="5865763"/>
            <a:ext cx="0" cy="5159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38650" y="6470600"/>
            <a:ext cx="3314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319588" y="5865763"/>
            <a:ext cx="0" cy="515987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67225" y="5875288"/>
            <a:ext cx="3342132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Uji Tambahan Kontribusi (ΔR²):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Model 1 menyertakan M* agar selisih R² pada Model 2 (ΔR²) murni mengukur kontribusi interaksi moderasi.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39100" y="5770513"/>
            <a:ext cx="3581400" cy="706487"/>
          </a:xfrm>
          <a:prstGeom prst="rect">
            <a:avLst/>
          </a:prstGeom>
          <a:solidFill>
            <a:srgbClr val="1C2541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172450" y="5775275"/>
            <a:ext cx="3314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1615737" y="5865763"/>
            <a:ext cx="0" cy="5159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72450" y="6470600"/>
            <a:ext cx="3314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053387" y="5865763"/>
            <a:ext cx="0" cy="515987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01025" y="5875288"/>
            <a:ext cx="3342132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Kaidah Penerimaan Hipotesis: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Moderasi memperlemah terbukti jika koefisien interaksi signifikan dan bertanda negatif (β₅, β₆, β₇ &lt; 0).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66259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BAB 3 • RENCANA KERJA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66259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Alur Tahapan &amp; Jadwal Pelaksanaan Penelitian (6 Bulan)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020425" y="381000"/>
            <a:ext cx="6000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44250" y="428625"/>
            <a:ext cx="359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13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804666"/>
            <a:ext cx="1730276" cy="1393478"/>
          </a:xfrm>
          <a:prstGeom prst="roundRect">
            <a:avLst>
              <a:gd name="adj" fmla="val 8202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17145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2823716"/>
            <a:ext cx="1501676" cy="0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300287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4190554"/>
            <a:ext cx="15016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76263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5325" y="2995166"/>
            <a:ext cx="1512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BULAN 1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95325" y="3185666"/>
            <a:ext cx="1512278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Seminar Proposal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95325" y="3429000"/>
            <a:ext cx="1512278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Penyusunan naskah Bab 1–3, bimbingan intensif, dan ujian Seminar Proposal.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435126" y="2804666"/>
            <a:ext cx="1730425" cy="1393478"/>
          </a:xfrm>
          <a:prstGeom prst="roundRect">
            <a:avLst>
              <a:gd name="adj" fmla="val 8202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17145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49426" y="2823716"/>
            <a:ext cx="1501825" cy="0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63913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49426" y="4190554"/>
            <a:ext cx="15018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439888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558951" y="2995166"/>
            <a:ext cx="1512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BULAN 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558951" y="3185666"/>
            <a:ext cx="151243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Uji Coba Instrumen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2558951" y="3429000"/>
            <a:ext cx="1512430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 test kuesioner pada 30 responden, uji validitas r-tabel dan reliabilitas alpha.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298900" y="2804666"/>
            <a:ext cx="1730425" cy="1393478"/>
          </a:xfrm>
          <a:prstGeom prst="roundRect">
            <a:avLst>
              <a:gd name="adj" fmla="val 8202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17145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413200" y="2823716"/>
            <a:ext cx="1501825" cy="0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27688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13200" y="4190554"/>
            <a:ext cx="15018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303663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22725" y="2995166"/>
            <a:ext cx="1512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BULAN 3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22725" y="3185666"/>
            <a:ext cx="151243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Survei Utama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422725" y="3429000"/>
            <a:ext cx="1512430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Penyebaran Google Forms di komunitas TCG (target 120–150 responden valid).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162675" y="2804666"/>
            <a:ext cx="1730276" cy="1393478"/>
          </a:xfrm>
          <a:prstGeom prst="roundRect">
            <a:avLst>
              <a:gd name="adj" fmla="val 8202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17145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276975" y="2823716"/>
            <a:ext cx="1501676" cy="0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891462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76975" y="4190554"/>
            <a:ext cx="15016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167437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86500" y="2995166"/>
            <a:ext cx="1512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BULAN 4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286500" y="3185666"/>
            <a:ext cx="1512278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Skrining &amp; Asumsi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286500" y="3429000"/>
            <a:ext cx="1512278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Pembersihan outlier, tabulasi data, normalitas, multikolinearitas, &amp; heteroskedastisitas.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8026301" y="2804666"/>
            <a:ext cx="1730425" cy="1393478"/>
          </a:xfrm>
          <a:prstGeom prst="roundRect">
            <a:avLst>
              <a:gd name="adj" fmla="val 8202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17145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8140601" y="2823716"/>
            <a:ext cx="1501825" cy="0"/>
          </a:xfrm>
          <a:prstGeom prst="line">
            <a:avLst/>
          </a:prstGeom>
          <a:noFill/>
          <a:ln w="3810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755088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140601" y="4190554"/>
            <a:ext cx="15018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031063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150126" y="2995166"/>
            <a:ext cx="1512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BULAN 5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8150126" y="3185666"/>
            <a:ext cx="151243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Analisis MRA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8150126" y="3429000"/>
            <a:ext cx="1512430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Estimasi Model 1 &amp; 2 di SPSS, interpretasi ΔR², pengujian 6 hipotesis &amp; pembahasan.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9890075" y="2804666"/>
            <a:ext cx="1730425" cy="1393478"/>
          </a:xfrm>
          <a:prstGeom prst="roundRect">
            <a:avLst>
              <a:gd name="adj" fmla="val 8202"/>
            </a:avLst>
          </a:prstGeom>
          <a:solidFill>
            <a:srgbClr val="1C2541">
              <a:alpha val="65000"/>
            </a:srgbClr>
          </a:solidFill>
          <a:ln/>
          <a:effectLst>
            <a:outerShdw sx="100000" sy="100000" kx="0" ky="0" algn="bl" rotWithShape="0" blurRad="171450" dist="571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10004375" y="2823716"/>
            <a:ext cx="1501825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1618863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004375" y="4190554"/>
            <a:ext cx="15018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9894838" y="2957066"/>
            <a:ext cx="0" cy="108867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0013900" y="2995166"/>
            <a:ext cx="1512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BULAN 6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0013900" y="3185666"/>
            <a:ext cx="151243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Sidang Skripsi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013900" y="3429000"/>
            <a:ext cx="1512430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Finalisasi Bab 4 &amp; 5, cek Turnitin ≤30%, bimbingan akhir, dan Sidang Tugas Akhir.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571500" y="6134100"/>
            <a:ext cx="11049000" cy="342900"/>
          </a:xfrm>
          <a:prstGeom prst="rect">
            <a:avLst/>
          </a:prstGeom>
          <a:solidFill>
            <a:srgbClr val="0B2545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85788" y="6229350"/>
            <a:ext cx="0" cy="152400"/>
          </a:xfrm>
          <a:prstGeom prst="line">
            <a:avLst/>
          </a:prstGeom>
          <a:noFill/>
          <a:ln w="28575">
            <a:solidFill>
              <a:srgbClr val="52B788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71525" y="6229350"/>
            <a:ext cx="108910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Manajemen Waktu:</a:t>
            </a:r>
            <a:pPr algn="l" indent="0" marL="0">
              <a:buNone/>
            </a:pPr>
            <a:r>
              <a:rPr lang="en-US" sz="938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Seluruh tahapan dirancang sistematis guna memastikan ketepatan waktu kelulusan S1 Manajemen Keuangan FEB UKRIDA.</a:t>
            </a:r>
            <a:endParaRPr lang="en-US" sz="9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6898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TATA KELOLA &amp; INTEGRITAS ILMIAH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689800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Kepatuhan Pedoman Penulisan Skripsi FEB UKRIDA (2023)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010900" y="381000"/>
            <a:ext cx="609600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34725" y="428625"/>
            <a:ext cx="3691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14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796355"/>
            <a:ext cx="2647950" cy="3162300"/>
          </a:xfrm>
          <a:prstGeom prst="roundRect">
            <a:avLst>
              <a:gd name="adj" fmla="val 5036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1025" y="1805880"/>
            <a:ext cx="2628900" cy="381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9963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D6A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9150" y="2063055"/>
            <a:ext cx="1360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3475" y="2057400"/>
            <a:ext cx="154476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Turnitin &amp; Originalitas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3425" y="2415480"/>
            <a:ext cx="2324100" cy="514350"/>
          </a:xfrm>
          <a:prstGeom prst="roundRect">
            <a:avLst>
              <a:gd name="adj" fmla="val 14815"/>
            </a:avLst>
          </a:prstGeom>
          <a:solidFill>
            <a:srgbClr val="0B132B">
              <a:alpha val="7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2520255"/>
            <a:ext cx="2156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THRESHOLD FEB UKRIDA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8200" y="2653605"/>
            <a:ext cx="2156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Similarity ≤ 30%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3425" y="3044130"/>
            <a:ext cx="23241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Teknik Parafrase: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Penulisan ulang sintesis riset terdahulu secara mandiri.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Internal: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Ambang batas ditekankan &lt; 15% untuk menjamin integritas.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Bebas Plagiarisme: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Tidak menggunakan copy-paste langsung dari publikasi.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71850" y="1796355"/>
            <a:ext cx="2647950" cy="3162300"/>
          </a:xfrm>
          <a:prstGeom prst="roundRect">
            <a:avLst>
              <a:gd name="adj" fmla="val 5036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1375" y="1805880"/>
            <a:ext cx="2628900" cy="38100"/>
          </a:xfrm>
          <a:prstGeom prst="rect">
            <a:avLst/>
          </a:prstGeom>
          <a:solidFill>
            <a:srgbClr val="48CA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33775" y="19963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48CAE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05213" y="2063055"/>
            <a:ext cx="165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3825" y="2057400"/>
            <a:ext cx="13504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Volume &amp; Tipografi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33775" y="2415480"/>
            <a:ext cx="2324100" cy="514350"/>
          </a:xfrm>
          <a:prstGeom prst="roundRect">
            <a:avLst>
              <a:gd name="adj" fmla="val 14815"/>
            </a:avLst>
          </a:prstGeom>
          <a:solidFill>
            <a:srgbClr val="0B132B">
              <a:alpha val="7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38550" y="2520255"/>
            <a:ext cx="2156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KETENTUAN BAB 3 PEDOMAN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38550" y="2653605"/>
            <a:ext cx="2156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Naskah ≥ 50 Halaman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33775" y="3044130"/>
            <a:ext cx="23241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Ketebalan Akademik: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Proposal &amp; naskah komprehensif melampaui standar minimal.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 Standar: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Times New Roman 12 pt, spasi ganda, margin 4-4-3-3 cm.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Sistematika Baku: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Bab I Pendahuluan hingga Bab III Metodologi terstruktur.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1796355"/>
            <a:ext cx="2647950" cy="3162300"/>
          </a:xfrm>
          <a:prstGeom prst="roundRect">
            <a:avLst>
              <a:gd name="adj" fmla="val 5036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1725" y="1805880"/>
            <a:ext cx="2628900" cy="3810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34125" y="19963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4A26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05563" y="2063055"/>
            <a:ext cx="165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34175" y="2057400"/>
            <a:ext cx="151561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Rujukan Pembimbing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4125" y="2415480"/>
            <a:ext cx="2324100" cy="514350"/>
          </a:xfrm>
          <a:prstGeom prst="roundRect">
            <a:avLst>
              <a:gd name="adj" fmla="val 14815"/>
            </a:avLst>
          </a:prstGeom>
          <a:solidFill>
            <a:srgbClr val="0B132B">
              <a:alpha val="7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38900" y="2520255"/>
            <a:ext cx="2156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INTEGRASI RISET DOSEN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38900" y="2653605"/>
            <a:ext cx="2156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Colline et al. (2024)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34125" y="3044130"/>
            <a:ext cx="23241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Landasan Keputusan: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Mengintegrasikan riset Ibu Dr. Fredella Colline (2024).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Relevansi Topik: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Hubungan literasi, bias psikologis, dan perilaku finansial.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Kredibilitas Institusi: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Menyelaraskan arah riset dengan fokus keilmuan prodi.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972550" y="1796355"/>
            <a:ext cx="2647950" cy="3162300"/>
          </a:xfrm>
          <a:prstGeom prst="roundRect">
            <a:avLst>
              <a:gd name="adj" fmla="val 5036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82075" y="1805880"/>
            <a:ext cx="2628900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134475" y="19963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76F5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201150" y="2063055"/>
            <a:ext cx="1748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34525" y="2057400"/>
            <a:ext cx="146704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Zero Ghost Citations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34475" y="2415480"/>
            <a:ext cx="2324100" cy="514350"/>
          </a:xfrm>
          <a:prstGeom prst="roundRect">
            <a:avLst>
              <a:gd name="adj" fmla="val 14815"/>
            </a:avLst>
          </a:prstGeom>
          <a:solidFill>
            <a:srgbClr val="0B132B">
              <a:alpha val="7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239250" y="2520255"/>
            <a:ext cx="2156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KOLEKSI BUKU BABON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239250" y="2653605"/>
            <a:ext cx="2156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Buku Teks Terverifikasi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134475" y="3044130"/>
            <a:ext cx="23241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Bukti Fisik PDF: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Ghozali, Sugiyono, Cooper, Sekaran, dkk. tersedia di repositori.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Daftar Pustaka APA 7th: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Urut alfabetis A-Z murni tanpa nomor urut (Pedoman FEB).</a:t>
            </a:r>
            <a:endParaRPr lang="en-US" sz="900" dirty="0"/>
          </a:p>
          <a:p>
            <a:pPr algn="l" marL="152400" indent="-1524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Cross-Referencing: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Seluruh in-text citation terhubung valid ke Daftar Pustaka.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1500" y="588645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111827">
              <a:alpha val="75000"/>
            </a:srgbClr>
          </a:solidFill>
          <a:ln w="9525">
            <a:solidFill>
              <a:srgbClr val="48C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9625" y="6038850"/>
            <a:ext cx="71984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8CA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Status Audit Dokumen: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Seluruh ketentuan tata kelola Pedoman FEB UKRIDA 2023, orisinalitas naskah, dan verifikasi sitasi telah dipenuhi 100%.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66906" y="6010275"/>
            <a:ext cx="1155353" cy="342900"/>
          </a:xfrm>
          <a:prstGeom prst="roundRect">
            <a:avLst>
              <a:gd name="adj" fmla="val 55556"/>
            </a:avLst>
          </a:prstGeom>
          <a:solidFill>
            <a:srgbClr val="06D6A0">
              <a:alpha val="15000"/>
            </a:srgbClr>
          </a:solidFill>
          <a:ln w="9525">
            <a:solidFill>
              <a:srgbClr val="06D6A0"/>
            </a:solidFill>
          </a:ln>
        </p:spPr>
        <p:txBody>
          <a:bodyPr wrap="square" lIns="95250" tIns="38100" rIns="95250" bIns="381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6D6A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Turnitin Compliant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9136559" y="6010275"/>
            <a:ext cx="1112639" cy="342900"/>
          </a:xfrm>
          <a:prstGeom prst="roundRect">
            <a:avLst>
              <a:gd name="adj" fmla="val 55556"/>
            </a:avLst>
          </a:prstGeom>
          <a:solidFill>
            <a:srgbClr val="06D6A0">
              <a:alpha val="15000"/>
            </a:srgbClr>
          </a:solidFill>
          <a:ln w="9525">
            <a:solidFill>
              <a:srgbClr val="06D6A0"/>
            </a:solidFill>
          </a:ln>
        </p:spPr>
        <p:txBody>
          <a:bodyPr wrap="square" lIns="95250" tIns="38100" rIns="95250" bIns="381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6D6A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APA 7th Validated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363498" y="6010275"/>
            <a:ext cx="1018877" cy="342900"/>
          </a:xfrm>
          <a:prstGeom prst="roundRect">
            <a:avLst>
              <a:gd name="adj" fmla="val 555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95250" tIns="38100" rIns="95250" bIns="381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FEB UKRIDA 2026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5926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A26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KESIMPULAN &amp; TANYA JAWAB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592645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Kesiapan Eksekusi Riset &amp; Kontribusi Pengetahuan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020425" y="381000"/>
            <a:ext cx="600075" cy="266700"/>
          </a:xfrm>
          <a:prstGeom prst="roundRect">
            <a:avLst>
              <a:gd name="adj" fmla="val 42857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44250" y="428625"/>
            <a:ext cx="359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15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834902"/>
            <a:ext cx="5429250" cy="2628007"/>
          </a:xfrm>
          <a:prstGeom prst="roundRect">
            <a:avLst>
              <a:gd name="adj" fmla="val 5074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09625" y="2620714"/>
            <a:ext cx="4953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9625" y="2053977"/>
            <a:ext cx="264261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⚡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Kesiapan Metodologis &amp; Lapangan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809625" y="281597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0125" y="2758827"/>
            <a:ext cx="48577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Instrumen Kuesioner Siap: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Skala baku tervalidasi (Rook &amp; Fisher, Babin, Goyal, Shaffer, Tangney) siap uji coba instrumen 30 responden.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9625" y="32892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0125" y="3232100"/>
            <a:ext cx="48577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Akses Jaringan Komunitas: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Terhubung dengan ekosistem LGS (Local Game Stores), turnamen resmi, dan grup kolektor Pokemon TCG Jabodetabek.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9625" y="376252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0125" y="3705374"/>
            <a:ext cx="4857750" cy="53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Kesiapan Analisis Ekonometrika: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Dataset pipeline disiapkan untuk uji MRA 2-Tahap, mean-centering z-score, dan uji asumsi klasik via IBM SPSS &amp; Hayes PROCESS.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91250" y="1834902"/>
            <a:ext cx="5429250" cy="2628007"/>
          </a:xfrm>
          <a:prstGeom prst="roundRect">
            <a:avLst>
              <a:gd name="adj" fmla="val 5074"/>
            </a:avLst>
          </a:prstGeom>
          <a:solidFill>
            <a:srgbClr val="1C2541">
              <a:alpha val="65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29375" y="2620714"/>
            <a:ext cx="4953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29375" y="2053977"/>
            <a:ext cx="21859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💎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Kontribusi Teoretis &amp; Praktis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429375" y="29954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8CA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19875" y="2938314"/>
            <a:ext cx="48577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Teoretis (Behavioral Finance):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Membuktikan secara empiris peran Self-Control dalam memitigasi anomali irasional pada pasar aset alternatif kolektibel.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429375" y="346873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8CA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19875" y="3411587"/>
            <a:ext cx="48577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Praktis (Literasi Finansial):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Menyediakan panduan bagi generasi muda dalam mengelola bias FOMO dan alokasi dana hobi vs. investasi riil.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429375" y="39420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8CA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19875" y="3884861"/>
            <a:ext cx="48577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Kebijakan &amp; Industri:</a:t>
            </a:r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Masukan bagi industri blind-box game mengenai etika transparansi drop-rate dan proteksi konsumen rentan.</a:t>
            </a:r>
            <a:endParaRPr lang="en-US" sz="975" dirty="0"/>
          </a:p>
        </p:txBody>
      </p:sp>
      <p:pic>
        <p:nvPicPr>
          <p:cNvPr id="24" name="Image 0" descr="C:\Users\arthu\AppData\Local\Temp\html2pptx-Uh2nEK\html2pptx-bg-1789997182463-3430a8a873a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5238750"/>
            <a:ext cx="11620500" cy="161925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76300" y="5434013"/>
            <a:ext cx="10439400" cy="0"/>
          </a:xfrm>
          <a:prstGeom prst="line">
            <a:avLst/>
          </a:prstGeom>
          <a:noFill/>
          <a:ln w="952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1615738" y="5619750"/>
            <a:ext cx="0" cy="666750"/>
          </a:xfrm>
          <a:prstGeom prst="line">
            <a:avLst/>
          </a:prstGeom>
          <a:noFill/>
          <a:ln w="952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76300" y="6472238"/>
            <a:ext cx="10439400" cy="0"/>
          </a:xfrm>
          <a:prstGeom prst="line">
            <a:avLst/>
          </a:prstGeom>
          <a:noFill/>
          <a:ln w="952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76263" y="5619750"/>
            <a:ext cx="0" cy="666750"/>
          </a:xfrm>
          <a:prstGeom prst="line">
            <a:avLst/>
          </a:prstGeom>
          <a:noFill/>
          <a:ln w="9525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85825" y="5641777"/>
            <a:ext cx="66065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48CAE4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Terima Kasih / Q&amp;A Session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85825" y="5918002"/>
            <a:ext cx="660654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Proposal penelitian ini terbuka penuh untuk arahan, masukan perbaikan, dan diskusi mendalam bersama Bapak/Ibu Dewan Penguji demi penyempurnaan karya ilmiah skripsi.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8905875" y="5629275"/>
            <a:ext cx="0" cy="6477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100757" y="5629275"/>
            <a:ext cx="22054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 Thin" pitchFamily="34" charset="0"/>
                <a:ea typeface="Outfit Thin" pitchFamily="34" charset="-122"/>
                <a:cs typeface="Outfit Thin" pitchFamily="34" charset="-120"/>
              </a:rPr>
              <a:t>Arthur Christian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00757" y="5819775"/>
            <a:ext cx="2205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NIM: 112021027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100757" y="6010275"/>
            <a:ext cx="2205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Pembimbing: Dr. Fredella Colline, S.E., M.M.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9100757" y="6153150"/>
            <a:ext cx="2205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Fakultas Ekonomi dan Bisnis • UKRIDA 2026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FEB UKRIDA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Proposal Skripsi - Pengaruh Hedonic, Completeness, Speculative Motive terhadap Impulsive Buying Pokemon TCG</dc:title>
  <dc:subject/>
  <dc:creator>Arthur Christian</dc:creator>
  <cp:lastModifiedBy>Arthur Christian</cp:lastModifiedBy>
  <cp:revision>1</cp:revision>
  <dcterms:created xsi:type="dcterms:W3CDTF">2026-09-21T13:26:22Z</dcterms:created>
  <dcterms:modified xsi:type="dcterms:W3CDTF">2026-09-21T13:26:23Z</dcterms:modified>
</cp:coreProperties>
</file>