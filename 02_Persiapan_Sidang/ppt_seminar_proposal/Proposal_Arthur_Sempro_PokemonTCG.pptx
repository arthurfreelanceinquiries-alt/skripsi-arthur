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rthu\AppData\Local\Temp\html2pptx-hUwWc0\html2pptx-bg-1789997122609-e5a26d8377a2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5334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19200" y="590550"/>
            <a:ext cx="438654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A261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UNIVERSITAS KRISTEN KRIDA WACANA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219200" y="781050"/>
            <a:ext cx="43865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A0AEC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Fakultas Ekonomi dan Bisnis • Program Studi S1 Manajemen Keuangan</a:t>
            </a:r>
            <a:endParaRPr lang="en-US" sz="975" dirty="0"/>
          </a:p>
        </p:txBody>
      </p:sp>
      <p:sp>
        <p:nvSpPr>
          <p:cNvPr id="5" name="Text 2"/>
          <p:cNvSpPr/>
          <p:nvPr/>
        </p:nvSpPr>
        <p:spPr>
          <a:xfrm>
            <a:off x="8848725" y="619125"/>
            <a:ext cx="2733675" cy="285750"/>
          </a:xfrm>
          <a:prstGeom prst="roundRect">
            <a:avLst>
              <a:gd name="adj" fmla="val 66667"/>
            </a:avLst>
          </a:prstGeom>
          <a:solidFill>
            <a:srgbClr val="F4A261">
              <a:alpha val="15000"/>
            </a:srgbClr>
          </a:solidFill>
          <a:ln w="9525">
            <a:solidFill>
              <a:srgbClr val="F4A26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9029700" y="685800"/>
            <a:ext cx="241916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F4A26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SEMINAR PROPOSAL SKRIPSI 2026</a:t>
            </a:r>
            <a:endParaRPr lang="en-US" sz="975" dirty="0"/>
          </a:p>
        </p:txBody>
      </p:sp>
      <p:sp>
        <p:nvSpPr>
          <p:cNvPr id="7" name="Text 4"/>
          <p:cNvSpPr/>
          <p:nvPr/>
        </p:nvSpPr>
        <p:spPr>
          <a:xfrm>
            <a:off x="609600" y="2193131"/>
            <a:ext cx="102984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125" b="1" dirty="0">
                <a:solidFill>
                  <a:srgbClr val="48CAE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PROPOSAL TUGAS AKHIR (MODEL B: KUANTITATIF ASOSIATIF)</a:t>
            </a:r>
            <a:endParaRPr lang="en-US" sz="1125" dirty="0"/>
          </a:p>
        </p:txBody>
      </p:sp>
      <p:sp>
        <p:nvSpPr>
          <p:cNvPr id="8" name="Text 5"/>
          <p:cNvSpPr/>
          <p:nvPr/>
        </p:nvSpPr>
        <p:spPr>
          <a:xfrm>
            <a:off x="609600" y="2488406"/>
            <a:ext cx="1029843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88"/>
              </a:lnSpc>
              <a:spcAft>
                <a:spcPts val="1200"/>
              </a:spcAft>
              <a:buNone/>
            </a:pPr>
            <a:r>
              <a:rPr lang="en-US" sz="2550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PENGARUH </a:t>
            </a:r>
            <a:pPr algn="l" indent="0" marL="0">
              <a:lnSpc>
                <a:spcPts val="3188"/>
              </a:lnSpc>
              <a:spcAft>
                <a:spcPts val="1200"/>
              </a:spcAft>
              <a:buNone/>
            </a:pPr>
            <a:r>
              <a:rPr lang="en-US" sz="2550" b="1" dirty="0">
                <a:solidFill>
                  <a:srgbClr val="F4A261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HEDONIC MOTIVATION</a:t>
            </a:r>
            <a:pPr algn="l" indent="0" marL="0">
              <a:lnSpc>
                <a:spcPts val="3188"/>
              </a:lnSpc>
              <a:spcAft>
                <a:spcPts val="1200"/>
              </a:spcAft>
              <a:buNone/>
            </a:pPr>
            <a:r>
              <a:rPr lang="en-US" sz="2550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, </a:t>
            </a:r>
            <a:pPr algn="l" indent="0" marL="0">
              <a:lnSpc>
                <a:spcPts val="3188"/>
              </a:lnSpc>
              <a:spcAft>
                <a:spcPts val="1200"/>
              </a:spcAft>
              <a:buNone/>
            </a:pPr>
            <a:r>
              <a:rPr lang="en-US" sz="2550" b="1" dirty="0">
                <a:solidFill>
                  <a:srgbClr val="F4A261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DESIRE FOR COMPLETENESS</a:t>
            </a:r>
            <a:pPr algn="l" indent="0" marL="0">
              <a:lnSpc>
                <a:spcPts val="3188"/>
              </a:lnSpc>
              <a:spcAft>
                <a:spcPts val="1200"/>
              </a:spcAft>
              <a:buNone/>
            </a:pPr>
            <a:r>
              <a:rPr lang="en-US" sz="2550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, DAN </a:t>
            </a:r>
            <a:pPr algn="l" indent="0" marL="0">
              <a:lnSpc>
                <a:spcPts val="3188"/>
              </a:lnSpc>
              <a:spcAft>
                <a:spcPts val="1200"/>
              </a:spcAft>
              <a:buNone/>
            </a:pPr>
            <a:r>
              <a:rPr lang="en-US" sz="2550" b="1" dirty="0">
                <a:solidFill>
                  <a:srgbClr val="F4A261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SPECULATIVE MOTIVE</a:t>
            </a:r>
            <a:pPr algn="l" indent="0" marL="0">
              <a:lnSpc>
                <a:spcPts val="3188"/>
              </a:lnSpc>
              <a:spcAft>
                <a:spcPts val="1200"/>
              </a:spcAft>
              <a:buNone/>
            </a:pPr>
            <a:r>
              <a:rPr lang="en-US" sz="2550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 TERHADAP </a:t>
            </a:r>
            <a:pPr algn="l" indent="0" marL="0">
              <a:lnSpc>
                <a:spcPts val="3188"/>
              </a:lnSpc>
              <a:spcAft>
                <a:spcPts val="1200"/>
              </a:spcAft>
              <a:buNone/>
            </a:pPr>
            <a:r>
              <a:rPr lang="en-US" sz="2550" b="1" dirty="0">
                <a:solidFill>
                  <a:srgbClr val="F4A261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IMPULSIVE BUYING</a:t>
            </a:r>
            <a:pPr algn="l" indent="0" marL="0">
              <a:lnSpc>
                <a:spcPts val="3188"/>
              </a:lnSpc>
              <a:spcAft>
                <a:spcPts val="1200"/>
              </a:spcAft>
              <a:buNone/>
            </a:pPr>
            <a:r>
              <a:rPr lang="en-US" sz="2550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 BOOSTER PACK KARTU POKÉMON TCG DENGAN </a:t>
            </a:r>
            <a:pPr algn="l" indent="0" marL="0">
              <a:lnSpc>
                <a:spcPts val="3188"/>
              </a:lnSpc>
              <a:spcAft>
                <a:spcPts val="1200"/>
              </a:spcAft>
              <a:buNone/>
            </a:pPr>
            <a:r>
              <a:rPr lang="en-US" sz="2550" b="1" dirty="0">
                <a:solidFill>
                  <a:srgbClr val="48CAE4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SELF-CONTROL</a:t>
            </a:r>
            <a:pPr algn="l" indent="0" marL="0">
              <a:lnSpc>
                <a:spcPts val="3188"/>
              </a:lnSpc>
              <a:spcAft>
                <a:spcPts val="1200"/>
              </a:spcAft>
              <a:buNone/>
            </a:pPr>
            <a:r>
              <a:rPr lang="en-US" sz="2550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 SEBAGAI VARIABEL MODERASI</a:t>
            </a:r>
            <a:endParaRPr lang="en-US" sz="2550" dirty="0"/>
          </a:p>
        </p:txBody>
      </p:sp>
      <p:sp>
        <p:nvSpPr>
          <p:cNvPr id="9" name="Text 6"/>
          <p:cNvSpPr/>
          <p:nvPr/>
        </p:nvSpPr>
        <p:spPr>
          <a:xfrm>
            <a:off x="609600" y="4260056"/>
            <a:ext cx="9229725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Kajian Ekonometrika Keuangan Perilaku (Behavioral Finance) pada Pasar Komoditas Alternatif &amp; Kolektibel di Indonesia</a:t>
            </a:r>
            <a:endParaRPr lang="en-US" sz="1275" dirty="0"/>
          </a:p>
        </p:txBody>
      </p:sp>
      <p:sp>
        <p:nvSpPr>
          <p:cNvPr id="10" name="Shape 7"/>
          <p:cNvSpPr/>
          <p:nvPr/>
        </p:nvSpPr>
        <p:spPr>
          <a:xfrm>
            <a:off x="609600" y="5519738"/>
            <a:ext cx="109728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9600" y="5753100"/>
            <a:ext cx="17293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PENELITI / MAHASISWA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609600" y="5934075"/>
            <a:ext cx="172935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Arthur Reezan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09600" y="6172200"/>
            <a:ext cx="17293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NIM: S1 Manajemen Keuangan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4238625" y="5753100"/>
            <a:ext cx="39250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DOSEN PEMBIMBING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238625" y="5934075"/>
            <a:ext cx="392506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Dr. Fredella Colline, S.E., M.M., CFP®, PFM, CHCP-A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238625" y="6172200"/>
            <a:ext cx="39250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Dosen Tetap FEB UKRIDA</a:t>
            </a:r>
            <a:endParaRPr lang="en-US" sz="975" dirty="0"/>
          </a:p>
        </p:txBody>
      </p:sp>
      <p:sp>
        <p:nvSpPr>
          <p:cNvPr id="17" name="Text 14"/>
          <p:cNvSpPr/>
          <p:nvPr/>
        </p:nvSpPr>
        <p:spPr>
          <a:xfrm>
            <a:off x="9989058" y="5753100"/>
            <a:ext cx="15933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TANGGAL PELAKSANAAN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989058" y="5934075"/>
            <a:ext cx="15933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September 2026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989058" y="6172200"/>
            <a:ext cx="15933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75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Jakarta Barat, Indonesia</a:t>
            </a:r>
            <a:endParaRPr lang="en-US" sz="97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89868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F4A26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BAB 1 • FENOMENA &amp; LATAR BELAKANG</a:t>
            </a:r>
            <a:endParaRPr lang="en-US" sz="975" dirty="0"/>
          </a:p>
        </p:txBody>
      </p:sp>
      <p:sp>
        <p:nvSpPr>
          <p:cNvPr id="3" name="Text 1"/>
          <p:cNvSpPr/>
          <p:nvPr/>
        </p:nvSpPr>
        <p:spPr>
          <a:xfrm>
            <a:off x="609600" y="666750"/>
            <a:ext cx="8986838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Transformasi Komoditas: Dari Kartu Hobi Anak ke Aset Spekulatif Ritel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0944225" y="457200"/>
            <a:ext cx="638175" cy="266700"/>
          </a:xfrm>
          <a:prstGeom prst="roundRect">
            <a:avLst>
              <a:gd name="adj" fmla="val 42857"/>
            </a:avLst>
          </a:prstGeom>
          <a:noFill/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1068050" y="504825"/>
            <a:ext cx="3983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02 / 15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09600" y="2109043"/>
            <a:ext cx="3505200" cy="2502694"/>
          </a:xfrm>
          <a:prstGeom prst="roundRect">
            <a:avLst>
              <a:gd name="adj" fmla="val 5328"/>
            </a:avLst>
          </a:prstGeom>
          <a:solidFill>
            <a:srgbClr val="1C2541">
              <a:alpha val="65000"/>
            </a:srgbClr>
          </a:solidFill>
          <a:ln w="9525">
            <a:solidFill>
              <a:srgbClr val="FFFFFF"/>
            </a:solidFill>
          </a:ln>
          <a:effectLst>
            <a:outerShdw sx="100000" sy="100000" kx="0" ky="0" algn="bl" rotWithShape="0" blurRad="238125" dist="95250" dir="5400000">
              <a:srgbClr val="00000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09625" y="2347168"/>
            <a:ext cx="342900" cy="342900"/>
          </a:xfrm>
          <a:prstGeom prst="roundRect">
            <a:avLst>
              <a:gd name="adj" fmla="val 27778"/>
            </a:avLst>
          </a:prstGeom>
          <a:solidFill>
            <a:srgbClr val="48CAE4">
              <a:alpha val="20000"/>
            </a:srgbClr>
          </a:solidFill>
          <a:ln w="9525">
            <a:solidFill>
              <a:srgbClr val="48CAE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900113" y="2418606"/>
            <a:ext cx="16516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8CAE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9625" y="2823418"/>
            <a:ext cx="3167253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5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Aksesibilitas Ritel Massal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09625" y="3137743"/>
            <a:ext cx="316725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Kartu resmi fisik berbahasa Indonesia dipasarkan langsung di etalase kasir minimarket modern (Indomaret, Alfamart) tanpa hambatan impor.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09625" y="3895576"/>
            <a:ext cx="31051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809625" y="4014639"/>
            <a:ext cx="316725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F4A26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Harga Terjangkau: Rp20.000 – Rp30.000 / pack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4343400" y="2109043"/>
            <a:ext cx="3505200" cy="2502694"/>
          </a:xfrm>
          <a:prstGeom prst="roundRect">
            <a:avLst>
              <a:gd name="adj" fmla="val 5328"/>
            </a:avLst>
          </a:prstGeom>
          <a:solidFill>
            <a:srgbClr val="1C2541">
              <a:alpha val="65000"/>
            </a:srgbClr>
          </a:solidFill>
          <a:ln w="9525">
            <a:solidFill>
              <a:srgbClr val="FFFFFF"/>
            </a:solidFill>
          </a:ln>
          <a:effectLst>
            <a:outerShdw sx="100000" sy="100000" kx="0" ky="0" algn="bl" rotWithShape="0" blurRad="238125" dist="95250" dir="5400000">
              <a:srgbClr val="00000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43425" y="2347168"/>
            <a:ext cx="342900" cy="342900"/>
          </a:xfrm>
          <a:prstGeom prst="roundRect">
            <a:avLst>
              <a:gd name="adj" fmla="val 27778"/>
            </a:avLst>
          </a:prstGeom>
          <a:solidFill>
            <a:srgbClr val="F4A261">
              <a:alpha val="20000"/>
            </a:srgbClr>
          </a:solidFill>
          <a:ln w="9525">
            <a:solidFill>
              <a:srgbClr val="F4A26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614863" y="2418606"/>
            <a:ext cx="20402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A26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43425" y="2823418"/>
            <a:ext cx="3167253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5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Mekanisme Kejutan Lotre (Loot Box)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43425" y="3137743"/>
            <a:ext cx="316725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Format kemasan bersegel acak (blind pack) memicu sensasi letupan dopamin saat dibuka, melumpuhkan rem pertimbangan kognitif secara instan.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43425" y="4102150"/>
            <a:ext cx="31051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543425" y="4221212"/>
            <a:ext cx="316725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F4A26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Pemicu: Sensasi Robek Kemasan (Pack Opening)</a:t>
            </a:r>
            <a:endParaRPr lang="en-US" sz="975" dirty="0"/>
          </a:p>
        </p:txBody>
      </p:sp>
      <p:sp>
        <p:nvSpPr>
          <p:cNvPr id="20" name="Text 18"/>
          <p:cNvSpPr/>
          <p:nvPr/>
        </p:nvSpPr>
        <p:spPr>
          <a:xfrm>
            <a:off x="8077200" y="2109043"/>
            <a:ext cx="3505200" cy="2502694"/>
          </a:xfrm>
          <a:prstGeom prst="roundRect">
            <a:avLst>
              <a:gd name="adj" fmla="val 5328"/>
            </a:avLst>
          </a:prstGeom>
          <a:solidFill>
            <a:srgbClr val="1C2541">
              <a:alpha val="65000"/>
            </a:srgbClr>
          </a:solidFill>
          <a:ln w="9525">
            <a:solidFill>
              <a:srgbClr val="FFFFFF"/>
            </a:solidFill>
          </a:ln>
          <a:effectLst>
            <a:outerShdw sx="100000" sy="100000" kx="0" ky="0" algn="bl" rotWithShape="0" blurRad="238125" dist="95250" dir="5400000">
              <a:srgbClr val="00000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277225" y="2347168"/>
            <a:ext cx="342900" cy="342900"/>
          </a:xfrm>
          <a:prstGeom prst="roundRect">
            <a:avLst>
              <a:gd name="adj" fmla="val 27778"/>
            </a:avLst>
          </a:prstGeom>
          <a:solidFill>
            <a:srgbClr val="E63946">
              <a:alpha val="20000"/>
            </a:srgbClr>
          </a:solidFill>
          <a:ln w="9525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348663" y="2418606"/>
            <a:ext cx="20402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77225" y="2823418"/>
            <a:ext cx="3167253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5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Asimetri Nilai Finansial Ekstrem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277225" y="3137743"/>
            <a:ext cx="316725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Peluang memperoleh kartu langka (Special Illustration Rare / SAR) yang dapat dijual kembali di pasar sekunder dengan valuasi hingga jutaan rupiah.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277225" y="4102150"/>
            <a:ext cx="31051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8277225" y="4221212"/>
            <a:ext cx="316725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F4A26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Valuasi Pasar: Rp500.000 – Rp3.000.000+</a:t>
            </a:r>
            <a:endParaRPr lang="en-US" sz="975" dirty="0"/>
          </a:p>
        </p:txBody>
      </p:sp>
      <p:sp>
        <p:nvSpPr>
          <p:cNvPr id="27" name="Text 25"/>
          <p:cNvSpPr/>
          <p:nvPr/>
        </p:nvSpPr>
        <p:spPr>
          <a:xfrm>
            <a:off x="609600" y="5734050"/>
            <a:ext cx="10972800" cy="666750"/>
          </a:xfrm>
          <a:prstGeom prst="rect">
            <a:avLst/>
          </a:prstGeom>
          <a:solidFill>
            <a:srgbClr val="0B2545">
              <a:alpha val="7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628650" y="5867400"/>
            <a:ext cx="0" cy="400050"/>
          </a:xfrm>
          <a:prstGeom prst="line">
            <a:avLst/>
          </a:prstGeom>
          <a:noFill/>
          <a:ln w="38100">
            <a:solidFill>
              <a:srgbClr val="F4A2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8200" y="5867400"/>
            <a:ext cx="1076477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F4A26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Inti Masalah Penelitian: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Perpaduan antara </a:t>
            </a:r>
            <a:pPr algn="l" indent="0" marL="0">
              <a:lnSpc>
                <a:spcPts val="1575"/>
              </a:lnSpc>
              <a:buNone/>
            </a:pPr>
            <a:r>
              <a:rPr lang="en-US" sz="1050" i="1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akses kasir instan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, </a:t>
            </a:r>
            <a:pPr algn="l" indent="0" marL="0">
              <a:lnSpc>
                <a:spcPts val="1575"/>
              </a:lnSpc>
              <a:buNone/>
            </a:pPr>
            <a:r>
              <a:rPr lang="en-US" sz="1050" i="1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hasrat melengkapi set album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, dan </a:t>
            </a:r>
            <a:pPr algn="l" indent="0" marL="0">
              <a:lnSpc>
                <a:spcPts val="1575"/>
              </a:lnSpc>
              <a:buNone/>
            </a:pPr>
            <a:r>
              <a:rPr lang="en-US" sz="1050" i="1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ilusi keuntungan spekulasi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mendorong lonjakan perilaku </a:t>
            </a:r>
            <a:pPr algn="l" indent="0" marL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F4A26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Impulsive Buying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pada konsumen dan kolektor di Indonesia.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19100"/>
            <a:ext cx="745178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F4A26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BAB 1 • BUKTI EMPIRIS PASAR</a:t>
            </a:r>
            <a:endParaRPr lang="en-US" sz="975" dirty="0"/>
          </a:p>
        </p:txBody>
      </p:sp>
      <p:sp>
        <p:nvSpPr>
          <p:cNvPr id="3" name="Text 1"/>
          <p:cNvSpPr/>
          <p:nvPr/>
        </p:nvSpPr>
        <p:spPr>
          <a:xfrm>
            <a:off x="609600" y="609600"/>
            <a:ext cx="7451788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Data Industri Global Terverifikasi 100% Legit (Bebas Halusinasi)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0944225" y="419100"/>
            <a:ext cx="638175" cy="266700"/>
          </a:xfrm>
          <a:prstGeom prst="roundRect">
            <a:avLst>
              <a:gd name="adj" fmla="val 42857"/>
            </a:avLst>
          </a:prstGeom>
          <a:noFill/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1068050" y="466725"/>
            <a:ext cx="3983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03 / 15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09600" y="1691580"/>
            <a:ext cx="5334000" cy="3181350"/>
          </a:xfrm>
          <a:prstGeom prst="roundRect">
            <a:avLst>
              <a:gd name="adj" fmla="val 4192"/>
            </a:avLst>
          </a:prstGeom>
          <a:solidFill>
            <a:srgbClr val="1C2541">
              <a:alpha val="70000"/>
            </a:srgbClr>
          </a:solidFill>
          <a:ln w="9525">
            <a:solidFill>
              <a:srgbClr val="FFFFFF"/>
            </a:solidFill>
          </a:ln>
          <a:effectLst>
            <a:outerShdw sx="100000" sy="100000" kx="0" ky="0" algn="bl" rotWithShape="0" blurRad="238125" dist="76200" dir="5400000">
              <a:srgbClr val="000000">
                <a:alpha val="3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7" name="Image 0" descr="C:\Users\arthu\AppData\Local\Temp\html2pptx-W1pKpl\html2pptx-bg-1789997129781-651cc8ec9281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1853505"/>
            <a:ext cx="5010150" cy="2286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47241" y="4234755"/>
            <a:ext cx="345871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750"/>
              </a:spcBef>
              <a:buNone/>
            </a:pPr>
            <a:r>
              <a:rPr lang="en-US" sz="975" b="1" dirty="0">
                <a:solidFill>
                  <a:srgbClr val="F4A26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Gambar 1.1: 10 Waralaba Media Berpendapatan Tertinggi</a:t>
            </a:r>
            <a:endParaRPr lang="en-US" sz="975" dirty="0"/>
          </a:p>
        </p:txBody>
      </p:sp>
      <p:sp>
        <p:nvSpPr>
          <p:cNvPr id="9" name="Text 6"/>
          <p:cNvSpPr/>
          <p:nvPr/>
        </p:nvSpPr>
        <p:spPr>
          <a:xfrm>
            <a:off x="721424" y="4425255"/>
            <a:ext cx="511035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Sumber: Statista Chart 24277 (2024). Pokémon menguasai peringkat #1 dunia (US$ 100 Miliar).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248400" y="1691580"/>
            <a:ext cx="5334000" cy="3181350"/>
          </a:xfrm>
          <a:prstGeom prst="roundRect">
            <a:avLst>
              <a:gd name="adj" fmla="val 4192"/>
            </a:avLst>
          </a:prstGeom>
          <a:solidFill>
            <a:srgbClr val="1C2541">
              <a:alpha val="70000"/>
            </a:srgbClr>
          </a:solidFill>
          <a:ln w="9525">
            <a:solidFill>
              <a:srgbClr val="FFFFFF"/>
            </a:solidFill>
          </a:ln>
          <a:effectLst>
            <a:outerShdw sx="100000" sy="100000" kx="0" ky="0" algn="bl" rotWithShape="0" blurRad="238125" dist="76200" dir="5400000">
              <a:srgbClr val="000000">
                <a:alpha val="3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1" name="Image 1" descr="C:\Users\arthu\AppData\Local\Temp\html2pptx-W1pKpl\html2pptx-bg-1789997129902-ce4e7eb55cf4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0325" y="1853505"/>
            <a:ext cx="5010150" cy="22860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82016" y="4234755"/>
            <a:ext cx="38667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750"/>
              </a:spcBef>
              <a:buNone/>
            </a:pPr>
            <a:r>
              <a:rPr lang="en-US" sz="975" b="1" dirty="0">
                <a:solidFill>
                  <a:srgbClr val="F4A26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Gambar 1.2: Pertumbuhan Produksi Kartu Pokémon TCG Global</a:t>
            </a:r>
            <a:endParaRPr lang="en-US" sz="975" dirty="0"/>
          </a:p>
        </p:txBody>
      </p:sp>
      <p:sp>
        <p:nvSpPr>
          <p:cNvPr id="13" name="Text 9"/>
          <p:cNvSpPr/>
          <p:nvPr/>
        </p:nvSpPr>
        <p:spPr>
          <a:xfrm>
            <a:off x="6360224" y="4425255"/>
            <a:ext cx="511035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Sumber: The Pokémon Company Corporate Figures (2024). Produksi kumulatif melesat ke 64,8 Miliar kartu.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609600" y="5657850"/>
            <a:ext cx="10972800" cy="781050"/>
          </a:xfrm>
          <a:prstGeom prst="roundRect">
            <a:avLst>
              <a:gd name="adj" fmla="val 12195"/>
            </a:avLst>
          </a:prstGeom>
          <a:solidFill>
            <a:srgbClr val="0B2545">
              <a:alpha val="60000"/>
            </a:srgbClr>
          </a:solidFill>
          <a:ln w="9525">
            <a:solidFill>
              <a:srgbClr val="F4A26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809625" y="5781675"/>
            <a:ext cx="71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4A261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US$ 100B</a:t>
            </a:r>
            <a:endParaRPr lang="en-US" sz="1650" dirty="0"/>
          </a:p>
        </p:txBody>
      </p:sp>
      <p:sp>
        <p:nvSpPr>
          <p:cNvPr id="16" name="Text 12"/>
          <p:cNvSpPr/>
          <p:nvPr/>
        </p:nvSpPr>
        <p:spPr>
          <a:xfrm>
            <a:off x="1624905" y="5888385"/>
            <a:ext cx="446336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Valuasi waralaba media nomor 1 di dunia, melampaui Mickey Mouse, Star Wars, dan Marvel Cinematic Universe.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6191250" y="5915025"/>
            <a:ext cx="61207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4A261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+125%</a:t>
            </a:r>
            <a:endParaRPr lang="en-US" sz="1650" dirty="0"/>
          </a:p>
        </p:txBody>
      </p:sp>
      <p:sp>
        <p:nvSpPr>
          <p:cNvPr id="18" name="Text 14"/>
          <p:cNvSpPr/>
          <p:nvPr/>
        </p:nvSpPr>
        <p:spPr>
          <a:xfrm>
            <a:off x="6905625" y="5888385"/>
            <a:ext cx="456628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Lonjakan volume cetak global dalam 5 tahun terakhir (28,8 Miliar di FY2019 $\rightarrow$ 64,8 Miliar lembar di FY2024).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19100"/>
            <a:ext cx="79084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E6394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BAB 1 • MOTIF SPEKULASI PASAR SEKUNDER</a:t>
            </a:r>
            <a:endParaRPr lang="en-US" sz="975" dirty="0"/>
          </a:p>
        </p:txBody>
      </p:sp>
      <p:sp>
        <p:nvSpPr>
          <p:cNvPr id="3" name="Text 1"/>
          <p:cNvSpPr/>
          <p:nvPr/>
        </p:nvSpPr>
        <p:spPr>
          <a:xfrm>
            <a:off x="609600" y="609600"/>
            <a:ext cx="7908417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Disparitas Harga Sekunder &amp; Peran Sertifikasi Grading Profesional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0934700" y="419100"/>
            <a:ext cx="647700" cy="266700"/>
          </a:xfrm>
          <a:prstGeom prst="roundRect">
            <a:avLst>
              <a:gd name="adj" fmla="val 42857"/>
            </a:avLst>
          </a:prstGeom>
          <a:noFill/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1058525" y="466725"/>
            <a:ext cx="40805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04 / 15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09600" y="2783681"/>
            <a:ext cx="6155978" cy="3524250"/>
          </a:xfrm>
          <a:prstGeom prst="roundRect">
            <a:avLst>
              <a:gd name="adj" fmla="val 3784"/>
            </a:avLst>
          </a:prstGeom>
          <a:solidFill>
            <a:srgbClr val="1C2541">
              <a:alpha val="70000"/>
            </a:srgbClr>
          </a:solidFill>
          <a:ln w="9525">
            <a:solidFill>
              <a:srgbClr val="FFFFFF"/>
            </a:solidFill>
          </a:ln>
          <a:effectLst>
            <a:outerShdw sx="100000" sy="100000" kx="0" ky="0" algn="bl" rotWithShape="0" blurRad="238125" dist="76200" dir="5400000">
              <a:srgbClr val="000000">
                <a:alpha val="3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7" name="Image 0" descr="C:\Users\arthu\AppData\Local\Temp\html2pptx-t9Zm81\html2pptx-bg-1789997137893-78ddc6814928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2945606"/>
            <a:ext cx="5832128" cy="29527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49272" y="5993606"/>
            <a:ext cx="387648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750"/>
              </a:spcBef>
              <a:buNone/>
            </a:pPr>
            <a:r>
              <a:rPr lang="en-US" sz="975" b="1" dirty="0">
                <a:solidFill>
                  <a:srgbClr val="F4A26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Gambar 1.3: Disparitas Harga Mentah (Raw) vs PSA 10 Gem Mint</a:t>
            </a:r>
            <a:endParaRPr lang="en-US" sz="975" dirty="0"/>
          </a:p>
        </p:txBody>
      </p:sp>
      <p:sp>
        <p:nvSpPr>
          <p:cNvPr id="9" name="Text 6"/>
          <p:cNvSpPr/>
          <p:nvPr/>
        </p:nvSpPr>
        <p:spPr>
          <a:xfrm>
            <a:off x="7032278" y="2747963"/>
            <a:ext cx="4550122" cy="1128713"/>
          </a:xfrm>
          <a:prstGeom prst="roundRect">
            <a:avLst>
              <a:gd name="adj" fmla="val 10127"/>
            </a:avLst>
          </a:prstGeom>
          <a:solidFill>
            <a:srgbClr val="1C2541">
              <a:alpha val="60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7213253" y="2909888"/>
            <a:ext cx="427193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50"/>
              </a:spcAft>
              <a:buNone/>
            </a:pPr>
            <a:r>
              <a:rPr lang="en-US" sz="1200" b="1" dirty="0">
                <a:solidFill>
                  <a:srgbClr val="48CAE4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Efek Multiplier 2,0x – 26,0x Lipat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213253" y="3157538"/>
            <a:ext cx="4271936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975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Data PriceCharting membuktikan kartu dengan segel PSA 10 memiliki harga pasar berkali-kali lipat dibanding kartu mentah yang baru dibuka dari booster pack.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7032278" y="4029075"/>
            <a:ext cx="4550122" cy="1219200"/>
          </a:xfrm>
          <a:prstGeom prst="roundRect">
            <a:avLst>
              <a:gd name="adj" fmla="val 9375"/>
            </a:avLst>
          </a:prstGeom>
          <a:solidFill>
            <a:srgbClr val="1C2541">
              <a:alpha val="60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7213253" y="4191000"/>
            <a:ext cx="427193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50"/>
              </a:spcAft>
              <a:buNone/>
            </a:pPr>
            <a:r>
              <a:rPr lang="en-US" sz="1200" b="1" dirty="0">
                <a:solidFill>
                  <a:srgbClr val="48CAE4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Standardisasi Fisik 4 Parameter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213253" y="4438650"/>
            <a:ext cx="427193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975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Lembaga grading (PSA, BGS, CGC) menguji kartu secara objektif dengan parameter baku:</a:t>
            </a:r>
            <a:endParaRPr lang="en-US" sz="975" dirty="0"/>
          </a:p>
        </p:txBody>
      </p:sp>
      <p:sp>
        <p:nvSpPr>
          <p:cNvPr id="15" name="Text 12"/>
          <p:cNvSpPr/>
          <p:nvPr/>
        </p:nvSpPr>
        <p:spPr>
          <a:xfrm>
            <a:off x="7213253" y="4886325"/>
            <a:ext cx="704850" cy="200025"/>
          </a:xfrm>
          <a:prstGeom prst="roundRect">
            <a:avLst>
              <a:gd name="adj" fmla="val 28571"/>
            </a:avLst>
          </a:prstGeom>
          <a:solidFill>
            <a:srgbClr val="48CAE4">
              <a:alpha val="15000"/>
            </a:srgbClr>
          </a:solidFill>
          <a:ln w="9525">
            <a:solidFill>
              <a:srgbClr val="48CAE4"/>
            </a:solidFill>
          </a:ln>
        </p:spPr>
        <p:txBody>
          <a:bodyPr wrap="square" lIns="76200" tIns="28575" rIns="76200" bIns="28575" rtlCol="0" anchor="ctr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48CAE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Centering</a:t>
            </a:r>
            <a:endParaRPr lang="en-US" sz="825" dirty="0"/>
          </a:p>
        </p:txBody>
      </p:sp>
      <p:sp>
        <p:nvSpPr>
          <p:cNvPr id="16" name="Text 13"/>
          <p:cNvSpPr/>
          <p:nvPr/>
        </p:nvSpPr>
        <p:spPr>
          <a:xfrm>
            <a:off x="7994303" y="4886325"/>
            <a:ext cx="590550" cy="200025"/>
          </a:xfrm>
          <a:prstGeom prst="roundRect">
            <a:avLst>
              <a:gd name="adj" fmla="val 28571"/>
            </a:avLst>
          </a:prstGeom>
          <a:solidFill>
            <a:srgbClr val="48CAE4">
              <a:alpha val="15000"/>
            </a:srgbClr>
          </a:solidFill>
          <a:ln w="9525">
            <a:solidFill>
              <a:srgbClr val="48CAE4"/>
            </a:solidFill>
          </a:ln>
        </p:spPr>
        <p:txBody>
          <a:bodyPr wrap="square" lIns="76200" tIns="28575" rIns="76200" bIns="28575" rtlCol="0" anchor="ctr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48CAE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Corners</a:t>
            </a:r>
            <a:endParaRPr lang="en-US" sz="825" dirty="0"/>
          </a:p>
        </p:txBody>
      </p:sp>
      <p:sp>
        <p:nvSpPr>
          <p:cNvPr id="17" name="Text 14"/>
          <p:cNvSpPr/>
          <p:nvPr/>
        </p:nvSpPr>
        <p:spPr>
          <a:xfrm>
            <a:off x="8661053" y="4886325"/>
            <a:ext cx="495300" cy="200025"/>
          </a:xfrm>
          <a:prstGeom prst="roundRect">
            <a:avLst>
              <a:gd name="adj" fmla="val 28571"/>
            </a:avLst>
          </a:prstGeom>
          <a:solidFill>
            <a:srgbClr val="48CAE4">
              <a:alpha val="15000"/>
            </a:srgbClr>
          </a:solidFill>
          <a:ln w="9525">
            <a:solidFill>
              <a:srgbClr val="48CAE4"/>
            </a:solidFill>
          </a:ln>
        </p:spPr>
        <p:txBody>
          <a:bodyPr wrap="square" lIns="76200" tIns="28575" rIns="76200" bIns="28575" rtlCol="0" anchor="ctr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48CAE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Edges</a:t>
            </a:r>
            <a:endParaRPr lang="en-US" sz="825" dirty="0"/>
          </a:p>
        </p:txBody>
      </p:sp>
      <p:sp>
        <p:nvSpPr>
          <p:cNvPr id="18" name="Text 15"/>
          <p:cNvSpPr/>
          <p:nvPr/>
        </p:nvSpPr>
        <p:spPr>
          <a:xfrm>
            <a:off x="9232553" y="4886325"/>
            <a:ext cx="571500" cy="200025"/>
          </a:xfrm>
          <a:prstGeom prst="roundRect">
            <a:avLst>
              <a:gd name="adj" fmla="val 28571"/>
            </a:avLst>
          </a:prstGeom>
          <a:solidFill>
            <a:srgbClr val="48CAE4">
              <a:alpha val="15000"/>
            </a:srgbClr>
          </a:solidFill>
          <a:ln w="9525">
            <a:solidFill>
              <a:srgbClr val="48CAE4"/>
            </a:solidFill>
          </a:ln>
        </p:spPr>
        <p:txBody>
          <a:bodyPr wrap="square" lIns="76200" tIns="28575" rIns="76200" bIns="28575" rtlCol="0" anchor="ctr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48CAE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Surface</a:t>
            </a:r>
            <a:endParaRPr lang="en-US" sz="825" dirty="0"/>
          </a:p>
        </p:txBody>
      </p:sp>
      <p:sp>
        <p:nvSpPr>
          <p:cNvPr id="19" name="Text 16"/>
          <p:cNvSpPr/>
          <p:nvPr/>
        </p:nvSpPr>
        <p:spPr>
          <a:xfrm>
            <a:off x="7032278" y="5400675"/>
            <a:ext cx="4550122" cy="942975"/>
          </a:xfrm>
          <a:prstGeom prst="roundRect">
            <a:avLst>
              <a:gd name="adj" fmla="val 12121"/>
            </a:avLst>
          </a:prstGeom>
          <a:solidFill>
            <a:srgbClr val="1C2541">
              <a:alpha val="60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7213253" y="5562600"/>
            <a:ext cx="427193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50"/>
              </a:spcAft>
              <a:buNone/>
            </a:pPr>
            <a:r>
              <a:rPr lang="en-US" sz="1200" b="1" dirty="0">
                <a:solidFill>
                  <a:srgbClr val="48CAE4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Arbitrase &amp; Financialization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213253" y="5810250"/>
            <a:ext cx="427193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975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Kartu Pokémon bukan lagi sekadar mainan, melainkan diperlakukan sebagai instrumen investasi alternatif yang likuid di pasar global.</a:t>
            </a:r>
            <a:endParaRPr lang="en-US" sz="97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3400" y="342900"/>
            <a:ext cx="683971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F4A26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BAB 1 • RESEARCH GAP &amp; KAUSALITAS</a:t>
            </a:r>
            <a:endParaRPr lang="en-US" sz="975" dirty="0"/>
          </a:p>
        </p:txBody>
      </p:sp>
      <p:sp>
        <p:nvSpPr>
          <p:cNvPr id="3" name="Text 1"/>
          <p:cNvSpPr/>
          <p:nvPr/>
        </p:nvSpPr>
        <p:spPr>
          <a:xfrm>
            <a:off x="533400" y="533400"/>
            <a:ext cx="68397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75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Matriks 7 Subjek Hubungan Empiris &amp; Penjelasan "The Why"</a:t>
            </a:r>
            <a:endParaRPr lang="en-US" sz="1875" dirty="0"/>
          </a:p>
        </p:txBody>
      </p:sp>
      <p:sp>
        <p:nvSpPr>
          <p:cNvPr id="4" name="Text 2"/>
          <p:cNvSpPr/>
          <p:nvPr/>
        </p:nvSpPr>
        <p:spPr>
          <a:xfrm>
            <a:off x="11020425" y="342900"/>
            <a:ext cx="638175" cy="266700"/>
          </a:xfrm>
          <a:prstGeom prst="roundRect">
            <a:avLst>
              <a:gd name="adj" fmla="val 42857"/>
            </a:avLst>
          </a:prstGeom>
          <a:noFill/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1144250" y="390525"/>
            <a:ext cx="3983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05 / 15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3400" y="1832521"/>
          <a:ext cx="9144000" cy="914400"/>
        </p:xfrm>
        <a:graphic>
          <a:graphicData uri="http://schemas.openxmlformats.org/drawingml/2006/table">
            <a:tbl>
              <a:tblPr/>
              <a:tblGrid>
                <a:gridCol w="1557486"/>
                <a:gridCol w="2781300"/>
                <a:gridCol w="2781300"/>
                <a:gridCol w="4005114"/>
              </a:tblGrid>
              <a:tr h="3004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3" b="1" dirty="0">
                          <a:solidFill>
                            <a:srgbClr val="F4A261"/>
                          </a:solidFill>
                          <a:latin typeface="Outfit Thin" pitchFamily="34" charset="0"/>
                          <a:ea typeface="Outfit Thin" pitchFamily="34" charset="-122"/>
                          <a:cs typeface="Outfit Thin" pitchFamily="34" charset="-120"/>
                        </a:rPr>
                        <a:t>Subjek Hubungan</a:t>
                      </a:r>
                      <a:endParaRPr lang="en-US" sz="863" dirty="0">
                        <a:latin typeface="Outfit Thin" charset="0"/>
                        <a:ea typeface="Outfit Thin" charset="0"/>
                        <a:cs typeface="Outfit Thin" charset="0"/>
                      </a:endParaRPr>
                    </a:p>
                  </a:txBody>
                  <a:tcPr marL="114300" marR="1143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4A2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>
                        <a:alpha val="9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3" b="1" dirty="0">
                          <a:solidFill>
                            <a:srgbClr val="F4A261"/>
                          </a:solidFill>
                          <a:latin typeface="Outfit Thin" pitchFamily="34" charset="0"/>
                          <a:ea typeface="Outfit Thin" pitchFamily="34" charset="-122"/>
                          <a:cs typeface="Outfit Thin" pitchFamily="34" charset="-120"/>
                        </a:rPr>
                        <a:t>Kelompok A (Signifikan / Positif)</a:t>
                      </a:r>
                      <a:endParaRPr lang="en-US" sz="863" dirty="0">
                        <a:latin typeface="Outfit Thin" charset="0"/>
                        <a:ea typeface="Outfit Thin" charset="0"/>
                        <a:cs typeface="Outfit Thin" charset="0"/>
                      </a:endParaRPr>
                    </a:p>
                  </a:txBody>
                  <a:tcPr marL="114300" marR="1143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4A2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>
                        <a:alpha val="9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3" b="1" dirty="0">
                          <a:solidFill>
                            <a:srgbClr val="F4A261"/>
                          </a:solidFill>
                          <a:latin typeface="Outfit Thin" pitchFamily="34" charset="0"/>
                          <a:ea typeface="Outfit Thin" pitchFamily="34" charset="-122"/>
                          <a:cs typeface="Outfit Thin" pitchFamily="34" charset="-120"/>
                        </a:rPr>
                        <a:t>Kelompok B (Batas Teori / Negatif / N.S.)</a:t>
                      </a:r>
                      <a:endParaRPr lang="en-US" sz="863" dirty="0">
                        <a:latin typeface="Outfit Thin" charset="0"/>
                        <a:ea typeface="Outfit Thin" charset="0"/>
                        <a:cs typeface="Outfit Thin" charset="0"/>
                      </a:endParaRPr>
                    </a:p>
                  </a:txBody>
                  <a:tcPr marL="114300" marR="1143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4A2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>
                        <a:alpha val="9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3" b="1" dirty="0">
                          <a:solidFill>
                            <a:srgbClr val="F4A261"/>
                          </a:solidFill>
                          <a:latin typeface="Outfit Thin" pitchFamily="34" charset="0"/>
                          <a:ea typeface="Outfit Thin" pitchFamily="34" charset="-122"/>
                          <a:cs typeface="Outfit Thin" pitchFamily="34" charset="-120"/>
                        </a:rPr>
                        <a:t>Penjelasan Mengapa Terjadi Gap ("The Why")</a:t>
                      </a:r>
                      <a:endParaRPr lang="en-US" sz="863" dirty="0">
                        <a:latin typeface="Outfit Thin" charset="0"/>
                        <a:ea typeface="Outfit Thin" charset="0"/>
                        <a:cs typeface="Outfit Thin" charset="0"/>
                      </a:endParaRPr>
                    </a:p>
                  </a:txBody>
                  <a:tcPr marL="114300" marR="1143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4A2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>
                        <a:alpha val="95000"/>
                      </a:srgbClr>
                    </a:solidFill>
                  </a:tcPr>
                </a:tc>
              </a:tr>
              <a:tr h="439067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64"/>
                        </a:lnSpc>
                        <a:buNone/>
                      </a:pPr>
                      <a:r>
                        <a:rPr lang="en-US" sz="825" b="1" dirty="0">
                          <a:solidFill>
                            <a:srgbClr val="48CAE4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X1 ➔ Y</a:t>
                      </a:r>
                      <a:endParaRPr lang="en-US" sz="863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14300" marR="114300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64"/>
                        </a:lnSpc>
                        <a:buNone/>
                      </a:pPr>
                      <a:r>
                        <a:rPr lang="en-US" sz="863" b="1" dirty="0">
                          <a:solidFill>
                            <a:srgbClr val="52B78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Arnold &amp; Reynolds (2003), Gong (2024)</a:t>
                      </a:r>
                      <a:endParaRPr lang="en-US" sz="863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64"/>
                        </a:lnSpc>
                        <a:buNone/>
                      </a:pPr>
                      <a:r>
                        <a:rPr lang="en-US" sz="863" b="1" dirty="0">
                          <a:solidFill>
                            <a:srgbClr val="F2848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Batas Mental Budgeting (Thaler, 1999)</a:t>
                      </a:r>
                      <a:endParaRPr lang="en-US" sz="863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64"/>
                        </a:lnSpc>
                        <a:buNone/>
                      </a:pPr>
                      <a:r>
                        <a:rPr lang="en-US" sz="863" dirty="0">
                          <a:solidFill>
                            <a:srgbClr val="E2E8F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Produk utiliter belanja tertahan anggaran; pack TCG memicu letupan dopamin seketika.</a:t>
                      </a:r>
                      <a:endParaRPr lang="en-US" sz="863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39067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64"/>
                        </a:lnSpc>
                        <a:buNone/>
                      </a:pPr>
                      <a:r>
                        <a:rPr lang="en-US" sz="825" b="1" dirty="0">
                          <a:solidFill>
                            <a:srgbClr val="48CAE4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X2 ➔ Y</a:t>
                      </a:r>
                      <a:endParaRPr lang="en-US" sz="863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14300" marR="114300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64"/>
                        </a:lnSpc>
                        <a:buNone/>
                      </a:pPr>
                      <a:r>
                        <a:rPr lang="en-US" sz="863" b="1" dirty="0">
                          <a:solidFill>
                            <a:srgbClr val="52B78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Gao et al. (2014), Barasz (2017), Dewi (2026)</a:t>
                      </a:r>
                      <a:endParaRPr lang="en-US" sz="863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64"/>
                        </a:lnSpc>
                        <a:buNone/>
                      </a:pPr>
                      <a:r>
                        <a:rPr lang="en-US" sz="863" b="1" dirty="0">
                          <a:solidFill>
                            <a:srgbClr val="F2848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Kolektor Matang (Long &amp; Schiffman, 2000)</a:t>
                      </a:r>
                      <a:endParaRPr lang="en-US" sz="863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64"/>
                        </a:lnSpc>
                        <a:buNone/>
                      </a:pPr>
                      <a:r>
                        <a:rPr lang="en-US" sz="863" dirty="0">
                          <a:solidFill>
                            <a:srgbClr val="E2E8F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Kolektor pemula beli pack acak untuk melengkapi album; senior membeli kartu tunggal terencana.</a:t>
                      </a:r>
                      <a:endParaRPr lang="en-US" sz="863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39067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64"/>
                        </a:lnSpc>
                        <a:buNone/>
                      </a:pPr>
                      <a:r>
                        <a:rPr lang="en-US" sz="825" b="1" dirty="0">
                          <a:solidFill>
                            <a:srgbClr val="48CAE4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X3 ➔ Y</a:t>
                      </a:r>
                      <a:endParaRPr lang="en-US" sz="863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14300" marR="114300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64"/>
                        </a:lnSpc>
                        <a:buNone/>
                      </a:pPr>
                      <a:r>
                        <a:rPr lang="en-US" sz="863" b="1" dirty="0">
                          <a:solidFill>
                            <a:srgbClr val="52B78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Aryadi &amp; Lingga (2024), Colline (2024)</a:t>
                      </a:r>
                      <a:endParaRPr lang="en-US" sz="863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64"/>
                        </a:lnSpc>
                        <a:buNone/>
                      </a:pPr>
                      <a:r>
                        <a:rPr lang="en-US" sz="863" b="1" dirty="0">
                          <a:solidFill>
                            <a:srgbClr val="F2848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Analogi Efisiensi Pasar (Barber, 2008)</a:t>
                      </a:r>
                      <a:endParaRPr lang="en-US" sz="863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64"/>
                        </a:lnSpc>
                        <a:buNone/>
                      </a:pPr>
                      <a:r>
                        <a:rPr lang="en-US" sz="863" dirty="0">
                          <a:solidFill>
                            <a:srgbClr val="E2E8F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Euforia harga PSA 10 memicu ilusi lotre; pelaku sadar risiko menolak spekulasi acak.</a:t>
                      </a:r>
                      <a:endParaRPr lang="en-US" sz="863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39067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64"/>
                        </a:lnSpc>
                        <a:buNone/>
                      </a:pPr>
                      <a:r>
                        <a:rPr lang="en-US" sz="825" b="1" dirty="0">
                          <a:solidFill>
                            <a:srgbClr val="48CAE4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M ➔ Y (Direct)</a:t>
                      </a:r>
                      <a:endParaRPr lang="en-US" sz="863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14300" marR="114300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64"/>
                        </a:lnSpc>
                        <a:buNone/>
                      </a:pPr>
                      <a:r>
                        <a:rPr lang="en-US" sz="863" b="1" dirty="0">
                          <a:solidFill>
                            <a:srgbClr val="52B78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Baumeister (2002), Tangney et al. (2004)</a:t>
                      </a:r>
                      <a:endParaRPr lang="en-US" sz="863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64"/>
                        </a:lnSpc>
                        <a:buNone/>
                      </a:pPr>
                      <a:r>
                        <a:rPr lang="en-US" sz="863" b="1" dirty="0">
                          <a:solidFill>
                            <a:srgbClr val="F2848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Batas Cognitive Bypass (Stern, 1962)</a:t>
                      </a:r>
                      <a:endParaRPr lang="en-US" sz="863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64"/>
                        </a:lnSpc>
                        <a:buNone/>
                      </a:pPr>
                      <a:r>
                        <a:rPr lang="en-US" sz="863" dirty="0">
                          <a:solidFill>
                            <a:srgbClr val="E2E8F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Self-control efektif saat mental prima; jebol saat ego depletion di kasir minimarket.</a:t>
                      </a:r>
                      <a:endParaRPr lang="en-US" sz="863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39067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64"/>
                        </a:lnSpc>
                        <a:buNone/>
                      </a:pPr>
                      <a:r>
                        <a:rPr lang="en-US" sz="825" b="1" dirty="0">
                          <a:solidFill>
                            <a:srgbClr val="48CAE4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X1 · M ➔ Y</a:t>
                      </a:r>
                      <a:endParaRPr lang="en-US" sz="863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14300" marR="114300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64"/>
                        </a:lnSpc>
                        <a:buNone/>
                      </a:pPr>
                      <a:r>
                        <a:rPr lang="en-US" sz="863" b="1" dirty="0">
                          <a:solidFill>
                            <a:srgbClr val="52B78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Lienardy &amp; Panasea (2026, moderasi efektif)</a:t>
                      </a:r>
                      <a:endParaRPr lang="en-US" sz="863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64"/>
                        </a:lnSpc>
                        <a:buNone/>
                      </a:pPr>
                      <a:r>
                        <a:rPr lang="en-US" sz="863" b="1" dirty="0">
                          <a:solidFill>
                            <a:srgbClr val="F2848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Apidana (2022), Artadita (2024) H3 ditolak</a:t>
                      </a:r>
                      <a:endParaRPr lang="en-US" sz="863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64"/>
                        </a:lnSpc>
                        <a:buNone/>
                      </a:pPr>
                      <a:r>
                        <a:rPr lang="en-US" sz="863" dirty="0">
                          <a:solidFill>
                            <a:srgbClr val="E2E8F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Moderasi bekerja pada stimulus wajar; rem gagal saat dorongan afektif mencapai euforia ekstrem.</a:t>
                      </a:r>
                      <a:endParaRPr lang="en-US" sz="863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39067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64"/>
                        </a:lnSpc>
                        <a:buNone/>
                      </a:pPr>
                      <a:r>
                        <a:rPr lang="en-US" sz="825" b="1" dirty="0">
                          <a:solidFill>
                            <a:srgbClr val="48CAE4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X2 · M ➔ Y</a:t>
                      </a:r>
                      <a:endParaRPr lang="en-US" sz="863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14300" marR="114300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64"/>
                        </a:lnSpc>
                        <a:buNone/>
                      </a:pPr>
                      <a:r>
                        <a:rPr lang="en-US" sz="863" b="1" dirty="0">
                          <a:solidFill>
                            <a:srgbClr val="52B78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Artadita &amp; Firmialy (2024, parsial)</a:t>
                      </a:r>
                      <a:endParaRPr lang="en-US" sz="863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64"/>
                        </a:lnSpc>
                        <a:buNone/>
                      </a:pPr>
                      <a:r>
                        <a:rPr lang="en-US" sz="863" b="1" dirty="0">
                          <a:solidFill>
                            <a:srgbClr val="F2848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Obsesi Koleksi (Belk 1995, Barasz 2017)</a:t>
                      </a:r>
                      <a:endParaRPr lang="en-US" sz="863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64"/>
                        </a:lnSpc>
                        <a:buNone/>
                      </a:pPr>
                      <a:r>
                        <a:rPr lang="en-US" sz="863" dirty="0">
                          <a:solidFill>
                            <a:srgbClr val="E2E8F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Uji moderasi langsung X2·M belum pernah dilakukan di TCG fisik (Novelty Gap Penelitian).</a:t>
                      </a:r>
                      <a:endParaRPr lang="en-US" sz="863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39067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64"/>
                        </a:lnSpc>
                        <a:buNone/>
                      </a:pPr>
                      <a:r>
                        <a:rPr lang="en-US" sz="825" b="1" dirty="0">
                          <a:solidFill>
                            <a:srgbClr val="48CAE4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X3 · M ➔ Y</a:t>
                      </a:r>
                      <a:endParaRPr lang="en-US" sz="863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14300" marR="114300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64"/>
                        </a:lnSpc>
                        <a:buNone/>
                      </a:pPr>
                      <a:r>
                        <a:rPr lang="en-US" sz="863" b="1" dirty="0">
                          <a:solidFill>
                            <a:srgbClr val="52B78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Katauke et al. (2023, literasi finansial)</a:t>
                      </a:r>
                      <a:endParaRPr lang="en-US" sz="863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64"/>
                        </a:lnSpc>
                        <a:buNone/>
                      </a:pPr>
                      <a:r>
                        <a:rPr lang="en-US" sz="863" b="1" dirty="0">
                          <a:solidFill>
                            <a:srgbClr val="F28482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Teori Gelembung Spekulatif (Shiller, 2000)</a:t>
                      </a:r>
                      <a:endParaRPr lang="en-US" sz="863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64"/>
                        </a:lnSpc>
                        <a:buNone/>
                      </a:pPr>
                      <a:r>
                        <a:rPr lang="en-US" sz="863" dirty="0">
                          <a:solidFill>
                            <a:srgbClr val="E2E8F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Pengujian empiris rem kontrol diri atas histeria spekulasi kartu langka adalah hipotesis baru (H6).</a:t>
                      </a:r>
                      <a:endParaRPr lang="en-US" sz="863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33400" y="6219825"/>
            <a:ext cx="11125200" cy="295275"/>
          </a:xfrm>
          <a:prstGeom prst="rect">
            <a:avLst/>
          </a:prstGeom>
          <a:solidFill>
            <a:srgbClr val="48CAE4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5"/>
          <p:cNvSpPr/>
          <p:nvPr/>
        </p:nvSpPr>
        <p:spPr>
          <a:xfrm>
            <a:off x="547688" y="6296025"/>
            <a:ext cx="0" cy="142875"/>
          </a:xfrm>
          <a:prstGeom prst="line">
            <a:avLst/>
          </a:prstGeom>
          <a:noFill/>
          <a:ln w="28575">
            <a:solidFill>
              <a:srgbClr val="48CAE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4375" y="6296025"/>
            <a:ext cx="110076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Rasional Ilmiah:</a:t>
            </a:r>
            <a:pPr algn="l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Penelitian ini tidak sekadar mengulang model, melainkan menyelesaikan 7 celah hubungan empiris dengan menyajikan eksplanasi kausalitas perilaku konsumen komoditas alternatif.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19100"/>
            <a:ext cx="60138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48CAE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BAB 1 • STRUKTUR PERTANYAAN PENELITIAN</a:t>
            </a:r>
            <a:endParaRPr lang="en-US" sz="975" dirty="0"/>
          </a:p>
        </p:txBody>
      </p:sp>
      <p:sp>
        <p:nvSpPr>
          <p:cNvPr id="3" name="Text 1"/>
          <p:cNvSpPr/>
          <p:nvPr/>
        </p:nvSpPr>
        <p:spPr>
          <a:xfrm>
            <a:off x="609600" y="609600"/>
            <a:ext cx="6013895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6 Rumusan Masalah &amp; Tujuan Penelitian Direksional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0944225" y="419100"/>
            <a:ext cx="638175" cy="266700"/>
          </a:xfrm>
          <a:prstGeom prst="roundRect">
            <a:avLst>
              <a:gd name="adj" fmla="val 42857"/>
            </a:avLst>
          </a:prstGeom>
          <a:noFill/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1068050" y="466725"/>
            <a:ext cx="3983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06 / 15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09600" y="2448520"/>
            <a:ext cx="5372100" cy="2105620"/>
          </a:xfrm>
          <a:prstGeom prst="roundRect">
            <a:avLst>
              <a:gd name="adj" fmla="val 6333"/>
            </a:avLst>
          </a:prstGeom>
          <a:solidFill>
            <a:srgbClr val="1C2541">
              <a:alpha val="6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828675" y="2929533"/>
            <a:ext cx="4933950" cy="0"/>
          </a:xfrm>
          <a:prstGeom prst="line">
            <a:avLst/>
          </a:prstGeom>
          <a:noFill/>
          <a:ln w="9525">
            <a:solidFill>
              <a:srgbClr val="F4A2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8675" y="2648545"/>
            <a:ext cx="29340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A261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📌 Efek Langsung Utama (Direct Effects)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8675" y="3048595"/>
            <a:ext cx="552450" cy="208955"/>
          </a:xfrm>
          <a:prstGeom prst="roundRect">
            <a:avLst>
              <a:gd name="adj" fmla="val 27350"/>
            </a:avLst>
          </a:prstGeom>
          <a:solidFill>
            <a:srgbClr val="48CAE4">
              <a:alpha val="20000"/>
            </a:srgbClr>
          </a:solidFill>
          <a:ln w="9525">
            <a:solidFill>
              <a:srgbClr val="48CAE4"/>
            </a:solidFill>
          </a:ln>
        </p:spPr>
        <p:txBody>
          <a:bodyPr wrap="square" lIns="66675" tIns="19050" rIns="66675" bIns="19050" rtlCol="0" anchor="ctr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b="1" dirty="0">
                <a:solidFill>
                  <a:srgbClr val="48CAE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RM/T 1</a:t>
            </a:r>
            <a:endParaRPr lang="en-US" sz="825" dirty="0"/>
          </a:p>
        </p:txBody>
      </p:sp>
      <p:sp>
        <p:nvSpPr>
          <p:cNvPr id="10" name="Text 8"/>
          <p:cNvSpPr/>
          <p:nvPr/>
        </p:nvSpPr>
        <p:spPr>
          <a:xfrm>
            <a:off x="1476375" y="3048595"/>
            <a:ext cx="4371975" cy="358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Menganalisis pengaruh positif </a:t>
            </a:r>
            <a:pPr algn="l" indent="0" marL="0">
              <a:lnSpc>
                <a:spcPts val="1414"/>
              </a:lnSpc>
              <a:buNone/>
            </a:pPr>
            <a:r>
              <a:rPr lang="en-US" sz="975" b="1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Hedonic Motivation</a:t>
            </a:r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(X1) terhadap Impulsive Buying (Y) kartu Pokémon TCG.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828675" y="3521869"/>
            <a:ext cx="552450" cy="208955"/>
          </a:xfrm>
          <a:prstGeom prst="roundRect">
            <a:avLst>
              <a:gd name="adj" fmla="val 27350"/>
            </a:avLst>
          </a:prstGeom>
          <a:solidFill>
            <a:srgbClr val="48CAE4">
              <a:alpha val="20000"/>
            </a:srgbClr>
          </a:solidFill>
          <a:ln w="9525">
            <a:solidFill>
              <a:srgbClr val="48CAE4"/>
            </a:solidFill>
          </a:ln>
        </p:spPr>
        <p:txBody>
          <a:bodyPr wrap="square" lIns="66675" tIns="19050" rIns="66675" bIns="19050" rtlCol="0" anchor="ctr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b="1" dirty="0">
                <a:solidFill>
                  <a:srgbClr val="48CAE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RM/T 2</a:t>
            </a:r>
            <a:endParaRPr lang="en-US" sz="825" dirty="0"/>
          </a:p>
        </p:txBody>
      </p:sp>
      <p:sp>
        <p:nvSpPr>
          <p:cNvPr id="12" name="Text 10"/>
          <p:cNvSpPr/>
          <p:nvPr/>
        </p:nvSpPr>
        <p:spPr>
          <a:xfrm>
            <a:off x="1476375" y="3521869"/>
            <a:ext cx="4371975" cy="358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Menganalisis pengaruh positif </a:t>
            </a:r>
            <a:pPr algn="l" indent="0" marL="0">
              <a:lnSpc>
                <a:spcPts val="1414"/>
              </a:lnSpc>
              <a:buNone/>
            </a:pPr>
            <a:r>
              <a:rPr lang="en-US" sz="975" b="1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Desire for Completeness</a:t>
            </a:r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(X2) terhadap Impulsive Buying (Y) kartu Pokémon TCG.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828675" y="3995142"/>
            <a:ext cx="552450" cy="208955"/>
          </a:xfrm>
          <a:prstGeom prst="roundRect">
            <a:avLst>
              <a:gd name="adj" fmla="val 27350"/>
            </a:avLst>
          </a:prstGeom>
          <a:solidFill>
            <a:srgbClr val="48CAE4">
              <a:alpha val="20000"/>
            </a:srgbClr>
          </a:solidFill>
          <a:ln w="9525">
            <a:solidFill>
              <a:srgbClr val="48CAE4"/>
            </a:solidFill>
          </a:ln>
        </p:spPr>
        <p:txBody>
          <a:bodyPr wrap="square" lIns="66675" tIns="19050" rIns="66675" bIns="19050" rtlCol="0" anchor="ctr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b="1" dirty="0">
                <a:solidFill>
                  <a:srgbClr val="48CAE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RM/T 3</a:t>
            </a:r>
            <a:endParaRPr lang="en-US" sz="825" dirty="0"/>
          </a:p>
        </p:txBody>
      </p:sp>
      <p:sp>
        <p:nvSpPr>
          <p:cNvPr id="14" name="Text 12"/>
          <p:cNvSpPr/>
          <p:nvPr/>
        </p:nvSpPr>
        <p:spPr>
          <a:xfrm>
            <a:off x="1476375" y="3995142"/>
            <a:ext cx="4371975" cy="358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Menganalisis pengaruh positif </a:t>
            </a:r>
            <a:pPr algn="l" indent="0" marL="0">
              <a:lnSpc>
                <a:spcPts val="1414"/>
              </a:lnSpc>
              <a:buNone/>
            </a:pPr>
            <a:r>
              <a:rPr lang="en-US" sz="975" b="1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Speculative Motive</a:t>
            </a:r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(X3) terhadap Impulsive Buying (Y) kartu Pokémon TCG.</a:t>
            </a:r>
            <a:endParaRPr lang="en-US" sz="975" dirty="0"/>
          </a:p>
        </p:txBody>
      </p:sp>
      <p:sp>
        <p:nvSpPr>
          <p:cNvPr id="15" name="Text 13"/>
          <p:cNvSpPr/>
          <p:nvPr/>
        </p:nvSpPr>
        <p:spPr>
          <a:xfrm>
            <a:off x="6210300" y="2448520"/>
            <a:ext cx="5372100" cy="2105620"/>
          </a:xfrm>
          <a:prstGeom prst="roundRect">
            <a:avLst>
              <a:gd name="adj" fmla="val 6333"/>
            </a:avLst>
          </a:prstGeom>
          <a:solidFill>
            <a:srgbClr val="1C2541">
              <a:alpha val="6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429375" y="2929533"/>
            <a:ext cx="4933950" cy="0"/>
          </a:xfrm>
          <a:prstGeom prst="line">
            <a:avLst/>
          </a:prstGeom>
          <a:noFill/>
          <a:ln w="9525">
            <a:solidFill>
              <a:srgbClr val="F4A2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29375" y="2648545"/>
            <a:ext cx="3886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A261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🛡️ Efek Moderasi Memperlemah (Moderation Effects)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9375" y="3048595"/>
            <a:ext cx="552450" cy="208955"/>
          </a:xfrm>
          <a:prstGeom prst="roundRect">
            <a:avLst>
              <a:gd name="adj" fmla="val 27350"/>
            </a:avLst>
          </a:prstGeom>
          <a:solidFill>
            <a:srgbClr val="F4A261">
              <a:alpha val="20000"/>
            </a:srgbClr>
          </a:solidFill>
          <a:ln w="9525">
            <a:solidFill>
              <a:srgbClr val="F4A261"/>
            </a:solidFill>
          </a:ln>
        </p:spPr>
        <p:txBody>
          <a:bodyPr wrap="square" lIns="66675" tIns="19050" rIns="66675" bIns="19050" rtlCol="0" anchor="ctr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b="1" dirty="0">
                <a:solidFill>
                  <a:srgbClr val="F4A26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RM/T 4</a:t>
            </a:r>
            <a:endParaRPr lang="en-US" sz="825" dirty="0"/>
          </a:p>
        </p:txBody>
      </p:sp>
      <p:sp>
        <p:nvSpPr>
          <p:cNvPr id="19" name="Text 17"/>
          <p:cNvSpPr/>
          <p:nvPr/>
        </p:nvSpPr>
        <p:spPr>
          <a:xfrm>
            <a:off x="7077075" y="3048595"/>
            <a:ext cx="4371975" cy="358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Menguji apakah </a:t>
            </a:r>
            <a:pPr algn="l" indent="0" marL="0">
              <a:lnSpc>
                <a:spcPts val="1414"/>
              </a:lnSpc>
              <a:buNone/>
            </a:pPr>
            <a:r>
              <a:rPr lang="en-US" sz="975" b="1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Self-Control</a:t>
            </a:r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(M) memoderasi (memperlemah) pengaruh Hedonic Motivation (X1) terhadap Impulsive Buying (Y).</a:t>
            </a:r>
            <a:endParaRPr lang="en-US" sz="975" dirty="0"/>
          </a:p>
        </p:txBody>
      </p:sp>
      <p:sp>
        <p:nvSpPr>
          <p:cNvPr id="20" name="Text 18"/>
          <p:cNvSpPr/>
          <p:nvPr/>
        </p:nvSpPr>
        <p:spPr>
          <a:xfrm>
            <a:off x="6429375" y="3521869"/>
            <a:ext cx="552450" cy="208955"/>
          </a:xfrm>
          <a:prstGeom prst="roundRect">
            <a:avLst>
              <a:gd name="adj" fmla="val 27350"/>
            </a:avLst>
          </a:prstGeom>
          <a:solidFill>
            <a:srgbClr val="F4A261">
              <a:alpha val="20000"/>
            </a:srgbClr>
          </a:solidFill>
          <a:ln w="9525">
            <a:solidFill>
              <a:srgbClr val="F4A261"/>
            </a:solidFill>
          </a:ln>
        </p:spPr>
        <p:txBody>
          <a:bodyPr wrap="square" lIns="66675" tIns="19050" rIns="66675" bIns="19050" rtlCol="0" anchor="ctr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b="1" dirty="0">
                <a:solidFill>
                  <a:srgbClr val="F4A26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RM/T 5</a:t>
            </a:r>
            <a:endParaRPr lang="en-US" sz="825" dirty="0"/>
          </a:p>
        </p:txBody>
      </p:sp>
      <p:sp>
        <p:nvSpPr>
          <p:cNvPr id="21" name="Text 19"/>
          <p:cNvSpPr/>
          <p:nvPr/>
        </p:nvSpPr>
        <p:spPr>
          <a:xfrm>
            <a:off x="7077075" y="3521869"/>
            <a:ext cx="4371975" cy="358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Menguji apakah </a:t>
            </a:r>
            <a:pPr algn="l" indent="0" marL="0">
              <a:lnSpc>
                <a:spcPts val="1414"/>
              </a:lnSpc>
              <a:buNone/>
            </a:pPr>
            <a:r>
              <a:rPr lang="en-US" sz="975" b="1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Self-Control</a:t>
            </a:r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(M) memoderasi (memperlemah) pengaruh Desire for Completeness (X2) terhadap Impulsive Buying (Y).</a:t>
            </a:r>
            <a:endParaRPr lang="en-US" sz="975" dirty="0"/>
          </a:p>
        </p:txBody>
      </p:sp>
      <p:sp>
        <p:nvSpPr>
          <p:cNvPr id="22" name="Text 20"/>
          <p:cNvSpPr/>
          <p:nvPr/>
        </p:nvSpPr>
        <p:spPr>
          <a:xfrm>
            <a:off x="6429375" y="3995142"/>
            <a:ext cx="552450" cy="208955"/>
          </a:xfrm>
          <a:prstGeom prst="roundRect">
            <a:avLst>
              <a:gd name="adj" fmla="val 27350"/>
            </a:avLst>
          </a:prstGeom>
          <a:solidFill>
            <a:srgbClr val="F4A261">
              <a:alpha val="20000"/>
            </a:srgbClr>
          </a:solidFill>
          <a:ln w="9525">
            <a:solidFill>
              <a:srgbClr val="F4A261"/>
            </a:solidFill>
          </a:ln>
        </p:spPr>
        <p:txBody>
          <a:bodyPr wrap="square" lIns="66675" tIns="19050" rIns="66675" bIns="19050" rtlCol="0" anchor="ctr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b="1" dirty="0">
                <a:solidFill>
                  <a:srgbClr val="F4A26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RM/T 6</a:t>
            </a:r>
            <a:endParaRPr lang="en-US" sz="825" dirty="0"/>
          </a:p>
        </p:txBody>
      </p:sp>
      <p:sp>
        <p:nvSpPr>
          <p:cNvPr id="23" name="Text 21"/>
          <p:cNvSpPr/>
          <p:nvPr/>
        </p:nvSpPr>
        <p:spPr>
          <a:xfrm>
            <a:off x="7077075" y="3995142"/>
            <a:ext cx="4371975" cy="358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Menguji apakah </a:t>
            </a:r>
            <a:pPr algn="l" indent="0" marL="0">
              <a:lnSpc>
                <a:spcPts val="1414"/>
              </a:lnSpc>
              <a:buNone/>
            </a:pPr>
            <a:r>
              <a:rPr lang="en-US" sz="975" b="1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Self-Control</a:t>
            </a:r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(M) memoderasi (memperlemah) pengaruh Speculative Motive (X3) terhadap Impulsive Buying (Y).</a:t>
            </a:r>
            <a:endParaRPr lang="en-US" sz="975" dirty="0"/>
          </a:p>
        </p:txBody>
      </p:sp>
      <p:sp>
        <p:nvSpPr>
          <p:cNvPr id="24" name="Text 22"/>
          <p:cNvSpPr/>
          <p:nvPr/>
        </p:nvSpPr>
        <p:spPr>
          <a:xfrm>
            <a:off x="609600" y="6096000"/>
            <a:ext cx="10972800" cy="342900"/>
          </a:xfrm>
          <a:prstGeom prst="rect">
            <a:avLst/>
          </a:prstGeom>
          <a:solidFill>
            <a:srgbClr val="0B2545">
              <a:alpha val="6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623888" y="6191250"/>
            <a:ext cx="0" cy="152400"/>
          </a:xfrm>
          <a:prstGeom prst="line">
            <a:avLst/>
          </a:prstGeom>
          <a:noFill/>
          <a:ln w="28575">
            <a:solidFill>
              <a:srgbClr val="F4A2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0575" y="6191250"/>
            <a:ext cx="1085221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Ketetapan D15:</a:t>
            </a:r>
            <a:pPr algn="l" indent="0" marL="0">
              <a:buNone/>
            </a:pPr>
            <a:r>
              <a:rPr lang="en-US" sz="938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Seluruh rumusan masalah dan tujuan penelitian dirumuskan secara terarah (direksional) guna menjamin konsistensi matematis dengan pengujian hipotesis regresi MRA.</a:t>
            </a:r>
            <a:endParaRPr lang="en-US" sz="93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81000"/>
            <a:ext cx="74032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F4A2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2 • TINJAUAN PUSTAKA</a:t>
            </a:r>
            <a:endParaRPr lang="en-US" sz="975" dirty="0"/>
          </a:p>
        </p:txBody>
      </p:sp>
      <p:sp>
        <p:nvSpPr>
          <p:cNvPr id="3" name="Text 1"/>
          <p:cNvSpPr/>
          <p:nvPr/>
        </p:nvSpPr>
        <p:spPr>
          <a:xfrm>
            <a:off x="609600" y="571500"/>
            <a:ext cx="7403211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Hirarki Teoretis: Integrasi Grand Theory &amp; Supporting Theories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0953750" y="381000"/>
            <a:ext cx="628650" cy="266700"/>
          </a:xfrm>
          <a:prstGeom prst="roundRect">
            <a:avLst>
              <a:gd name="adj" fmla="val 42857"/>
            </a:avLst>
          </a:prstGeom>
          <a:noFill/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1077575" y="428625"/>
            <a:ext cx="3886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15</a:t>
            </a:r>
            <a:endParaRPr lang="en-US" sz="1050" dirty="0"/>
          </a:p>
        </p:txBody>
      </p:sp>
      <p:pic>
        <p:nvPicPr>
          <p:cNvPr id="6" name="Image 0" descr="C:\Users\arthu\AppData\Local\Temp\html2pptx-f3qyRv\html2pptx-bg-1789997151111-5bd2fd42b891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50" y="3035201"/>
            <a:ext cx="5242768" cy="370849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00100" y="3235226"/>
            <a:ext cx="4290268" cy="0"/>
          </a:xfrm>
          <a:prstGeom prst="line">
            <a:avLst/>
          </a:prstGeom>
          <a:noFill/>
          <a:ln w="19050">
            <a:solidFill>
              <a:srgbClr val="F4A26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267325" y="3454301"/>
            <a:ext cx="0" cy="2679799"/>
          </a:xfrm>
          <a:prstGeom prst="line">
            <a:avLst/>
          </a:prstGeom>
          <a:noFill/>
          <a:ln w="19050">
            <a:solidFill>
              <a:srgbClr val="F4A26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00100" y="6349901"/>
            <a:ext cx="4290268" cy="0"/>
          </a:xfrm>
          <a:prstGeom prst="line">
            <a:avLst/>
          </a:prstGeom>
          <a:noFill/>
          <a:ln w="19050">
            <a:solidFill>
              <a:srgbClr val="F4A26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19125" y="3454301"/>
            <a:ext cx="0" cy="2679799"/>
          </a:xfrm>
          <a:prstGeom prst="line">
            <a:avLst/>
          </a:prstGeom>
          <a:noFill/>
          <a:ln w="19050">
            <a:solidFill>
              <a:srgbClr val="F4A26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19150" y="3787676"/>
            <a:ext cx="433721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600"/>
              </a:spcAft>
              <a:buNone/>
            </a:pPr>
            <a:r>
              <a:rPr lang="en-US" sz="16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Behavioral Finance (Keuangan Perilaku)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819150" y="4130576"/>
            <a:ext cx="433721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975" dirty="0">
                <a:solidFill>
                  <a:srgbClr val="48CA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Shiller (2000), Keynes (1936), Thaler &amp; Shefrin (1981)</a:t>
            </a:r>
            <a:endParaRPr lang="en-US" sz="975" dirty="0"/>
          </a:p>
        </p:txBody>
      </p:sp>
      <p:sp>
        <p:nvSpPr>
          <p:cNvPr id="13" name="Text 10"/>
          <p:cNvSpPr/>
          <p:nvPr/>
        </p:nvSpPr>
        <p:spPr>
          <a:xfrm>
            <a:off x="819150" y="4397276"/>
            <a:ext cx="4337212" cy="797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013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asumsi pasar rasional mutlak. Mengakui bahwa keputusan pembelian kartu koleksi dipengaruhi oleh bias kognitif, ilusi lotre, histeria pasar sekunder, dan konflik internal antara </a:t>
            </a:r>
            <a:pPr algn="l" indent="0" marL="0">
              <a:lnSpc>
                <a:spcPts val="1569"/>
              </a:lnSpc>
              <a:buNone/>
            </a:pPr>
            <a:r>
              <a:rPr lang="en-US" sz="1013" i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</a:t>
            </a:r>
            <a:pPr algn="l" indent="0" marL="0">
              <a:lnSpc>
                <a:spcPts val="1569"/>
              </a:lnSpc>
              <a:buNone/>
            </a:pPr>
            <a:r>
              <a:rPr lang="en-US" sz="1013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(perencana rasional) vs </a:t>
            </a:r>
            <a:pPr algn="l" indent="0" marL="0">
              <a:lnSpc>
                <a:spcPts val="1569"/>
              </a:lnSpc>
              <a:buNone/>
            </a:pPr>
            <a:r>
              <a:rPr lang="en-US" sz="1013" i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Doer</a:t>
            </a:r>
            <a:pPr algn="l" indent="0" marL="0">
              <a:lnSpc>
                <a:spcPts val="1569"/>
              </a:lnSpc>
              <a:buNone/>
            </a:pPr>
            <a:r>
              <a:rPr lang="en-US" sz="1013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(pelaku impulsif).</a:t>
            </a:r>
            <a:endParaRPr lang="en-US" sz="1013" dirty="0"/>
          </a:p>
        </p:txBody>
      </p:sp>
      <p:sp>
        <p:nvSpPr>
          <p:cNvPr id="14" name="Text 11"/>
          <p:cNvSpPr/>
          <p:nvPr/>
        </p:nvSpPr>
        <p:spPr>
          <a:xfrm>
            <a:off x="5509468" y="3225701"/>
            <a:ext cx="6072932" cy="969466"/>
          </a:xfrm>
          <a:prstGeom prst="rect">
            <a:avLst/>
          </a:prstGeom>
          <a:solidFill>
            <a:srgbClr val="1C2541">
              <a:alpha val="6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2"/>
          <p:cNvSpPr/>
          <p:nvPr/>
        </p:nvSpPr>
        <p:spPr>
          <a:xfrm>
            <a:off x="5661868" y="3230463"/>
            <a:ext cx="5768132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581656" y="3340001"/>
            <a:ext cx="0" cy="740866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1868" y="4192488"/>
            <a:ext cx="5768132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528518" y="3340001"/>
            <a:ext cx="0" cy="740866"/>
          </a:xfrm>
          <a:prstGeom prst="line">
            <a:avLst/>
          </a:prstGeom>
          <a:noFill/>
          <a:ln w="38100">
            <a:solidFill>
              <a:srgbClr val="48CAE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99968" y="3349526"/>
            <a:ext cx="583491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25"/>
              </a:spcAft>
              <a:buNone/>
            </a:pPr>
            <a:r>
              <a:rPr lang="en-US" sz="1125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1. Teori Stimulus-Organism-Response (S-O-R)</a:t>
            </a:r>
            <a:endParaRPr lang="en-US" sz="1125" dirty="0"/>
          </a:p>
        </p:txBody>
      </p:sp>
      <p:sp>
        <p:nvSpPr>
          <p:cNvPr id="20" name="Text 17"/>
          <p:cNvSpPr/>
          <p:nvPr/>
        </p:nvSpPr>
        <p:spPr>
          <a:xfrm>
            <a:off x="5699968" y="3559076"/>
            <a:ext cx="58349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63" dirty="0">
                <a:solidFill>
                  <a:srgbClr val="F4A26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Mehrabian &amp; Russell (1974)</a:t>
            </a:r>
            <a:endParaRPr lang="en-US" sz="863" dirty="0"/>
          </a:p>
        </p:txBody>
      </p:sp>
      <p:sp>
        <p:nvSpPr>
          <p:cNvPr id="21" name="Text 18"/>
          <p:cNvSpPr/>
          <p:nvPr/>
        </p:nvSpPr>
        <p:spPr>
          <a:xfrm>
            <a:off x="5699968" y="3740051"/>
            <a:ext cx="5834917" cy="331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Etalase kasir dan kilauan kemasan foil menjadi stimulus eksternal (S) yang membangkitkan emosi hedonis (O) menuju tindakan pembelian impulsif spontan (R).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509468" y="4309467"/>
            <a:ext cx="6072932" cy="969466"/>
          </a:xfrm>
          <a:prstGeom prst="rect">
            <a:avLst/>
          </a:prstGeom>
          <a:solidFill>
            <a:srgbClr val="1C2541">
              <a:alpha val="6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0"/>
          <p:cNvSpPr/>
          <p:nvPr/>
        </p:nvSpPr>
        <p:spPr>
          <a:xfrm>
            <a:off x="5661868" y="4314230"/>
            <a:ext cx="5768132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1581656" y="4423767"/>
            <a:ext cx="0" cy="740866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661868" y="5276255"/>
            <a:ext cx="5768132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528518" y="4423767"/>
            <a:ext cx="0" cy="740866"/>
          </a:xfrm>
          <a:prstGeom prst="line">
            <a:avLst/>
          </a:prstGeom>
          <a:noFill/>
          <a:ln w="38100">
            <a:solidFill>
              <a:srgbClr val="48CAE4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699968" y="4433292"/>
            <a:ext cx="583491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25"/>
              </a:spcAft>
              <a:buNone/>
            </a:pPr>
            <a:r>
              <a:rPr lang="en-US" sz="1125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2. Psikologi Kolektor &amp; "The Completing the Set Effect"</a:t>
            </a:r>
            <a:endParaRPr lang="en-US" sz="1125" dirty="0"/>
          </a:p>
        </p:txBody>
      </p:sp>
      <p:sp>
        <p:nvSpPr>
          <p:cNvPr id="28" name="Text 25"/>
          <p:cNvSpPr/>
          <p:nvPr/>
        </p:nvSpPr>
        <p:spPr>
          <a:xfrm>
            <a:off x="5699968" y="4642842"/>
            <a:ext cx="58349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63" dirty="0">
                <a:solidFill>
                  <a:srgbClr val="F4A26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Gao et al. (2014), Barasz et al. (2017), Zeigarnik (1927)</a:t>
            </a:r>
            <a:endParaRPr lang="en-US" sz="863" dirty="0"/>
          </a:p>
        </p:txBody>
      </p:sp>
      <p:sp>
        <p:nvSpPr>
          <p:cNvPr id="29" name="Text 26"/>
          <p:cNvSpPr/>
          <p:nvPr/>
        </p:nvSpPr>
        <p:spPr>
          <a:xfrm>
            <a:off x="5699968" y="4823817"/>
            <a:ext cx="5834917" cy="331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Slot album koleksi yang belum terisi memicu ketegangan psikologis (Zeigarnik Effect). Konsumen terdorong terus membeli kemasan demi menutup ruang kosong (Pseudo-Set Framing).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509468" y="5393234"/>
            <a:ext cx="6072932" cy="969466"/>
          </a:xfrm>
          <a:prstGeom prst="rect">
            <a:avLst/>
          </a:prstGeom>
          <a:solidFill>
            <a:srgbClr val="1C2541">
              <a:alpha val="6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8"/>
          <p:cNvSpPr/>
          <p:nvPr/>
        </p:nvSpPr>
        <p:spPr>
          <a:xfrm>
            <a:off x="5661868" y="5397996"/>
            <a:ext cx="5768132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1581656" y="5507534"/>
            <a:ext cx="0" cy="740866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661868" y="6360021"/>
            <a:ext cx="5768132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528518" y="5507534"/>
            <a:ext cx="0" cy="740866"/>
          </a:xfrm>
          <a:prstGeom prst="line">
            <a:avLst/>
          </a:prstGeom>
          <a:noFill/>
          <a:ln w="38100">
            <a:solidFill>
              <a:srgbClr val="48CAE4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699968" y="5517059"/>
            <a:ext cx="583491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25"/>
              </a:spcAft>
              <a:buNone/>
            </a:pPr>
            <a:r>
              <a:rPr lang="en-US" sz="1125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3. Teori Regulasi Diri (Self-Regulation Theory)</a:t>
            </a:r>
            <a:endParaRPr lang="en-US" sz="1125" dirty="0"/>
          </a:p>
        </p:txBody>
      </p:sp>
      <p:sp>
        <p:nvSpPr>
          <p:cNvPr id="36" name="Text 33"/>
          <p:cNvSpPr/>
          <p:nvPr/>
        </p:nvSpPr>
        <p:spPr>
          <a:xfrm>
            <a:off x="5699968" y="5726609"/>
            <a:ext cx="58349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63" dirty="0">
                <a:solidFill>
                  <a:srgbClr val="F4A26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Baumeister (2002), Vohs &amp; Faber (2007), Tangney et al. (2004)</a:t>
            </a:r>
            <a:endParaRPr lang="en-US" sz="863" dirty="0"/>
          </a:p>
        </p:txBody>
      </p:sp>
      <p:sp>
        <p:nvSpPr>
          <p:cNvPr id="37" name="Text 34"/>
          <p:cNvSpPr/>
          <p:nvPr/>
        </p:nvSpPr>
        <p:spPr>
          <a:xfrm>
            <a:off x="5699968" y="5907584"/>
            <a:ext cx="5834917" cy="331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Kapasitas kontrol diri memfungsikan rem volisional untuk menunda kepuasan instan (delay of gratification), memoderasi dorongan emosional belanja.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361950"/>
            <a:ext cx="541153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48CAE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BAB 2 • KERANGKA KONSEPTUAL</a:t>
            </a:r>
            <a:endParaRPr lang="en-US" sz="975" dirty="0"/>
          </a:p>
        </p:txBody>
      </p:sp>
      <p:sp>
        <p:nvSpPr>
          <p:cNvPr id="3" name="Text 1"/>
          <p:cNvSpPr/>
          <p:nvPr/>
        </p:nvSpPr>
        <p:spPr>
          <a:xfrm>
            <a:off x="571500" y="552450"/>
            <a:ext cx="5411534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Model Penelitian &amp; 6 Hipotesis Asosiatif (MRA)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0982325" y="361950"/>
            <a:ext cx="638175" cy="266700"/>
          </a:xfrm>
          <a:prstGeom prst="roundRect">
            <a:avLst>
              <a:gd name="adj" fmla="val 42857"/>
            </a:avLst>
          </a:prstGeom>
          <a:noFill/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1106150" y="409575"/>
            <a:ext cx="3983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08 / 15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71500" y="1916460"/>
            <a:ext cx="11049000" cy="3352800"/>
          </a:xfrm>
          <a:prstGeom prst="roundRect">
            <a:avLst>
              <a:gd name="adj" fmla="val 4545"/>
            </a:avLst>
          </a:prstGeom>
          <a:solidFill>
            <a:srgbClr val="1C2541">
              <a:alpha val="5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5825" y="2154585"/>
            <a:ext cx="4182963" cy="581025"/>
          </a:xfrm>
          <a:prstGeom prst="roundRect">
            <a:avLst>
              <a:gd name="adj" fmla="val 16393"/>
            </a:avLst>
          </a:prstGeom>
          <a:solidFill>
            <a:srgbClr val="0B2545">
              <a:alpha val="85000"/>
            </a:srgbClr>
          </a:solidFill>
          <a:ln w="9525">
            <a:solidFill>
              <a:srgbClr val="48CAE4"/>
            </a:solidFill>
          </a:ln>
          <a:effectLst>
            <a:outerShdw sx="100000" sy="100000" kx="0" ky="0" algn="bl" rotWithShape="0" blurRad="142875" dist="38100" dir="540000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047750" y="2278410"/>
            <a:ext cx="393629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Hedonic Motivation (X1)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047750" y="2468910"/>
            <a:ext cx="39362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50"/>
              </a:spcBef>
              <a:buNone/>
            </a:pPr>
            <a:r>
              <a:rPr lang="en-US" sz="863" dirty="0">
                <a:solidFill>
                  <a:srgbClr val="A0AEC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Kesenangan &amp; letupan dopamin belanja</a:t>
            </a:r>
            <a:endParaRPr lang="en-US" sz="863" dirty="0"/>
          </a:p>
        </p:txBody>
      </p:sp>
      <p:sp>
        <p:nvSpPr>
          <p:cNvPr id="10" name="Text 8"/>
          <p:cNvSpPr/>
          <p:nvPr/>
        </p:nvSpPr>
        <p:spPr>
          <a:xfrm>
            <a:off x="885825" y="2868960"/>
            <a:ext cx="4182963" cy="581025"/>
          </a:xfrm>
          <a:prstGeom prst="roundRect">
            <a:avLst>
              <a:gd name="adj" fmla="val 16393"/>
            </a:avLst>
          </a:prstGeom>
          <a:solidFill>
            <a:srgbClr val="0B2545">
              <a:alpha val="85000"/>
            </a:srgbClr>
          </a:solidFill>
          <a:ln w="9525">
            <a:solidFill>
              <a:srgbClr val="48CAE4"/>
            </a:solidFill>
          </a:ln>
          <a:effectLst>
            <a:outerShdw sx="100000" sy="100000" kx="0" ky="0" algn="bl" rotWithShape="0" blurRad="142875" dist="38100" dir="540000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47750" y="2992785"/>
            <a:ext cx="393629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Desire for Completeness (X2)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47750" y="3183285"/>
            <a:ext cx="39362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50"/>
              </a:spcBef>
              <a:buNone/>
            </a:pPr>
            <a:r>
              <a:rPr lang="en-US" sz="863" dirty="0">
                <a:solidFill>
                  <a:srgbClr val="A0AEC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Hasrat menutup slot album kosong</a:t>
            </a:r>
            <a:endParaRPr lang="en-US" sz="863" dirty="0"/>
          </a:p>
        </p:txBody>
      </p:sp>
      <p:sp>
        <p:nvSpPr>
          <p:cNvPr id="13" name="Text 11"/>
          <p:cNvSpPr/>
          <p:nvPr/>
        </p:nvSpPr>
        <p:spPr>
          <a:xfrm>
            <a:off x="885825" y="3583335"/>
            <a:ext cx="4182963" cy="581025"/>
          </a:xfrm>
          <a:prstGeom prst="roundRect">
            <a:avLst>
              <a:gd name="adj" fmla="val 16393"/>
            </a:avLst>
          </a:prstGeom>
          <a:solidFill>
            <a:srgbClr val="0B2545">
              <a:alpha val="85000"/>
            </a:srgbClr>
          </a:solidFill>
          <a:ln w="9525">
            <a:solidFill>
              <a:srgbClr val="48CAE4"/>
            </a:solidFill>
          </a:ln>
          <a:effectLst>
            <a:outerShdw sx="100000" sy="100000" kx="0" ky="0" algn="bl" rotWithShape="0" blurRad="142875" dist="38100" dir="540000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47750" y="3707160"/>
            <a:ext cx="393629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Speculative Motive (X3)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047750" y="3897660"/>
            <a:ext cx="39362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50"/>
              </a:spcBef>
              <a:buNone/>
            </a:pPr>
            <a:r>
              <a:rPr lang="en-US" sz="863" dirty="0">
                <a:solidFill>
                  <a:srgbClr val="A0AEC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Ekspektasi capital gain kartu langka</a:t>
            </a:r>
            <a:endParaRPr lang="en-US" sz="863" dirty="0"/>
          </a:p>
        </p:txBody>
      </p:sp>
      <p:sp>
        <p:nvSpPr>
          <p:cNvPr id="16" name="Text 14"/>
          <p:cNvSpPr/>
          <p:nvPr/>
        </p:nvSpPr>
        <p:spPr>
          <a:xfrm>
            <a:off x="5700564" y="2592735"/>
            <a:ext cx="790575" cy="238125"/>
          </a:xfrm>
          <a:prstGeom prst="roundRect">
            <a:avLst>
              <a:gd name="adj" fmla="val 24000"/>
            </a:avLst>
          </a:prstGeom>
          <a:solidFill>
            <a:srgbClr val="48CAE4">
              <a:alpha val="15000"/>
            </a:srgbClr>
          </a:solidFill>
          <a:ln w="9525">
            <a:solidFill>
              <a:srgbClr val="48CAE4"/>
            </a:solidFill>
          </a:ln>
        </p:spPr>
        <p:txBody>
          <a:bodyPr wrap="square" lIns="95250" tIns="38100" rIns="95250" bIns="38100" rtlCol="0" anchor="ctr"/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48CAE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H1 (+) ➔</a:t>
            </a:r>
            <a:endParaRPr lang="en-US" sz="863" dirty="0"/>
          </a:p>
        </p:txBody>
      </p:sp>
      <p:sp>
        <p:nvSpPr>
          <p:cNvPr id="17" name="Text 15"/>
          <p:cNvSpPr/>
          <p:nvPr/>
        </p:nvSpPr>
        <p:spPr>
          <a:xfrm>
            <a:off x="5700564" y="3040410"/>
            <a:ext cx="790575" cy="238125"/>
          </a:xfrm>
          <a:prstGeom prst="roundRect">
            <a:avLst>
              <a:gd name="adj" fmla="val 24000"/>
            </a:avLst>
          </a:prstGeom>
          <a:solidFill>
            <a:srgbClr val="48CAE4">
              <a:alpha val="15000"/>
            </a:srgbClr>
          </a:solidFill>
          <a:ln w="9525">
            <a:solidFill>
              <a:srgbClr val="48CAE4"/>
            </a:solidFill>
          </a:ln>
        </p:spPr>
        <p:txBody>
          <a:bodyPr wrap="square" lIns="95250" tIns="38100" rIns="95250" bIns="38100" rtlCol="0" anchor="ctr"/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48CAE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H2 (+) ➔</a:t>
            </a:r>
            <a:endParaRPr lang="en-US" sz="863" dirty="0"/>
          </a:p>
        </p:txBody>
      </p:sp>
      <p:sp>
        <p:nvSpPr>
          <p:cNvPr id="18" name="Text 16"/>
          <p:cNvSpPr/>
          <p:nvPr/>
        </p:nvSpPr>
        <p:spPr>
          <a:xfrm>
            <a:off x="5700564" y="3488085"/>
            <a:ext cx="790575" cy="238125"/>
          </a:xfrm>
          <a:prstGeom prst="roundRect">
            <a:avLst>
              <a:gd name="adj" fmla="val 24000"/>
            </a:avLst>
          </a:prstGeom>
          <a:solidFill>
            <a:srgbClr val="48CAE4">
              <a:alpha val="15000"/>
            </a:srgbClr>
          </a:solidFill>
          <a:ln w="9525">
            <a:solidFill>
              <a:srgbClr val="48CAE4"/>
            </a:solidFill>
          </a:ln>
        </p:spPr>
        <p:txBody>
          <a:bodyPr wrap="square" lIns="95250" tIns="38100" rIns="95250" bIns="38100" rtlCol="0" anchor="ctr"/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48CAE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H3 (+) ➔</a:t>
            </a:r>
            <a:endParaRPr lang="en-US" sz="863" dirty="0"/>
          </a:p>
        </p:txBody>
      </p:sp>
      <p:pic>
        <p:nvPicPr>
          <p:cNvPr id="19" name="Image 0" descr="C:\Users\arthu\AppData\Local\Temp\html2pptx-zTsvaR\html2pptx-bg-1789997153367-460df0095f77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1020" y="2468910"/>
            <a:ext cx="3067050" cy="1533525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8147745" y="2640360"/>
            <a:ext cx="2133600" cy="0"/>
          </a:xfrm>
          <a:prstGeom prst="line">
            <a:avLst/>
          </a:prstGeom>
          <a:noFill/>
          <a:ln w="19050">
            <a:solidFill>
              <a:srgbClr val="F4A26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500420" y="2840385"/>
            <a:ext cx="0" cy="638175"/>
          </a:xfrm>
          <a:prstGeom prst="line">
            <a:avLst/>
          </a:prstGeom>
          <a:noFill/>
          <a:ln w="19050">
            <a:solidFill>
              <a:srgbClr val="F4A26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147745" y="3678585"/>
            <a:ext cx="2133600" cy="0"/>
          </a:xfrm>
          <a:prstGeom prst="line">
            <a:avLst/>
          </a:prstGeom>
          <a:noFill/>
          <a:ln w="19050">
            <a:solidFill>
              <a:srgbClr val="F4A26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928670" y="2840385"/>
            <a:ext cx="0" cy="638175"/>
          </a:xfrm>
          <a:prstGeom prst="line">
            <a:avLst/>
          </a:prstGeom>
          <a:noFill/>
          <a:ln w="19050">
            <a:solidFill>
              <a:srgbClr val="F4A26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145840" y="2859435"/>
            <a:ext cx="21374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A26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VARIABEL DEPENDEN (Y)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145840" y="3040410"/>
            <a:ext cx="213741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Impulsive Buying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145840" y="3316635"/>
            <a:ext cx="21374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Pembelian Spontan Booster Pack Fisik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885825" y="4492972"/>
            <a:ext cx="104203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dash"/>
          </a:ln>
        </p:spPr>
      </p:sp>
      <p:sp>
        <p:nvSpPr>
          <p:cNvPr id="28" name="Text 25"/>
          <p:cNvSpPr/>
          <p:nvPr/>
        </p:nvSpPr>
        <p:spPr>
          <a:xfrm>
            <a:off x="2528888" y="4631085"/>
            <a:ext cx="7134225" cy="400050"/>
          </a:xfrm>
          <a:prstGeom prst="roundRect">
            <a:avLst>
              <a:gd name="adj" fmla="val 23810"/>
            </a:avLst>
          </a:prstGeom>
          <a:solidFill>
            <a:srgbClr val="E63946">
              <a:alpha val="15000"/>
            </a:srgbClr>
          </a:solidFill>
          <a:ln w="9525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2767013" y="4745385"/>
            <a:ext cx="309924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Variabel Moderasi (M): Self-Control (Kontrol Diri)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5957888" y="4735860"/>
            <a:ext cx="1104900" cy="190500"/>
          </a:xfrm>
          <a:prstGeom prst="roundRect">
            <a:avLst>
              <a:gd name="adj" fmla="val 20000"/>
            </a:avLst>
          </a:prstGeom>
          <a:solidFill>
            <a:srgbClr val="E63946">
              <a:alpha val="20000"/>
            </a:srgbClr>
          </a:solidFill>
          <a:ln w="9525">
            <a:solidFill>
              <a:srgbClr val="E63946"/>
            </a:solidFill>
          </a:ln>
        </p:spPr>
        <p:txBody>
          <a:bodyPr wrap="square" lIns="76200" tIns="19050" rIns="76200" bIns="19050" rtlCol="0" anchor="ctr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E6394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H4: Mod X1 (-)</a:t>
            </a:r>
            <a:endParaRPr lang="en-US" sz="825" dirty="0"/>
          </a:p>
        </p:txBody>
      </p:sp>
      <p:sp>
        <p:nvSpPr>
          <p:cNvPr id="31" name="Text 28"/>
          <p:cNvSpPr/>
          <p:nvPr/>
        </p:nvSpPr>
        <p:spPr>
          <a:xfrm>
            <a:off x="7138988" y="4735860"/>
            <a:ext cx="1104900" cy="190500"/>
          </a:xfrm>
          <a:prstGeom prst="roundRect">
            <a:avLst>
              <a:gd name="adj" fmla="val 20000"/>
            </a:avLst>
          </a:prstGeom>
          <a:solidFill>
            <a:srgbClr val="E63946">
              <a:alpha val="20000"/>
            </a:srgbClr>
          </a:solidFill>
          <a:ln w="9525">
            <a:solidFill>
              <a:srgbClr val="E63946"/>
            </a:solidFill>
          </a:ln>
        </p:spPr>
        <p:txBody>
          <a:bodyPr wrap="square" lIns="76200" tIns="19050" rIns="76200" bIns="19050" rtlCol="0" anchor="ctr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E6394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H5: Mod X2 (-)</a:t>
            </a:r>
            <a:endParaRPr lang="en-US" sz="825" dirty="0"/>
          </a:p>
        </p:txBody>
      </p:sp>
      <p:sp>
        <p:nvSpPr>
          <p:cNvPr id="32" name="Text 29"/>
          <p:cNvSpPr/>
          <p:nvPr/>
        </p:nvSpPr>
        <p:spPr>
          <a:xfrm>
            <a:off x="8320088" y="4735860"/>
            <a:ext cx="1104900" cy="190500"/>
          </a:xfrm>
          <a:prstGeom prst="roundRect">
            <a:avLst>
              <a:gd name="adj" fmla="val 20000"/>
            </a:avLst>
          </a:prstGeom>
          <a:solidFill>
            <a:srgbClr val="E63946">
              <a:alpha val="20000"/>
            </a:srgbClr>
          </a:solidFill>
          <a:ln w="9525">
            <a:solidFill>
              <a:srgbClr val="E63946"/>
            </a:solidFill>
          </a:ln>
        </p:spPr>
        <p:txBody>
          <a:bodyPr wrap="square" lIns="76200" tIns="19050" rIns="76200" bIns="19050" rtlCol="0" anchor="ctr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E6394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H6: Mod X3 (-)</a:t>
            </a:r>
            <a:endParaRPr lang="en-US" sz="825" dirty="0"/>
          </a:p>
        </p:txBody>
      </p:sp>
      <p:sp>
        <p:nvSpPr>
          <p:cNvPr id="33" name="Text 30"/>
          <p:cNvSpPr/>
          <p:nvPr/>
        </p:nvSpPr>
        <p:spPr>
          <a:xfrm>
            <a:off x="461010" y="6336060"/>
            <a:ext cx="1126998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Arah Pengujian:</a:t>
            </a:r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H1–H3 menguji pengaruh positif langsung; H4–H6 menguji efek moderasi </a:t>
            </a:r>
            <a:pPr algn="ctr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memperlemah (-)</a:t>
            </a:r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oleh kontrol diri konsumen.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19100"/>
            <a:ext cx="600417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F4A26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BAB 1 &amp; 2 • DIFERENSIASI RISET</a:t>
            </a:r>
            <a:endParaRPr lang="en-US" sz="975" dirty="0"/>
          </a:p>
        </p:txBody>
      </p:sp>
      <p:sp>
        <p:nvSpPr>
          <p:cNvPr id="3" name="Text 1"/>
          <p:cNvSpPr/>
          <p:nvPr/>
        </p:nvSpPr>
        <p:spPr>
          <a:xfrm>
            <a:off x="609600" y="609600"/>
            <a:ext cx="6004179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3 Pilar Kebaruan Ilmiah (Novelty) Penelitian Skripsi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0944225" y="419100"/>
            <a:ext cx="638175" cy="266700"/>
          </a:xfrm>
          <a:prstGeom prst="roundRect">
            <a:avLst>
              <a:gd name="adj" fmla="val 42857"/>
            </a:avLst>
          </a:prstGeom>
          <a:noFill/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1068050" y="466725"/>
            <a:ext cx="3983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09 / 15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09600" y="2169021"/>
            <a:ext cx="3505200" cy="2597944"/>
          </a:xfrm>
          <a:prstGeom prst="roundRect">
            <a:avLst>
              <a:gd name="adj" fmla="val 5133"/>
            </a:avLst>
          </a:prstGeom>
          <a:solidFill>
            <a:srgbClr val="1C2541">
              <a:alpha val="65000"/>
            </a:srgbClr>
          </a:solidFill>
          <a:ln/>
          <a:effectLst>
            <a:outerShdw sx="100000" sy="100000" kx="0" ky="0" algn="bl" rotWithShape="0" blurRad="238125" dist="95250" dir="5400000">
              <a:srgbClr val="00000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800100" y="2188071"/>
            <a:ext cx="3124200" cy="0"/>
          </a:xfrm>
          <a:prstGeom prst="line">
            <a:avLst/>
          </a:prstGeom>
          <a:noFill/>
          <a:ln w="38100">
            <a:solidFill>
              <a:srgbClr val="F4A2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0038" y="2397621"/>
            <a:ext cx="0" cy="2140744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0100" y="4764584"/>
            <a:ext cx="31242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4363" y="2397621"/>
            <a:ext cx="0" cy="2140744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9625" y="2435721"/>
            <a:ext cx="3167253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50"/>
              </a:spcAft>
              <a:buNone/>
            </a:pPr>
            <a:r>
              <a:rPr lang="en-US" sz="2100" b="1" dirty="0">
                <a:solidFill>
                  <a:srgbClr val="F4A261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01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809625" y="2826246"/>
            <a:ext cx="3167253" cy="4208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spcAft>
                <a:spcPts val="900"/>
              </a:spcAft>
              <a:buNone/>
            </a:pPr>
            <a:r>
              <a:rPr lang="en-US" sz="1275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Objek Komoditas Baru &amp; Spesifik (TCG Fisik)</a:t>
            </a:r>
            <a:endParaRPr lang="en-US" sz="1275" dirty="0"/>
          </a:p>
        </p:txBody>
      </p:sp>
      <p:sp>
        <p:nvSpPr>
          <p:cNvPr id="13" name="Text 11"/>
          <p:cNvSpPr/>
          <p:nvPr/>
        </p:nvSpPr>
        <p:spPr>
          <a:xfrm>
            <a:off x="809625" y="3361432"/>
            <a:ext cx="3167253" cy="7673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975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Mayoritas riset terdahulu meneliti busana (fashion) atau e-commerce generik. Riset ini meneliti kartu fisik koleksi dengan mekanisme blind box berhadiah acak di etalase minimarket.</a:t>
            </a:r>
            <a:endParaRPr lang="en-US" sz="975" dirty="0"/>
          </a:p>
        </p:txBody>
      </p:sp>
      <p:sp>
        <p:nvSpPr>
          <p:cNvPr id="14" name="Shape 12"/>
          <p:cNvSpPr/>
          <p:nvPr/>
        </p:nvSpPr>
        <p:spPr>
          <a:xfrm>
            <a:off x="809625" y="4266902"/>
            <a:ext cx="31051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809625" y="4385965"/>
            <a:ext cx="316725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8CAE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Diferensiasi: Fenomena Dopamin Pack Opening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343400" y="2169021"/>
            <a:ext cx="3505200" cy="2597944"/>
          </a:xfrm>
          <a:prstGeom prst="roundRect">
            <a:avLst>
              <a:gd name="adj" fmla="val 5133"/>
            </a:avLst>
          </a:prstGeom>
          <a:solidFill>
            <a:srgbClr val="1C2541">
              <a:alpha val="65000"/>
            </a:srgbClr>
          </a:solidFill>
          <a:ln/>
          <a:effectLst>
            <a:outerShdw sx="100000" sy="100000" kx="0" ky="0" algn="bl" rotWithShape="0" blurRad="238125" dist="95250" dir="5400000">
              <a:srgbClr val="00000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533900" y="2188071"/>
            <a:ext cx="3124200" cy="0"/>
          </a:xfrm>
          <a:prstGeom prst="line">
            <a:avLst/>
          </a:prstGeom>
          <a:noFill/>
          <a:ln w="38100">
            <a:solidFill>
              <a:srgbClr val="F4A26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43838" y="2397621"/>
            <a:ext cx="0" cy="2140744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33900" y="4764584"/>
            <a:ext cx="31242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48163" y="2397621"/>
            <a:ext cx="0" cy="2140744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43425" y="2435721"/>
            <a:ext cx="3167253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50"/>
              </a:spcAft>
              <a:buNone/>
            </a:pPr>
            <a:r>
              <a:rPr lang="en-US" sz="2100" b="1" dirty="0">
                <a:solidFill>
                  <a:srgbClr val="F4A261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02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4543425" y="2826246"/>
            <a:ext cx="3167253" cy="210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spcAft>
                <a:spcPts val="900"/>
              </a:spcAft>
              <a:buNone/>
            </a:pPr>
            <a:r>
              <a:rPr lang="en-US" sz="1275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Integrasi 3 Matra Anteseden Perilaku</a:t>
            </a:r>
            <a:endParaRPr lang="en-US" sz="1275" dirty="0"/>
          </a:p>
        </p:txBody>
      </p:sp>
      <p:sp>
        <p:nvSpPr>
          <p:cNvPr id="23" name="Text 21"/>
          <p:cNvSpPr/>
          <p:nvPr/>
        </p:nvSpPr>
        <p:spPr>
          <a:xfrm>
            <a:off x="4543425" y="3150989"/>
            <a:ext cx="3167253" cy="7673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975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Memadukan faktor hedonis emosional (X1), bias kognitif psikologi kolektor (X2: Desire for Completeness), dan motif pasar spekulatif finansial (X3: Speculative Motive).</a:t>
            </a:r>
            <a:endParaRPr lang="en-US" sz="975" dirty="0"/>
          </a:p>
        </p:txBody>
      </p:sp>
      <p:sp>
        <p:nvSpPr>
          <p:cNvPr id="24" name="Shape 22"/>
          <p:cNvSpPr/>
          <p:nvPr/>
        </p:nvSpPr>
        <p:spPr>
          <a:xfrm>
            <a:off x="4543425" y="4266902"/>
            <a:ext cx="31051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4543425" y="4385965"/>
            <a:ext cx="316725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8CAE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Diferensiasi: Model Perilaku Komprehensif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077200" y="2169021"/>
            <a:ext cx="3505200" cy="2597944"/>
          </a:xfrm>
          <a:prstGeom prst="roundRect">
            <a:avLst>
              <a:gd name="adj" fmla="val 5133"/>
            </a:avLst>
          </a:prstGeom>
          <a:solidFill>
            <a:srgbClr val="1C2541">
              <a:alpha val="65000"/>
            </a:srgbClr>
          </a:solidFill>
          <a:ln/>
          <a:effectLst>
            <a:outerShdw sx="100000" sy="100000" kx="0" ky="0" algn="bl" rotWithShape="0" blurRad="238125" dist="95250" dir="5400000">
              <a:srgbClr val="00000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8267700" y="2188071"/>
            <a:ext cx="3124200" cy="0"/>
          </a:xfrm>
          <a:prstGeom prst="line">
            <a:avLst/>
          </a:prstGeom>
          <a:noFill/>
          <a:ln w="38100">
            <a:solidFill>
              <a:srgbClr val="F4A26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577638" y="2397621"/>
            <a:ext cx="0" cy="2140744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67700" y="4764584"/>
            <a:ext cx="31242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81963" y="2397621"/>
            <a:ext cx="0" cy="2140744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77225" y="2435721"/>
            <a:ext cx="3167253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50"/>
              </a:spcAft>
              <a:buNone/>
            </a:pPr>
            <a:r>
              <a:rPr lang="en-US" sz="2100" b="1" dirty="0">
                <a:solidFill>
                  <a:srgbClr val="F4A261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03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8277225" y="2826246"/>
            <a:ext cx="3167253" cy="210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spcAft>
                <a:spcPts val="900"/>
              </a:spcAft>
              <a:buNone/>
            </a:pPr>
            <a:r>
              <a:rPr lang="en-US" sz="1275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Fungsi Rem Volisional Self-Control (M)</a:t>
            </a:r>
            <a:endParaRPr lang="en-US" sz="1275" dirty="0"/>
          </a:p>
        </p:txBody>
      </p:sp>
      <p:sp>
        <p:nvSpPr>
          <p:cNvPr id="33" name="Text 31"/>
          <p:cNvSpPr/>
          <p:nvPr/>
        </p:nvSpPr>
        <p:spPr>
          <a:xfrm>
            <a:off x="8277225" y="3150989"/>
            <a:ext cx="3167253" cy="7673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975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Menguji kapasitas kontrol diri sebagai rem eksekutif yang memperlemah dorongan impulsif, membedah ambang batas ego depletion saat konsumen berhadapan dengan kasir ritel.</a:t>
            </a:r>
            <a:endParaRPr lang="en-US" sz="975" dirty="0"/>
          </a:p>
        </p:txBody>
      </p:sp>
      <p:sp>
        <p:nvSpPr>
          <p:cNvPr id="34" name="Shape 32"/>
          <p:cNvSpPr/>
          <p:nvPr/>
        </p:nvSpPr>
        <p:spPr>
          <a:xfrm>
            <a:off x="8277225" y="4266902"/>
            <a:ext cx="31051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8277225" y="4385965"/>
            <a:ext cx="316725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8CAE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Diferensiasi: Pengujian Moderasi Hierarkis MRA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9600" y="6029325"/>
            <a:ext cx="10972800" cy="409575"/>
          </a:xfrm>
          <a:prstGeom prst="roundRect">
            <a:avLst>
              <a:gd name="adj" fmla="val 23256"/>
            </a:avLst>
          </a:prstGeom>
          <a:solidFill>
            <a:srgbClr val="0B2545">
              <a:alpha val="70000"/>
            </a:srgbClr>
          </a:solidFill>
          <a:ln w="9525">
            <a:solidFill>
              <a:srgbClr val="48CAE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703898" y="6153150"/>
            <a:ext cx="107842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Kontribusi Akademik:</a:t>
            </a:r>
            <a:pPr algn="ctr" indent="0" marL="0">
              <a:buNone/>
            </a:pPr>
            <a:r>
              <a:rPr lang="en-US" sz="975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Memberikan kebaruan empiris bagi literatur Manajemen Keuangan FEB UKRIDA dalam ranah </a:t>
            </a:r>
            <a:pPr algn="ctr" indent="0" marL="0">
              <a:buNone/>
            </a:pPr>
            <a:r>
              <a:rPr lang="en-US" sz="975" i="1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Behavioral Finance</a:t>
            </a:r>
            <a:pPr algn="ctr" indent="0" marL="0">
              <a:buNone/>
            </a:pPr>
            <a:r>
              <a:rPr lang="en-US" sz="975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pada pasar aset alternatif.</a:t>
            </a:r>
            <a:endParaRPr lang="en-US" sz="97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381000"/>
            <a:ext cx="607218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48CA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3 • PROSEDUR PENELITIAN</a:t>
            </a:r>
            <a:endParaRPr lang="en-US" sz="975" dirty="0"/>
          </a:p>
        </p:txBody>
      </p:sp>
      <p:sp>
        <p:nvSpPr>
          <p:cNvPr id="3" name="Text 1"/>
          <p:cNvSpPr/>
          <p:nvPr/>
        </p:nvSpPr>
        <p:spPr>
          <a:xfrm>
            <a:off x="571500" y="571500"/>
            <a:ext cx="6072188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Desain Penelitian, Kriteria Inklusi, &amp; Ukuran Sampel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1010900" y="381000"/>
            <a:ext cx="609600" cy="266700"/>
          </a:xfrm>
          <a:prstGeom prst="roundRect">
            <a:avLst>
              <a:gd name="adj" fmla="val 42857"/>
            </a:avLst>
          </a:prstGeom>
          <a:noFill/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1134725" y="428625"/>
            <a:ext cx="36918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71500" y="2235696"/>
            <a:ext cx="5951190" cy="2540794"/>
          </a:xfrm>
          <a:prstGeom prst="roundRect">
            <a:avLst>
              <a:gd name="adj" fmla="val 5248"/>
            </a:avLst>
          </a:prstGeom>
          <a:solidFill>
            <a:srgbClr val="1C2541">
              <a:alpha val="6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790575" y="2716709"/>
            <a:ext cx="5513040" cy="0"/>
          </a:xfrm>
          <a:prstGeom prst="line">
            <a:avLst/>
          </a:prstGeom>
          <a:noFill/>
          <a:ln w="9525">
            <a:solidFill>
              <a:srgbClr val="F4A2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0575" y="2454771"/>
            <a:ext cx="562330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A2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Desain &amp; Kriteria Inklusi Purposive Sampling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90575" y="2854821"/>
            <a:ext cx="838200" cy="219075"/>
          </a:xfrm>
          <a:prstGeom prst="roundRect">
            <a:avLst>
              <a:gd name="adj" fmla="val 26087"/>
            </a:avLst>
          </a:prstGeom>
          <a:solidFill>
            <a:srgbClr val="48CAE4">
              <a:alpha val="20000"/>
            </a:srgbClr>
          </a:solidFill>
          <a:ln w="9525">
            <a:solidFill>
              <a:srgbClr val="48CAE4"/>
            </a:solidFill>
          </a:ln>
        </p:spPr>
        <p:txBody>
          <a:bodyPr wrap="square" lIns="76200" tIns="28575" rIns="76200" bIns="28575" rtlCol="0" anchor="ctr"/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48CA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Kriteria 1</a:t>
            </a:r>
            <a:endParaRPr lang="en-US" sz="863" dirty="0"/>
          </a:p>
        </p:txBody>
      </p:sp>
      <p:sp>
        <p:nvSpPr>
          <p:cNvPr id="10" name="Text 8"/>
          <p:cNvSpPr/>
          <p:nvPr/>
        </p:nvSpPr>
        <p:spPr>
          <a:xfrm>
            <a:off x="1743075" y="2854821"/>
            <a:ext cx="4651751" cy="538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Warga Negara Indonesia (WNI) berusia minimal 17 tahun:</a:t>
            </a:r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Menjamin kepemilikan KTP, kapasitas hukum finansial mandiri, dan diskresi pengeluaran pribadi (UU 24/2013).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790575" y="3526631"/>
            <a:ext cx="838200" cy="219075"/>
          </a:xfrm>
          <a:prstGeom prst="roundRect">
            <a:avLst>
              <a:gd name="adj" fmla="val 26087"/>
            </a:avLst>
          </a:prstGeom>
          <a:solidFill>
            <a:srgbClr val="48CAE4">
              <a:alpha val="20000"/>
            </a:srgbClr>
          </a:solidFill>
          <a:ln w="9525">
            <a:solidFill>
              <a:srgbClr val="48CAE4"/>
            </a:solidFill>
          </a:ln>
        </p:spPr>
        <p:txBody>
          <a:bodyPr wrap="square" lIns="76200" tIns="28575" rIns="76200" bIns="28575" rtlCol="0" anchor="ctr"/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48CA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Kriteria 2</a:t>
            </a:r>
            <a:endParaRPr lang="en-US" sz="863" dirty="0"/>
          </a:p>
        </p:txBody>
      </p:sp>
      <p:sp>
        <p:nvSpPr>
          <p:cNvPr id="12" name="Text 10"/>
          <p:cNvSpPr/>
          <p:nvPr/>
        </p:nvSpPr>
        <p:spPr>
          <a:xfrm>
            <a:off x="1743075" y="3526631"/>
            <a:ext cx="4651751" cy="538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Pembelian booster pack resmi minimal 1x dalam 6–12 bulan:</a:t>
            </a:r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Memastikan responden memiliki pengalaman belanja aktual terkini dan mengeliminasi distorsi ingatan (recall bias).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790575" y="4198441"/>
            <a:ext cx="838200" cy="219075"/>
          </a:xfrm>
          <a:prstGeom prst="roundRect">
            <a:avLst>
              <a:gd name="adj" fmla="val 26087"/>
            </a:avLst>
          </a:prstGeom>
          <a:solidFill>
            <a:srgbClr val="48CAE4">
              <a:alpha val="20000"/>
            </a:srgbClr>
          </a:solidFill>
          <a:ln w="9525">
            <a:solidFill>
              <a:srgbClr val="48CAE4"/>
            </a:solidFill>
          </a:ln>
        </p:spPr>
        <p:txBody>
          <a:bodyPr wrap="square" lIns="76200" tIns="28575" rIns="76200" bIns="28575" rtlCol="0" anchor="ctr"/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48CA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Kriteria 3</a:t>
            </a:r>
            <a:endParaRPr lang="en-US" sz="863" dirty="0"/>
          </a:p>
        </p:txBody>
      </p:sp>
      <p:sp>
        <p:nvSpPr>
          <p:cNvPr id="14" name="Text 12"/>
          <p:cNvSpPr/>
          <p:nvPr/>
        </p:nvSpPr>
        <p:spPr>
          <a:xfrm>
            <a:off x="1743075" y="4198441"/>
            <a:ext cx="4651751" cy="358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Komoditas Fisik Bahasa Indonesia:</a:t>
            </a:r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Berfokus pada kartu cetak resmi ritel, bukan kartu simulasi digital / game online.</a:t>
            </a:r>
            <a:endParaRPr lang="en-US" sz="975" dirty="0"/>
          </a:p>
        </p:txBody>
      </p:sp>
      <p:sp>
        <p:nvSpPr>
          <p:cNvPr id="15" name="Text 13"/>
          <p:cNvSpPr/>
          <p:nvPr/>
        </p:nvSpPr>
        <p:spPr>
          <a:xfrm>
            <a:off x="6751290" y="2235696"/>
            <a:ext cx="4869061" cy="2540794"/>
          </a:xfrm>
          <a:prstGeom prst="roundRect">
            <a:avLst>
              <a:gd name="adj" fmla="val 5248"/>
            </a:avLst>
          </a:prstGeom>
          <a:solidFill>
            <a:srgbClr val="1C2541">
              <a:alpha val="6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970365" y="2716709"/>
            <a:ext cx="4430911" cy="0"/>
          </a:xfrm>
          <a:prstGeom prst="line">
            <a:avLst/>
          </a:prstGeom>
          <a:noFill/>
          <a:ln w="9525">
            <a:solidFill>
              <a:srgbClr val="F4A2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70365" y="2454771"/>
            <a:ext cx="451952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A2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📐 Justifikasi Ilmiah Ukuran Sampel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970365" y="2854821"/>
            <a:ext cx="4430911" cy="895350"/>
          </a:xfrm>
          <a:prstGeom prst="roundRect">
            <a:avLst>
              <a:gd name="adj" fmla="val 10638"/>
            </a:avLst>
          </a:prstGeom>
          <a:solidFill>
            <a:srgbClr val="0B2545">
              <a:alpha val="85000"/>
            </a:srgbClr>
          </a:solidFill>
          <a:ln w="9525">
            <a:solidFill>
              <a:srgbClr val="F4A26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113240" y="2997696"/>
            <a:ext cx="21665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8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Kaidah Green (1991) Uji R²: N ≥ 50 + 8k</a:t>
            </a:r>
            <a:endParaRPr lang="en-US" sz="938" dirty="0"/>
          </a:p>
        </p:txBody>
      </p:sp>
      <p:sp>
        <p:nvSpPr>
          <p:cNvPr id="20" name="Text 18"/>
          <p:cNvSpPr/>
          <p:nvPr/>
        </p:nvSpPr>
        <p:spPr>
          <a:xfrm>
            <a:off x="10848826" y="2997696"/>
            <a:ext cx="41776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48CA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≥ 106</a:t>
            </a:r>
            <a:endParaRPr lang="en-US" sz="938" dirty="0"/>
          </a:p>
        </p:txBody>
      </p:sp>
      <p:sp>
        <p:nvSpPr>
          <p:cNvPr id="21" name="Text 19"/>
          <p:cNvSpPr/>
          <p:nvPr/>
        </p:nvSpPr>
        <p:spPr>
          <a:xfrm>
            <a:off x="7113240" y="3226296"/>
            <a:ext cx="257460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8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Kaidah Green (1991) Uji Koefisien: N ≥ 104 + k</a:t>
            </a:r>
            <a:endParaRPr lang="en-US" sz="938" dirty="0"/>
          </a:p>
        </p:txBody>
      </p:sp>
      <p:sp>
        <p:nvSpPr>
          <p:cNvPr id="22" name="Text 20"/>
          <p:cNvSpPr/>
          <p:nvPr/>
        </p:nvSpPr>
        <p:spPr>
          <a:xfrm>
            <a:off x="10915501" y="3226296"/>
            <a:ext cx="3497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48CAE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 ≥ 111</a:t>
            </a:r>
            <a:endParaRPr lang="en-US" sz="938" dirty="0"/>
          </a:p>
        </p:txBody>
      </p:sp>
      <p:sp>
        <p:nvSpPr>
          <p:cNvPr id="23" name="Text 21"/>
          <p:cNvSpPr/>
          <p:nvPr/>
        </p:nvSpPr>
        <p:spPr>
          <a:xfrm>
            <a:off x="7113240" y="3454896"/>
            <a:ext cx="26523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8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Cohen (1988) Statistical Power: Power = 0.80</a:t>
            </a:r>
            <a:endParaRPr lang="en-US" sz="938" dirty="0"/>
          </a:p>
        </p:txBody>
      </p:sp>
      <p:sp>
        <p:nvSpPr>
          <p:cNvPr id="24" name="Text 22"/>
          <p:cNvSpPr/>
          <p:nvPr/>
        </p:nvSpPr>
        <p:spPr>
          <a:xfrm>
            <a:off x="10372576" y="3454896"/>
            <a:ext cx="9035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52B78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Medium Effect</a:t>
            </a:r>
            <a:endParaRPr lang="en-US" sz="938" dirty="0"/>
          </a:p>
        </p:txBody>
      </p:sp>
      <p:sp>
        <p:nvSpPr>
          <p:cNvPr id="25" name="Text 23"/>
          <p:cNvSpPr/>
          <p:nvPr/>
        </p:nvSpPr>
        <p:spPr>
          <a:xfrm>
            <a:off x="6970365" y="3883521"/>
            <a:ext cx="4430911" cy="638175"/>
          </a:xfrm>
          <a:prstGeom prst="roundRect">
            <a:avLst>
              <a:gd name="adj" fmla="val 11940"/>
            </a:avLst>
          </a:prstGeom>
          <a:solidFill>
            <a:srgbClr val="F4A261">
              <a:alpha val="15000"/>
            </a:srgbClr>
          </a:solidFill>
          <a:ln w="9525">
            <a:solidFill>
              <a:srgbClr val="F4A26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032927" y="3988296"/>
            <a:ext cx="430578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A261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120 – 150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032927" y="4274046"/>
            <a:ext cx="43057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63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TARGET SAMPEL RESPONDEN VALID</a:t>
            </a:r>
            <a:endParaRPr lang="en-US" sz="863" dirty="0"/>
          </a:p>
        </p:txBody>
      </p:sp>
      <p:sp>
        <p:nvSpPr>
          <p:cNvPr id="28" name="Text 26"/>
          <p:cNvSpPr/>
          <p:nvPr/>
        </p:nvSpPr>
        <p:spPr>
          <a:xfrm>
            <a:off x="571500" y="6143625"/>
            <a:ext cx="11049000" cy="333375"/>
          </a:xfrm>
          <a:prstGeom prst="rect">
            <a:avLst/>
          </a:prstGeom>
          <a:solidFill>
            <a:srgbClr val="0B2545">
              <a:alpha val="6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585788" y="6238875"/>
            <a:ext cx="0" cy="142875"/>
          </a:xfrm>
          <a:prstGeom prst="line">
            <a:avLst/>
          </a:prstGeom>
          <a:noFill/>
          <a:ln w="28575">
            <a:solidFill>
              <a:srgbClr val="48CAE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2475" y="6238875"/>
            <a:ext cx="1092993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Kanal Distribusi:</a:t>
            </a:r>
            <a:pPr algn="l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Kuesioner daring (Google Forms) disebarkan secara purposif di komunitas aktif Pokémon TCG Indonesia (Facebook TCG ID, Discord Pokémon Indo, dan Local Game Stores).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3400" y="361950"/>
            <a:ext cx="655796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F4A26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BAB 3 • INSTRUMEN PENGUKURAN</a:t>
            </a:r>
            <a:endParaRPr lang="en-US" sz="975" dirty="0"/>
          </a:p>
        </p:txBody>
      </p:sp>
      <p:sp>
        <p:nvSpPr>
          <p:cNvPr id="3" name="Text 1"/>
          <p:cNvSpPr/>
          <p:nvPr/>
        </p:nvSpPr>
        <p:spPr>
          <a:xfrm>
            <a:off x="533400" y="552450"/>
            <a:ext cx="655796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75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Operasionalisasi 5 Variabel Penelitian &amp; Skala Baku Teruji</a:t>
            </a:r>
            <a:endParaRPr lang="en-US" sz="1875" dirty="0"/>
          </a:p>
        </p:txBody>
      </p:sp>
      <p:sp>
        <p:nvSpPr>
          <p:cNvPr id="4" name="Text 2"/>
          <p:cNvSpPr/>
          <p:nvPr/>
        </p:nvSpPr>
        <p:spPr>
          <a:xfrm>
            <a:off x="11087100" y="361950"/>
            <a:ext cx="571500" cy="266700"/>
          </a:xfrm>
          <a:prstGeom prst="roundRect">
            <a:avLst>
              <a:gd name="adj" fmla="val 42857"/>
            </a:avLst>
          </a:prstGeom>
          <a:noFill/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1210925" y="409575"/>
            <a:ext cx="3303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11 / 15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3400" y="2312789"/>
          <a:ext cx="9144000" cy="914400"/>
        </p:xfrm>
        <a:graphic>
          <a:graphicData uri="http://schemas.openxmlformats.org/drawingml/2006/table">
            <a:tbl>
              <a:tblPr/>
              <a:tblGrid>
                <a:gridCol w="2002482"/>
                <a:gridCol w="2781300"/>
                <a:gridCol w="5006280"/>
                <a:gridCol w="1335137"/>
              </a:tblGrid>
              <a:tr h="3197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A261"/>
                          </a:solidFill>
                          <a:latin typeface="Outfit Thin" pitchFamily="34" charset="0"/>
                          <a:ea typeface="Outfit Thin" pitchFamily="34" charset="-122"/>
                          <a:cs typeface="Outfit Thin" pitchFamily="34" charset="-120"/>
                        </a:rPr>
                        <a:t>Variabel</a:t>
                      </a:r>
                      <a:endParaRPr lang="en-US" sz="900" dirty="0">
                        <a:latin typeface="Outfit Thin" charset="0"/>
                        <a:ea typeface="Outfit Thin" charset="0"/>
                        <a:cs typeface="Outfit Thin" charset="0"/>
                      </a:endParaRPr>
                    </a:p>
                  </a:txBody>
                  <a:tcPr marL="114300" marR="114300" marT="85725" marB="857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4A2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>
                        <a:alpha val="9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A261"/>
                          </a:solidFill>
                          <a:latin typeface="Outfit Thin" pitchFamily="34" charset="0"/>
                          <a:ea typeface="Outfit Thin" pitchFamily="34" charset="-122"/>
                          <a:cs typeface="Outfit Thin" pitchFamily="34" charset="-120"/>
                        </a:rPr>
                        <a:t>Rujukan Teori / Skala Baku</a:t>
                      </a:r>
                      <a:endParaRPr lang="en-US" sz="900" dirty="0">
                        <a:latin typeface="Outfit Thin" charset="0"/>
                        <a:ea typeface="Outfit Thin" charset="0"/>
                        <a:cs typeface="Outfit Thin" charset="0"/>
                      </a:endParaRPr>
                    </a:p>
                  </a:txBody>
                  <a:tcPr marL="114300" marR="114300" marT="85725" marB="857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4A2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>
                        <a:alpha val="9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A261"/>
                          </a:solidFill>
                          <a:latin typeface="Outfit Thin" pitchFamily="34" charset="0"/>
                          <a:ea typeface="Outfit Thin" pitchFamily="34" charset="-122"/>
                          <a:cs typeface="Outfit Thin" pitchFamily="34" charset="-120"/>
                        </a:rPr>
                        <a:t>Indikator Operasional Kunci</a:t>
                      </a:r>
                      <a:endParaRPr lang="en-US" sz="900" dirty="0">
                        <a:latin typeface="Outfit Thin" charset="0"/>
                        <a:ea typeface="Outfit Thin" charset="0"/>
                        <a:cs typeface="Outfit Thin" charset="0"/>
                      </a:endParaRPr>
                    </a:p>
                  </a:txBody>
                  <a:tcPr marL="114300" marR="114300" marT="85725" marB="857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4A2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>
                        <a:alpha val="9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A261"/>
                          </a:solidFill>
                          <a:latin typeface="Outfit Thin" pitchFamily="34" charset="0"/>
                          <a:ea typeface="Outfit Thin" pitchFamily="34" charset="-122"/>
                          <a:cs typeface="Outfit Thin" pitchFamily="34" charset="-120"/>
                        </a:rPr>
                        <a:t>Jumlah Item</a:t>
                      </a:r>
                      <a:endParaRPr lang="en-US" sz="900" dirty="0">
                        <a:latin typeface="Outfit Thin" charset="0"/>
                        <a:ea typeface="Outfit Thin" charset="0"/>
                        <a:cs typeface="Outfit Thin" charset="0"/>
                      </a:endParaRPr>
                    </a:p>
                  </a:txBody>
                  <a:tcPr marL="114300" marR="114300" marT="85725" marB="857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4A2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>
                        <a:alpha val="95000"/>
                      </a:srgbClr>
                    </a:solidFill>
                  </a:tcPr>
                </a:tc>
              </a:tr>
              <a:tr h="32255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260"/>
                        </a:lnSpc>
                        <a:buNone/>
                      </a:pPr>
                      <a:r>
                        <a:rPr lang="en-US" sz="900" b="1" dirty="0">
                          <a:solidFill>
                            <a:srgbClr val="48CAE4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Y: Impulsive Buying</a:t>
                      </a:r>
                      <a:endParaRPr lang="en-US" sz="9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14300" marR="1143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26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IBTS (Verplanken &amp; Herabadi, 2001; Rook 1987)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26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Spontanitas belanja kasir, dorongan afektif seketika, pengabaian konsekuensi finansial.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260"/>
                        </a:lnSpc>
                        <a:buNone/>
                      </a:pPr>
                      <a:r>
                        <a:rPr lang="en-US" sz="900" b="1" dirty="0">
                          <a:solidFill>
                            <a:srgbClr val="E2E8F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6–8 Item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2255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260"/>
                        </a:lnSpc>
                        <a:buNone/>
                      </a:pPr>
                      <a:r>
                        <a:rPr lang="en-US" sz="900" b="1" dirty="0">
                          <a:solidFill>
                            <a:srgbClr val="48CAE4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X1: Hedonic Motivation</a:t>
                      </a:r>
                      <a:endParaRPr lang="en-US" sz="9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14300" marR="1143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26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Arnold &amp; Reynolds (2003; Babin 1994)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26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Sensasi robek pack (thrill), pelepasan stres, kenikmatan estetika kartu foil.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260"/>
                        </a:lnSpc>
                        <a:buNone/>
                      </a:pPr>
                      <a:r>
                        <a:rPr lang="en-US" sz="900" b="1" dirty="0">
                          <a:solidFill>
                            <a:srgbClr val="E2E8F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5–6 Item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82858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260"/>
                        </a:lnSpc>
                        <a:buNone/>
                      </a:pPr>
                      <a:r>
                        <a:rPr lang="en-US" sz="900" b="1" dirty="0">
                          <a:solidFill>
                            <a:srgbClr val="48CAE4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X2: Desire for Completeness</a:t>
                      </a:r>
                      <a:endParaRPr lang="en-US" sz="9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14300" marR="1143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26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Pseudo-Set Framing (Barasz et al., 2017; Gao 2014)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26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Ketegangan melihat binder kosong, dorongan melengkapi nomor urut kartu satu set.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260"/>
                        </a:lnSpc>
                        <a:buNone/>
                      </a:pPr>
                      <a:r>
                        <a:rPr lang="en-US" sz="900" b="1" dirty="0">
                          <a:solidFill>
                            <a:srgbClr val="E2E8F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4–5 Item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82858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260"/>
                        </a:lnSpc>
                        <a:buNone/>
                      </a:pPr>
                      <a:r>
                        <a:rPr lang="en-US" sz="900" b="1" dirty="0">
                          <a:solidFill>
                            <a:srgbClr val="48CAE4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X3: Speculative Motive</a:t>
                      </a:r>
                      <a:endParaRPr lang="en-US" sz="9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14300" marR="1143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26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Capital Gain &amp; Behavioral Finance (Shiller 2000)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26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Ekspektasi kenaikan harga kartu langka, potensi sertifikasi PSA 10, arbitrase sekunder.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260"/>
                        </a:lnSpc>
                        <a:buNone/>
                      </a:pPr>
                      <a:r>
                        <a:rPr lang="en-US" sz="900" b="1" dirty="0">
                          <a:solidFill>
                            <a:srgbClr val="E2E8F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4–5 Item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82858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260"/>
                        </a:lnSpc>
                        <a:buNone/>
                      </a:pPr>
                      <a:r>
                        <a:rPr lang="en-US" sz="900" b="1" dirty="0">
                          <a:solidFill>
                            <a:srgbClr val="48CAE4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M: Self-Control</a:t>
                      </a:r>
                      <a:endParaRPr lang="en-US" sz="9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14300" marR="1143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26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Brief Self-Control Scale / BSCS (Tangney et al., 2004)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26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Kemampuan menahan godaan spontan, disiplin anggaran hobi, pengendalian impulsif.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260"/>
                        </a:lnSpc>
                        <a:buNone/>
                      </a:pPr>
                      <a:r>
                        <a:rPr lang="en-US" sz="900" b="1" dirty="0">
                          <a:solidFill>
                            <a:srgbClr val="E2E8F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5–6 Item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114300" marR="1143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33400" y="6200775"/>
            <a:ext cx="11125200" cy="295275"/>
          </a:xfrm>
          <a:prstGeom prst="rect">
            <a:avLst/>
          </a:prstGeom>
          <a:solidFill>
            <a:srgbClr val="0B2545">
              <a:alpha val="6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5"/>
          <p:cNvSpPr/>
          <p:nvPr/>
        </p:nvSpPr>
        <p:spPr>
          <a:xfrm>
            <a:off x="547688" y="6276975"/>
            <a:ext cx="0" cy="142875"/>
          </a:xfrm>
          <a:prstGeom prst="line">
            <a:avLst/>
          </a:prstGeom>
          <a:noFill/>
          <a:ln w="28575">
            <a:solidFill>
              <a:srgbClr val="F4A26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33400" y="6200775"/>
            <a:ext cx="11347704" cy="295275"/>
          </a:xfrm>
          <a:prstGeom prst="rect">
            <a:avLst/>
          </a:prstGeom>
          <a:noFill/>
          <a:ln/>
        </p:spPr>
        <p:txBody>
          <a:bodyPr wrap="square" lIns="152400" tIns="76200" rIns="152400" bIns="762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Skala Pengukuran:</a:t>
            </a:r>
            <a:pPr algn="l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Skala Likert 5 Poin (1 = Sangat Tidak Setuju s.d. 5 = Sangat Setuju).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</a:t>
            </a:r>
            <a:pPr algn="l" indent="0" marL="0">
              <a:buNone/>
            </a:pPr>
            <a:r>
              <a:rPr lang="en-US" sz="900" b="1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Uji Instrumen:</a:t>
            </a:r>
            <a:pPr algn="l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Validitas Pearson Product Moment (r-hitung &gt; r-tabel) &amp; Reliabilitas Cronbach's Alpha (α ≥ 0,60).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381000"/>
            <a:ext cx="74032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48CAE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BAB 3 • ANALISIS EKONOMETRIKA</a:t>
            </a:r>
            <a:endParaRPr lang="en-US" sz="975" dirty="0"/>
          </a:p>
        </p:txBody>
      </p:sp>
      <p:sp>
        <p:nvSpPr>
          <p:cNvPr id="3" name="Text 1"/>
          <p:cNvSpPr/>
          <p:nvPr/>
        </p:nvSpPr>
        <p:spPr>
          <a:xfrm>
            <a:off x="571500" y="571500"/>
            <a:ext cx="7403211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Model Moderated Regression Analysis (MRA) 2-Tahap Hierarkis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1020425" y="381000"/>
            <a:ext cx="600075" cy="266700"/>
          </a:xfrm>
          <a:prstGeom prst="roundRect">
            <a:avLst>
              <a:gd name="adj" fmla="val 42857"/>
            </a:avLst>
          </a:prstGeom>
          <a:noFill/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1144250" y="428625"/>
            <a:ext cx="35947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12 / 15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71500" y="2252811"/>
            <a:ext cx="11049000" cy="990600"/>
          </a:xfrm>
          <a:prstGeom prst="roundRect">
            <a:avLst>
              <a:gd name="adj" fmla="val 11538"/>
            </a:avLst>
          </a:prstGeom>
          <a:solidFill>
            <a:srgbClr val="1C2541">
              <a:alpha val="70000"/>
            </a:srgbClr>
          </a:solidFill>
          <a:ln w="9525">
            <a:solidFill>
              <a:srgbClr val="FFFFFF"/>
            </a:solidFill>
          </a:ln>
          <a:effectLst>
            <a:outerShdw sx="100000" sy="100000" kx="0" ky="0" algn="bl" rotWithShape="0" blurRad="190500" dist="57150" dir="5400000">
              <a:srgbClr val="00000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90575" y="2419499"/>
            <a:ext cx="53532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F4A261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Tahap 1: Model Baseline Aditif (Efek Langsung &amp; Kontrol Langsung Pemoderasi)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9896475" y="2414736"/>
            <a:ext cx="1504950" cy="190500"/>
          </a:xfrm>
          <a:prstGeom prst="roundRect">
            <a:avLst>
              <a:gd name="adj" fmla="val 20000"/>
            </a:avLst>
          </a:prstGeom>
          <a:solidFill>
            <a:srgbClr val="48CAE4">
              <a:alpha val="15000"/>
            </a:srgbClr>
          </a:solidFill>
          <a:ln w="9525">
            <a:solidFill>
              <a:srgbClr val="48CAE4"/>
            </a:solidFill>
          </a:ln>
        </p:spPr>
        <p:txBody>
          <a:bodyPr wrap="square" lIns="76200" tIns="19050" rIns="76200" bIns="19050" rtlCol="0" anchor="ctr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48CAE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Model 1 (SPSS / OLS)</a:t>
            </a:r>
            <a:endParaRPr lang="en-US" sz="825" dirty="0"/>
          </a:p>
        </p:txBody>
      </p:sp>
      <p:sp>
        <p:nvSpPr>
          <p:cNvPr id="9" name="Text 7"/>
          <p:cNvSpPr/>
          <p:nvPr/>
        </p:nvSpPr>
        <p:spPr>
          <a:xfrm>
            <a:off x="790575" y="2681436"/>
            <a:ext cx="10610850" cy="400050"/>
          </a:xfrm>
          <a:prstGeom prst="roundRect">
            <a:avLst>
              <a:gd name="adj" fmla="val 19048"/>
            </a:avLst>
          </a:prstGeom>
          <a:solidFill>
            <a:srgbClr val="0B2545">
              <a:alpha val="85000"/>
            </a:srgbClr>
          </a:solidFill>
          <a:ln w="9525">
            <a:solidFill>
              <a:srgbClr val="F4A26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2500" y="2786211"/>
            <a:ext cx="1049274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 = α + β₁X₁* + β₂X₂* + β₃X₃* + β₄M* + e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571500" y="3395811"/>
            <a:ext cx="11049000" cy="990600"/>
          </a:xfrm>
          <a:prstGeom prst="roundRect">
            <a:avLst>
              <a:gd name="adj" fmla="val 11538"/>
            </a:avLst>
          </a:prstGeom>
          <a:solidFill>
            <a:srgbClr val="1C2541">
              <a:alpha val="70000"/>
            </a:srgbClr>
          </a:solidFill>
          <a:ln w="9525">
            <a:solidFill>
              <a:srgbClr val="FFFFFF"/>
            </a:solidFill>
          </a:ln>
          <a:effectLst>
            <a:outerShdw sx="100000" sy="100000" kx="0" ky="0" algn="bl" rotWithShape="0" blurRad="190500" dist="57150" dir="5400000">
              <a:srgbClr val="00000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0575" y="3562499"/>
            <a:ext cx="40902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F4A261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Tahap 2: Model MRA Penuh (Interaksi Moderasi Multiplikatif)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9696450" y="3557736"/>
            <a:ext cx="1704975" cy="190500"/>
          </a:xfrm>
          <a:prstGeom prst="roundRect">
            <a:avLst>
              <a:gd name="adj" fmla="val 20000"/>
            </a:avLst>
          </a:prstGeom>
          <a:solidFill>
            <a:srgbClr val="48CAE4">
              <a:alpha val="15000"/>
            </a:srgbClr>
          </a:solidFill>
          <a:ln w="9525">
            <a:solidFill>
              <a:srgbClr val="48CAE4"/>
            </a:solidFill>
          </a:ln>
        </p:spPr>
        <p:txBody>
          <a:bodyPr wrap="square" lIns="76200" tIns="19050" rIns="76200" bIns="19050" rtlCol="0" anchor="ctr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48CAE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Model 2 (Interaksi MRA)</a:t>
            </a:r>
            <a:endParaRPr lang="en-US" sz="825" dirty="0"/>
          </a:p>
        </p:txBody>
      </p:sp>
      <p:sp>
        <p:nvSpPr>
          <p:cNvPr id="14" name="Text 12"/>
          <p:cNvSpPr/>
          <p:nvPr/>
        </p:nvSpPr>
        <p:spPr>
          <a:xfrm>
            <a:off x="790575" y="3824436"/>
            <a:ext cx="10610850" cy="400050"/>
          </a:xfrm>
          <a:prstGeom prst="roundRect">
            <a:avLst>
              <a:gd name="adj" fmla="val 19048"/>
            </a:avLst>
          </a:prstGeom>
          <a:solidFill>
            <a:srgbClr val="0B2545">
              <a:alpha val="85000"/>
            </a:srgbClr>
          </a:solidFill>
          <a:ln w="9525">
            <a:solidFill>
              <a:srgbClr val="F4A26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52500" y="3929211"/>
            <a:ext cx="1049274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 = α + β₁X₁* + β₂X₂* + β₃X₃* + β₄M* + β₅(X₁*·M*) + β₆(X₂*·M*) + β₇(X₃*·M*) + e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571500" y="5770513"/>
            <a:ext cx="3581400" cy="706487"/>
          </a:xfrm>
          <a:prstGeom prst="rect">
            <a:avLst/>
          </a:prstGeom>
          <a:solidFill>
            <a:srgbClr val="1C2541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704850" y="5775275"/>
            <a:ext cx="33147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48137" y="5865763"/>
            <a:ext cx="0" cy="515987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4850" y="6470600"/>
            <a:ext cx="33147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85788" y="5865763"/>
            <a:ext cx="0" cy="515987"/>
          </a:xfrm>
          <a:prstGeom prst="line">
            <a:avLst/>
          </a:prstGeom>
          <a:noFill/>
          <a:ln w="28575">
            <a:solidFill>
              <a:srgbClr val="48CAE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3425" y="5875288"/>
            <a:ext cx="3342132" cy="496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4A26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Notasi Mean-Centering (*):</a:t>
            </a:r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Variabel X dan M dikurangi rata-rata sampelnya guna mengeliminasi bahaya multikolinearitas esensial (Aiken &amp; West, 1991).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305300" y="5770513"/>
            <a:ext cx="3581400" cy="706487"/>
          </a:xfrm>
          <a:prstGeom prst="rect">
            <a:avLst/>
          </a:prstGeom>
          <a:solidFill>
            <a:srgbClr val="1C2541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438650" y="5775275"/>
            <a:ext cx="33147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1937" y="5865763"/>
            <a:ext cx="0" cy="515987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38650" y="6470600"/>
            <a:ext cx="33147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19588" y="5865763"/>
            <a:ext cx="0" cy="515987"/>
          </a:xfrm>
          <a:prstGeom prst="line">
            <a:avLst/>
          </a:prstGeom>
          <a:noFill/>
          <a:ln w="28575">
            <a:solidFill>
              <a:srgbClr val="48CA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67225" y="5875288"/>
            <a:ext cx="3342132" cy="496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4A26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Uji Tambahan Kontribusi (ΔR²):</a:t>
            </a:r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Model 1 menyertakan M* agar selisih R² pada Model 2 (ΔR²) murni mengukur kontribusi interaksi moderasi.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039100" y="5770513"/>
            <a:ext cx="3581400" cy="706487"/>
          </a:xfrm>
          <a:prstGeom prst="rect">
            <a:avLst/>
          </a:prstGeom>
          <a:solidFill>
            <a:srgbClr val="1C2541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8172450" y="5775275"/>
            <a:ext cx="33147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615737" y="5865763"/>
            <a:ext cx="0" cy="515987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72450" y="6470600"/>
            <a:ext cx="33147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053387" y="5865763"/>
            <a:ext cx="0" cy="515987"/>
          </a:xfrm>
          <a:prstGeom prst="line">
            <a:avLst/>
          </a:prstGeom>
          <a:noFill/>
          <a:ln w="28575">
            <a:solidFill>
              <a:srgbClr val="48CA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01025" y="5875288"/>
            <a:ext cx="3342132" cy="496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4A26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Kaidah Penerimaan Hipotesis:</a:t>
            </a:r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Moderasi memperlemah terbukti jika koefisien interaksi signifikan dan bertanda negatif (β₅, β₆, β₇ &lt; 0).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381000"/>
            <a:ext cx="66259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F4A26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BAB 3 • RENCANA KERJA</a:t>
            </a:r>
            <a:endParaRPr lang="en-US" sz="975" dirty="0"/>
          </a:p>
        </p:txBody>
      </p:sp>
      <p:sp>
        <p:nvSpPr>
          <p:cNvPr id="3" name="Text 1"/>
          <p:cNvSpPr/>
          <p:nvPr/>
        </p:nvSpPr>
        <p:spPr>
          <a:xfrm>
            <a:off x="571500" y="571500"/>
            <a:ext cx="6625971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Alur Tahapan &amp; Jadwal Pelaksanaan Penelitian (6 Bulan)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1020425" y="381000"/>
            <a:ext cx="600075" cy="266700"/>
          </a:xfrm>
          <a:prstGeom prst="roundRect">
            <a:avLst>
              <a:gd name="adj" fmla="val 42857"/>
            </a:avLst>
          </a:prstGeom>
          <a:noFill/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1144250" y="428625"/>
            <a:ext cx="35947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13 / 15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71500" y="2804666"/>
            <a:ext cx="1730276" cy="1393478"/>
          </a:xfrm>
          <a:prstGeom prst="roundRect">
            <a:avLst>
              <a:gd name="adj" fmla="val 8202"/>
            </a:avLst>
          </a:prstGeom>
          <a:solidFill>
            <a:srgbClr val="1C2541">
              <a:alpha val="65000"/>
            </a:srgbClr>
          </a:solidFill>
          <a:ln/>
          <a:effectLst>
            <a:outerShdw sx="100000" sy="100000" kx="0" ky="0" algn="bl" rotWithShape="0" blurRad="171450" dist="57150" dir="5400000">
              <a:srgbClr val="00000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85800" y="2823716"/>
            <a:ext cx="1501676" cy="0"/>
          </a:xfrm>
          <a:prstGeom prst="line">
            <a:avLst/>
          </a:prstGeom>
          <a:noFill/>
          <a:ln w="38100">
            <a:solidFill>
              <a:srgbClr val="48CA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00287" y="2957066"/>
            <a:ext cx="0" cy="1088678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4190554"/>
            <a:ext cx="1501676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6263" y="2957066"/>
            <a:ext cx="0" cy="1088678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5325" y="2995166"/>
            <a:ext cx="151227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50"/>
              </a:spcAft>
              <a:buNone/>
            </a:pPr>
            <a:r>
              <a:rPr lang="en-US" sz="825" b="1" dirty="0">
                <a:solidFill>
                  <a:srgbClr val="F4A261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BULAN 1</a:t>
            </a:r>
            <a:endParaRPr lang="en-US" sz="825" dirty="0"/>
          </a:p>
        </p:txBody>
      </p:sp>
      <p:sp>
        <p:nvSpPr>
          <p:cNvPr id="12" name="Text 10"/>
          <p:cNvSpPr/>
          <p:nvPr/>
        </p:nvSpPr>
        <p:spPr>
          <a:xfrm>
            <a:off x="695325" y="3185666"/>
            <a:ext cx="1512278" cy="167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Seminar Proposal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695325" y="3429000"/>
            <a:ext cx="1512278" cy="4554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Penyusunan naskah Bab 1–3, bimbingan intensif, dan ujian Seminar Proposal.</a:t>
            </a:r>
            <a:endParaRPr lang="en-US" sz="825" dirty="0"/>
          </a:p>
        </p:txBody>
      </p:sp>
      <p:sp>
        <p:nvSpPr>
          <p:cNvPr id="14" name="Text 12"/>
          <p:cNvSpPr/>
          <p:nvPr/>
        </p:nvSpPr>
        <p:spPr>
          <a:xfrm>
            <a:off x="2435126" y="2804666"/>
            <a:ext cx="1730425" cy="1393478"/>
          </a:xfrm>
          <a:prstGeom prst="roundRect">
            <a:avLst>
              <a:gd name="adj" fmla="val 8202"/>
            </a:avLst>
          </a:prstGeom>
          <a:solidFill>
            <a:srgbClr val="1C2541">
              <a:alpha val="65000"/>
            </a:srgbClr>
          </a:solidFill>
          <a:ln/>
          <a:effectLst>
            <a:outerShdw sx="100000" sy="100000" kx="0" ky="0" algn="bl" rotWithShape="0" blurRad="171450" dist="57150" dir="5400000">
              <a:srgbClr val="00000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2549426" y="2823716"/>
            <a:ext cx="1501825" cy="0"/>
          </a:xfrm>
          <a:prstGeom prst="line">
            <a:avLst/>
          </a:prstGeom>
          <a:noFill/>
          <a:ln w="38100">
            <a:solidFill>
              <a:srgbClr val="48CA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63913" y="2957066"/>
            <a:ext cx="0" cy="1088678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49426" y="4190554"/>
            <a:ext cx="1501825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439888" y="2957066"/>
            <a:ext cx="0" cy="1088678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58951" y="2995166"/>
            <a:ext cx="151243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50"/>
              </a:spcAft>
              <a:buNone/>
            </a:pPr>
            <a:r>
              <a:rPr lang="en-US" sz="825" b="1" dirty="0">
                <a:solidFill>
                  <a:srgbClr val="F4A261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BULAN 2</a:t>
            </a:r>
            <a:endParaRPr lang="en-US" sz="825" dirty="0"/>
          </a:p>
        </p:txBody>
      </p:sp>
      <p:sp>
        <p:nvSpPr>
          <p:cNvPr id="20" name="Text 18"/>
          <p:cNvSpPr/>
          <p:nvPr/>
        </p:nvSpPr>
        <p:spPr>
          <a:xfrm>
            <a:off x="2558951" y="3185666"/>
            <a:ext cx="1512430" cy="167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Uji Coba Instrumen</a:t>
            </a:r>
            <a:endParaRPr lang="en-US" sz="975" dirty="0"/>
          </a:p>
        </p:txBody>
      </p:sp>
      <p:sp>
        <p:nvSpPr>
          <p:cNvPr id="21" name="Text 19"/>
          <p:cNvSpPr/>
          <p:nvPr/>
        </p:nvSpPr>
        <p:spPr>
          <a:xfrm>
            <a:off x="2558951" y="3429000"/>
            <a:ext cx="1512430" cy="4554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Pilot test kuesioner pada 30 responden, uji validitas r-tabel dan reliabilitas alpha.</a:t>
            </a:r>
            <a:endParaRPr lang="en-US" sz="825" dirty="0"/>
          </a:p>
        </p:txBody>
      </p:sp>
      <p:sp>
        <p:nvSpPr>
          <p:cNvPr id="22" name="Text 20"/>
          <p:cNvSpPr/>
          <p:nvPr/>
        </p:nvSpPr>
        <p:spPr>
          <a:xfrm>
            <a:off x="4298900" y="2804666"/>
            <a:ext cx="1730425" cy="1393478"/>
          </a:xfrm>
          <a:prstGeom prst="roundRect">
            <a:avLst>
              <a:gd name="adj" fmla="val 8202"/>
            </a:avLst>
          </a:prstGeom>
          <a:solidFill>
            <a:srgbClr val="1C2541">
              <a:alpha val="65000"/>
            </a:srgbClr>
          </a:solidFill>
          <a:ln/>
          <a:effectLst>
            <a:outerShdw sx="100000" sy="100000" kx="0" ky="0" algn="bl" rotWithShape="0" blurRad="171450" dist="57150" dir="5400000">
              <a:srgbClr val="00000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413200" y="2823716"/>
            <a:ext cx="1501825" cy="0"/>
          </a:xfrm>
          <a:prstGeom prst="line">
            <a:avLst/>
          </a:prstGeom>
          <a:noFill/>
          <a:ln w="38100">
            <a:solidFill>
              <a:srgbClr val="48CAE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27688" y="2957066"/>
            <a:ext cx="0" cy="1088678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13200" y="4190554"/>
            <a:ext cx="1501825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03663" y="2957066"/>
            <a:ext cx="0" cy="1088678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22725" y="2995166"/>
            <a:ext cx="151243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50"/>
              </a:spcAft>
              <a:buNone/>
            </a:pPr>
            <a:r>
              <a:rPr lang="en-US" sz="825" b="1" dirty="0">
                <a:solidFill>
                  <a:srgbClr val="F4A261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BULAN 3</a:t>
            </a:r>
            <a:endParaRPr lang="en-US" sz="825" dirty="0"/>
          </a:p>
        </p:txBody>
      </p:sp>
      <p:sp>
        <p:nvSpPr>
          <p:cNvPr id="28" name="Text 26"/>
          <p:cNvSpPr/>
          <p:nvPr/>
        </p:nvSpPr>
        <p:spPr>
          <a:xfrm>
            <a:off x="4422725" y="3185666"/>
            <a:ext cx="1512430" cy="167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Survei Utama</a:t>
            </a:r>
            <a:endParaRPr lang="en-US" sz="975" dirty="0"/>
          </a:p>
        </p:txBody>
      </p:sp>
      <p:sp>
        <p:nvSpPr>
          <p:cNvPr id="29" name="Text 27"/>
          <p:cNvSpPr/>
          <p:nvPr/>
        </p:nvSpPr>
        <p:spPr>
          <a:xfrm>
            <a:off x="4422725" y="3429000"/>
            <a:ext cx="1512430" cy="4554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Penyebaran Google Forms di komunitas TCG (target 120–150 responden valid).</a:t>
            </a:r>
            <a:endParaRPr lang="en-US" sz="825" dirty="0"/>
          </a:p>
        </p:txBody>
      </p:sp>
      <p:sp>
        <p:nvSpPr>
          <p:cNvPr id="30" name="Text 28"/>
          <p:cNvSpPr/>
          <p:nvPr/>
        </p:nvSpPr>
        <p:spPr>
          <a:xfrm>
            <a:off x="6162675" y="2804666"/>
            <a:ext cx="1730276" cy="1393478"/>
          </a:xfrm>
          <a:prstGeom prst="roundRect">
            <a:avLst>
              <a:gd name="adj" fmla="val 8202"/>
            </a:avLst>
          </a:prstGeom>
          <a:solidFill>
            <a:srgbClr val="1C2541">
              <a:alpha val="65000"/>
            </a:srgbClr>
          </a:solidFill>
          <a:ln/>
          <a:effectLst>
            <a:outerShdw sx="100000" sy="100000" kx="0" ky="0" algn="bl" rotWithShape="0" blurRad="171450" dist="57150" dir="5400000">
              <a:srgbClr val="00000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6276975" y="2823716"/>
            <a:ext cx="1501676" cy="0"/>
          </a:xfrm>
          <a:prstGeom prst="line">
            <a:avLst/>
          </a:prstGeom>
          <a:noFill/>
          <a:ln w="38100">
            <a:solidFill>
              <a:srgbClr val="48CA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91462" y="2957066"/>
            <a:ext cx="0" cy="1088678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76975" y="4190554"/>
            <a:ext cx="1501676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67437" y="2957066"/>
            <a:ext cx="0" cy="1088678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86500" y="2995166"/>
            <a:ext cx="151227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50"/>
              </a:spcAft>
              <a:buNone/>
            </a:pPr>
            <a:r>
              <a:rPr lang="en-US" sz="825" b="1" dirty="0">
                <a:solidFill>
                  <a:srgbClr val="F4A261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BULAN 4</a:t>
            </a:r>
            <a:endParaRPr lang="en-US" sz="825" dirty="0"/>
          </a:p>
        </p:txBody>
      </p:sp>
      <p:sp>
        <p:nvSpPr>
          <p:cNvPr id="36" name="Text 34"/>
          <p:cNvSpPr/>
          <p:nvPr/>
        </p:nvSpPr>
        <p:spPr>
          <a:xfrm>
            <a:off x="6286500" y="3185666"/>
            <a:ext cx="1512278" cy="167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Skrining &amp; Asumsi</a:t>
            </a:r>
            <a:endParaRPr lang="en-US" sz="975" dirty="0"/>
          </a:p>
        </p:txBody>
      </p:sp>
      <p:sp>
        <p:nvSpPr>
          <p:cNvPr id="37" name="Text 35"/>
          <p:cNvSpPr/>
          <p:nvPr/>
        </p:nvSpPr>
        <p:spPr>
          <a:xfrm>
            <a:off x="6286500" y="3429000"/>
            <a:ext cx="1512278" cy="607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Pembersihan outlier, tabulasi data, normalitas, multikolinearitas, &amp; heteroskedastisitas.</a:t>
            </a:r>
            <a:endParaRPr lang="en-US" sz="825" dirty="0"/>
          </a:p>
        </p:txBody>
      </p:sp>
      <p:sp>
        <p:nvSpPr>
          <p:cNvPr id="38" name="Text 36"/>
          <p:cNvSpPr/>
          <p:nvPr/>
        </p:nvSpPr>
        <p:spPr>
          <a:xfrm>
            <a:off x="8026301" y="2804666"/>
            <a:ext cx="1730425" cy="1393478"/>
          </a:xfrm>
          <a:prstGeom prst="roundRect">
            <a:avLst>
              <a:gd name="adj" fmla="val 8202"/>
            </a:avLst>
          </a:prstGeom>
          <a:solidFill>
            <a:srgbClr val="1C2541">
              <a:alpha val="65000"/>
            </a:srgbClr>
          </a:solidFill>
          <a:ln/>
          <a:effectLst>
            <a:outerShdw sx="100000" sy="100000" kx="0" ky="0" algn="bl" rotWithShape="0" blurRad="171450" dist="57150" dir="5400000">
              <a:srgbClr val="00000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8140601" y="2823716"/>
            <a:ext cx="1501825" cy="0"/>
          </a:xfrm>
          <a:prstGeom prst="line">
            <a:avLst/>
          </a:prstGeom>
          <a:noFill/>
          <a:ln w="38100">
            <a:solidFill>
              <a:srgbClr val="48CAE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755088" y="2957066"/>
            <a:ext cx="0" cy="1088678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140601" y="4190554"/>
            <a:ext cx="1501825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31063" y="2957066"/>
            <a:ext cx="0" cy="1088678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50126" y="2995166"/>
            <a:ext cx="151243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50"/>
              </a:spcAft>
              <a:buNone/>
            </a:pPr>
            <a:r>
              <a:rPr lang="en-US" sz="825" b="1" dirty="0">
                <a:solidFill>
                  <a:srgbClr val="F4A261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BULAN 5</a:t>
            </a:r>
            <a:endParaRPr lang="en-US" sz="825" dirty="0"/>
          </a:p>
        </p:txBody>
      </p:sp>
      <p:sp>
        <p:nvSpPr>
          <p:cNvPr id="44" name="Text 42"/>
          <p:cNvSpPr/>
          <p:nvPr/>
        </p:nvSpPr>
        <p:spPr>
          <a:xfrm>
            <a:off x="8150126" y="3185666"/>
            <a:ext cx="1512430" cy="167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Analisis MRA</a:t>
            </a:r>
            <a:endParaRPr lang="en-US" sz="975" dirty="0"/>
          </a:p>
        </p:txBody>
      </p:sp>
      <p:sp>
        <p:nvSpPr>
          <p:cNvPr id="45" name="Text 43"/>
          <p:cNvSpPr/>
          <p:nvPr/>
        </p:nvSpPr>
        <p:spPr>
          <a:xfrm>
            <a:off x="8150126" y="3429000"/>
            <a:ext cx="1512430" cy="4554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Estimasi Model 1 &amp; 2 di SPSS, interpretasi ΔR², pengujian 6 hipotesis &amp; pembahasan.</a:t>
            </a:r>
            <a:endParaRPr lang="en-US" sz="825" dirty="0"/>
          </a:p>
        </p:txBody>
      </p:sp>
      <p:sp>
        <p:nvSpPr>
          <p:cNvPr id="46" name="Text 44"/>
          <p:cNvSpPr/>
          <p:nvPr/>
        </p:nvSpPr>
        <p:spPr>
          <a:xfrm>
            <a:off x="9890075" y="2804666"/>
            <a:ext cx="1730425" cy="1393478"/>
          </a:xfrm>
          <a:prstGeom prst="roundRect">
            <a:avLst>
              <a:gd name="adj" fmla="val 8202"/>
            </a:avLst>
          </a:prstGeom>
          <a:solidFill>
            <a:srgbClr val="1C2541">
              <a:alpha val="65000"/>
            </a:srgbClr>
          </a:solidFill>
          <a:ln/>
          <a:effectLst>
            <a:outerShdw sx="100000" sy="100000" kx="0" ky="0" algn="bl" rotWithShape="0" blurRad="171450" dist="57150" dir="5400000">
              <a:srgbClr val="00000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Shape 45"/>
          <p:cNvSpPr/>
          <p:nvPr/>
        </p:nvSpPr>
        <p:spPr>
          <a:xfrm>
            <a:off x="10004375" y="2823716"/>
            <a:ext cx="1501825" cy="0"/>
          </a:xfrm>
          <a:prstGeom prst="line">
            <a:avLst/>
          </a:prstGeom>
          <a:noFill/>
          <a:ln w="38100">
            <a:solidFill>
              <a:srgbClr val="F4A26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1618863" y="2957066"/>
            <a:ext cx="0" cy="1088678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004375" y="4190554"/>
            <a:ext cx="1501825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894838" y="2957066"/>
            <a:ext cx="0" cy="1088678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013900" y="2995166"/>
            <a:ext cx="151243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50"/>
              </a:spcAft>
              <a:buNone/>
            </a:pPr>
            <a:r>
              <a:rPr lang="en-US" sz="825" b="1" dirty="0">
                <a:solidFill>
                  <a:srgbClr val="48CAE4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BULAN 6</a:t>
            </a:r>
            <a:endParaRPr lang="en-US" sz="825" dirty="0"/>
          </a:p>
        </p:txBody>
      </p:sp>
      <p:sp>
        <p:nvSpPr>
          <p:cNvPr id="52" name="Text 50"/>
          <p:cNvSpPr/>
          <p:nvPr/>
        </p:nvSpPr>
        <p:spPr>
          <a:xfrm>
            <a:off x="10013900" y="3185666"/>
            <a:ext cx="1512430" cy="167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Sidang Skripsi</a:t>
            </a:r>
            <a:endParaRPr lang="en-US" sz="975" dirty="0"/>
          </a:p>
        </p:txBody>
      </p:sp>
      <p:sp>
        <p:nvSpPr>
          <p:cNvPr id="53" name="Text 51"/>
          <p:cNvSpPr/>
          <p:nvPr/>
        </p:nvSpPr>
        <p:spPr>
          <a:xfrm>
            <a:off x="10013900" y="3429000"/>
            <a:ext cx="1512430" cy="4554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Finalisasi Bab 4 &amp; 5, cek Turnitin ≤30%, bimbingan akhir, dan Sidang Tugas Akhir.</a:t>
            </a:r>
            <a:endParaRPr lang="en-US" sz="825" dirty="0"/>
          </a:p>
        </p:txBody>
      </p:sp>
      <p:sp>
        <p:nvSpPr>
          <p:cNvPr id="54" name="Text 52"/>
          <p:cNvSpPr/>
          <p:nvPr/>
        </p:nvSpPr>
        <p:spPr>
          <a:xfrm>
            <a:off x="571500" y="6134100"/>
            <a:ext cx="11049000" cy="342900"/>
          </a:xfrm>
          <a:prstGeom prst="rect">
            <a:avLst/>
          </a:prstGeom>
          <a:solidFill>
            <a:srgbClr val="0B2545">
              <a:alpha val="6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Shape 53"/>
          <p:cNvSpPr/>
          <p:nvPr/>
        </p:nvSpPr>
        <p:spPr>
          <a:xfrm>
            <a:off x="585788" y="6229350"/>
            <a:ext cx="0" cy="152400"/>
          </a:xfrm>
          <a:prstGeom prst="line">
            <a:avLst/>
          </a:prstGeom>
          <a:noFill/>
          <a:ln w="28575">
            <a:solidFill>
              <a:srgbClr val="52B78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1525" y="6229350"/>
            <a:ext cx="1089107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Manajemen Waktu:</a:t>
            </a:r>
            <a:pPr algn="l" indent="0" marL="0">
              <a:buNone/>
            </a:pPr>
            <a:r>
              <a:rPr lang="en-US" sz="938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Seluruh tahapan dirancang sistematis guna memastikan ketepatan waktu kelulusan S1 Manajemen Keuangan FEB UKRIDA.</a:t>
            </a:r>
            <a:endParaRPr lang="en-US" sz="938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381000"/>
            <a:ext cx="689800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F4A26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TATA KELOLA &amp; INTEGRITAS ILMIAH</a:t>
            </a:r>
            <a:endParaRPr lang="en-US" sz="975" dirty="0"/>
          </a:p>
        </p:txBody>
      </p:sp>
      <p:sp>
        <p:nvSpPr>
          <p:cNvPr id="3" name="Text 1"/>
          <p:cNvSpPr/>
          <p:nvPr/>
        </p:nvSpPr>
        <p:spPr>
          <a:xfrm>
            <a:off x="571500" y="571500"/>
            <a:ext cx="6898005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Kepatuhan Pedoman Penulisan Skripsi FEB UKRIDA (2023)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1010900" y="381000"/>
            <a:ext cx="609600" cy="266700"/>
          </a:xfrm>
          <a:prstGeom prst="roundRect">
            <a:avLst>
              <a:gd name="adj" fmla="val 42857"/>
            </a:avLst>
          </a:prstGeom>
          <a:noFill/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1134725" y="428625"/>
            <a:ext cx="36918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14 / 15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71500" y="1796355"/>
            <a:ext cx="2647950" cy="3162300"/>
          </a:xfrm>
          <a:prstGeom prst="roundRect">
            <a:avLst>
              <a:gd name="adj" fmla="val 5036"/>
            </a:avLst>
          </a:prstGeom>
          <a:solidFill>
            <a:srgbClr val="1C2541">
              <a:alpha val="65000"/>
            </a:srgbClr>
          </a:solidFill>
          <a:ln w="9525">
            <a:solidFill>
              <a:srgbClr val="FFFFFF"/>
            </a:solidFill>
          </a:ln>
          <a:effectLst>
            <a:outerShdw sx="100000" sy="100000" kx="0" ky="0" algn="bl" rotWithShape="0" blurRad="228600" dist="76200" dir="5400000">
              <a:srgbClr val="00000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1025" y="1805880"/>
            <a:ext cx="2628900" cy="38100"/>
          </a:xfrm>
          <a:prstGeom prst="rect">
            <a:avLst/>
          </a:prstGeom>
          <a:solidFill>
            <a:srgbClr val="06D6A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3425" y="1996380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06D6A0">
              <a:alpha val="2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9150" y="2063055"/>
            <a:ext cx="1360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6D6A0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01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133475" y="2057400"/>
            <a:ext cx="1544765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Turnitin &amp; Originalitas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3425" y="2415480"/>
            <a:ext cx="2324100" cy="514350"/>
          </a:xfrm>
          <a:prstGeom prst="roundRect">
            <a:avLst>
              <a:gd name="adj" fmla="val 14815"/>
            </a:avLst>
          </a:prstGeom>
          <a:solidFill>
            <a:srgbClr val="0B132B">
              <a:alpha val="70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38200" y="2520255"/>
            <a:ext cx="215684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THRESHOLD FEB UKRIDA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838200" y="2653605"/>
            <a:ext cx="215684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6D6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Similarity ≤ 30%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3425" y="3044130"/>
            <a:ext cx="232410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ts val="1350"/>
              </a:lnSpc>
              <a:spcAft>
                <a:spcPts val="45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Teknik Parafrase:</a:t>
            </a:r>
            <a:pPr algn="l" indent="0" marL="0">
              <a:lnSpc>
                <a:spcPts val="1350"/>
              </a:lnSpc>
              <a:spcAft>
                <a:spcPts val="450"/>
              </a:spcAft>
              <a:buNone/>
            </a:pPr>
            <a:r>
              <a:rPr lang="en-US" sz="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Penulisan ulang sintesis riset terdahulu secara mandiri.</a:t>
            </a:r>
            <a:endParaRPr lang="en-US" sz="900" dirty="0"/>
          </a:p>
          <a:p>
            <a:pPr algn="l" marL="152400" indent="-152400">
              <a:lnSpc>
                <a:spcPts val="1350"/>
              </a:lnSpc>
              <a:spcAft>
                <a:spcPts val="45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Target Internal:</a:t>
            </a:r>
            <a:pPr algn="l" indent="0" marL="0">
              <a:lnSpc>
                <a:spcPts val="1350"/>
              </a:lnSpc>
              <a:spcAft>
                <a:spcPts val="450"/>
              </a:spcAft>
              <a:buNone/>
            </a:pPr>
            <a:r>
              <a:rPr lang="en-US" sz="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Ambang batas ditekankan &lt; 15% untuk menjamin integritas.</a:t>
            </a:r>
            <a:endParaRPr lang="en-US" sz="900" dirty="0"/>
          </a:p>
          <a:p>
            <a:pPr algn="l" marL="152400" indent="-152400">
              <a:lnSpc>
                <a:spcPts val="1350"/>
              </a:lnSpc>
              <a:spcAft>
                <a:spcPts val="45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Bebas Plagiarisme:</a:t>
            </a:r>
            <a:pPr algn="l" indent="0" marL="0">
              <a:lnSpc>
                <a:spcPts val="1350"/>
              </a:lnSpc>
              <a:spcAft>
                <a:spcPts val="450"/>
              </a:spcAft>
              <a:buNone/>
            </a:pPr>
            <a:r>
              <a:rPr lang="en-US" sz="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Tidak menggunakan copy-paste langsung dari publikasi.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71850" y="1796355"/>
            <a:ext cx="2647950" cy="3162300"/>
          </a:xfrm>
          <a:prstGeom prst="roundRect">
            <a:avLst>
              <a:gd name="adj" fmla="val 5036"/>
            </a:avLst>
          </a:prstGeom>
          <a:solidFill>
            <a:srgbClr val="1C2541">
              <a:alpha val="65000"/>
            </a:srgbClr>
          </a:solidFill>
          <a:ln w="9525">
            <a:solidFill>
              <a:srgbClr val="FFFFFF"/>
            </a:solidFill>
          </a:ln>
          <a:effectLst>
            <a:outerShdw sx="100000" sy="100000" kx="0" ky="0" algn="bl" rotWithShape="0" blurRad="228600" dist="76200" dir="5400000">
              <a:srgbClr val="00000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381375" y="1805880"/>
            <a:ext cx="2628900" cy="38100"/>
          </a:xfrm>
          <a:prstGeom prst="rect">
            <a:avLst/>
          </a:prstGeom>
          <a:solidFill>
            <a:srgbClr val="48CAE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533775" y="1996380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48CAE4">
              <a:alpha val="2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605213" y="2063055"/>
            <a:ext cx="1651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48CAE4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02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933825" y="2057400"/>
            <a:ext cx="1350455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Volume &amp; Tipografi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533775" y="2415480"/>
            <a:ext cx="2324100" cy="514350"/>
          </a:xfrm>
          <a:prstGeom prst="roundRect">
            <a:avLst>
              <a:gd name="adj" fmla="val 14815"/>
            </a:avLst>
          </a:prstGeom>
          <a:solidFill>
            <a:srgbClr val="0B132B">
              <a:alpha val="70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638550" y="2520255"/>
            <a:ext cx="215684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KETENTUAN BAB 3 PEDOMAN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638550" y="2653605"/>
            <a:ext cx="215684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48CAE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Naskah ≥ 50 Halaman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533775" y="3044130"/>
            <a:ext cx="232410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ts val="1350"/>
              </a:lnSpc>
              <a:spcAft>
                <a:spcPts val="45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Ketebalan Akademik:</a:t>
            </a:r>
            <a:pPr algn="l" indent="0" marL="0">
              <a:lnSpc>
                <a:spcPts val="1350"/>
              </a:lnSpc>
              <a:spcAft>
                <a:spcPts val="450"/>
              </a:spcAft>
              <a:buNone/>
            </a:pPr>
            <a:r>
              <a:rPr lang="en-US" sz="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Proposal &amp; naskah komprehensif melampaui standar minimal.</a:t>
            </a:r>
            <a:endParaRPr lang="en-US" sz="900" dirty="0"/>
          </a:p>
          <a:p>
            <a:pPr algn="l" marL="152400" indent="-152400">
              <a:lnSpc>
                <a:spcPts val="1350"/>
              </a:lnSpc>
              <a:spcAft>
                <a:spcPts val="45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Format Standar:</a:t>
            </a:r>
            <a:pPr algn="l" indent="0" marL="0">
              <a:lnSpc>
                <a:spcPts val="1350"/>
              </a:lnSpc>
              <a:spcAft>
                <a:spcPts val="450"/>
              </a:spcAft>
              <a:buNone/>
            </a:pPr>
            <a:r>
              <a:rPr lang="en-US" sz="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Times New Roman 12 pt, spasi ganda, margin 4-4-3-3 cm.</a:t>
            </a:r>
            <a:endParaRPr lang="en-US" sz="900" dirty="0"/>
          </a:p>
          <a:p>
            <a:pPr algn="l" marL="152400" indent="-152400">
              <a:lnSpc>
                <a:spcPts val="1350"/>
              </a:lnSpc>
              <a:spcAft>
                <a:spcPts val="45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Sistematika Baku:</a:t>
            </a:r>
            <a:pPr algn="l" indent="0" marL="0">
              <a:lnSpc>
                <a:spcPts val="1350"/>
              </a:lnSpc>
              <a:spcAft>
                <a:spcPts val="450"/>
              </a:spcAft>
              <a:buNone/>
            </a:pPr>
            <a:r>
              <a:rPr lang="en-US" sz="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Bab I Pendahuluan hingga Bab III Metodologi terstruktur.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172200" y="1796355"/>
            <a:ext cx="2647950" cy="3162300"/>
          </a:xfrm>
          <a:prstGeom prst="roundRect">
            <a:avLst>
              <a:gd name="adj" fmla="val 5036"/>
            </a:avLst>
          </a:prstGeom>
          <a:solidFill>
            <a:srgbClr val="1C2541">
              <a:alpha val="65000"/>
            </a:srgbClr>
          </a:solidFill>
          <a:ln w="9525">
            <a:solidFill>
              <a:srgbClr val="FFFFFF"/>
            </a:solidFill>
          </a:ln>
          <a:effectLst>
            <a:outerShdw sx="100000" sy="100000" kx="0" ky="0" algn="bl" rotWithShape="0" blurRad="228600" dist="76200" dir="5400000">
              <a:srgbClr val="00000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181725" y="1805880"/>
            <a:ext cx="2628900" cy="38100"/>
          </a:xfrm>
          <a:prstGeom prst="rect">
            <a:avLst/>
          </a:prstGeom>
          <a:solidFill>
            <a:srgbClr val="F4A26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334125" y="1996380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F4A261">
              <a:alpha val="2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405563" y="2063055"/>
            <a:ext cx="1651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4A261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03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734175" y="2057400"/>
            <a:ext cx="1515618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Rujukan Pembimbing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34125" y="2415480"/>
            <a:ext cx="2324100" cy="514350"/>
          </a:xfrm>
          <a:prstGeom prst="roundRect">
            <a:avLst>
              <a:gd name="adj" fmla="val 14815"/>
            </a:avLst>
          </a:prstGeom>
          <a:solidFill>
            <a:srgbClr val="0B132B">
              <a:alpha val="70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438900" y="2520255"/>
            <a:ext cx="215684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INTEGRASI RISET DOSEN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438900" y="2653605"/>
            <a:ext cx="215684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4A26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Colline et al. (2024)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334125" y="3044130"/>
            <a:ext cx="232410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ts val="1350"/>
              </a:lnSpc>
              <a:spcAft>
                <a:spcPts val="45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Landasan Keputusan:</a:t>
            </a:r>
            <a:pPr algn="l" indent="0" marL="0">
              <a:lnSpc>
                <a:spcPts val="1350"/>
              </a:lnSpc>
              <a:spcAft>
                <a:spcPts val="450"/>
              </a:spcAft>
              <a:buNone/>
            </a:pPr>
            <a:r>
              <a:rPr lang="en-US" sz="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Mengintegrasikan riset Ibu Dr. Fredella Colline (2024).</a:t>
            </a:r>
            <a:endParaRPr lang="en-US" sz="900" dirty="0"/>
          </a:p>
          <a:p>
            <a:pPr algn="l" marL="152400" indent="-152400">
              <a:lnSpc>
                <a:spcPts val="1350"/>
              </a:lnSpc>
              <a:spcAft>
                <a:spcPts val="45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Relevansi Topik:</a:t>
            </a:r>
            <a:pPr algn="l" indent="0" marL="0">
              <a:lnSpc>
                <a:spcPts val="1350"/>
              </a:lnSpc>
              <a:spcAft>
                <a:spcPts val="450"/>
              </a:spcAft>
              <a:buNone/>
            </a:pPr>
            <a:r>
              <a:rPr lang="en-US" sz="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Hubungan literasi, bias psikologis, dan perilaku finansial.</a:t>
            </a:r>
            <a:endParaRPr lang="en-US" sz="900" dirty="0"/>
          </a:p>
          <a:p>
            <a:pPr algn="l" marL="152400" indent="-152400">
              <a:lnSpc>
                <a:spcPts val="1350"/>
              </a:lnSpc>
              <a:spcAft>
                <a:spcPts val="45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Kredibilitas Institusi:</a:t>
            </a:r>
            <a:pPr algn="l" indent="0" marL="0">
              <a:lnSpc>
                <a:spcPts val="1350"/>
              </a:lnSpc>
              <a:spcAft>
                <a:spcPts val="450"/>
              </a:spcAft>
              <a:buNone/>
            </a:pPr>
            <a:r>
              <a:rPr lang="en-US" sz="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Menyelaraskan arah riset dengan fokus keilmuan prodi.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972550" y="1796355"/>
            <a:ext cx="2647950" cy="3162300"/>
          </a:xfrm>
          <a:prstGeom prst="roundRect">
            <a:avLst>
              <a:gd name="adj" fmla="val 5036"/>
            </a:avLst>
          </a:prstGeom>
          <a:solidFill>
            <a:srgbClr val="1C2541">
              <a:alpha val="65000"/>
            </a:srgbClr>
          </a:solidFill>
          <a:ln w="9525">
            <a:solidFill>
              <a:srgbClr val="FFFFFF"/>
            </a:solidFill>
          </a:ln>
          <a:effectLst>
            <a:outerShdw sx="100000" sy="100000" kx="0" ky="0" algn="bl" rotWithShape="0" blurRad="228600" dist="76200" dir="5400000">
              <a:srgbClr val="00000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982075" y="1805880"/>
            <a:ext cx="2628900" cy="38100"/>
          </a:xfrm>
          <a:prstGeom prst="rect">
            <a:avLst/>
          </a:prstGeom>
          <a:solidFill>
            <a:srgbClr val="E76F5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9134475" y="1996380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E76F51">
              <a:alpha val="2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9201150" y="2063055"/>
            <a:ext cx="17487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E76F51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04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9534525" y="2057400"/>
            <a:ext cx="1467041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Zero Ghost Citations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134475" y="2415480"/>
            <a:ext cx="2324100" cy="514350"/>
          </a:xfrm>
          <a:prstGeom prst="roundRect">
            <a:avLst>
              <a:gd name="adj" fmla="val 14815"/>
            </a:avLst>
          </a:prstGeom>
          <a:solidFill>
            <a:srgbClr val="0B132B">
              <a:alpha val="70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9239250" y="2520255"/>
            <a:ext cx="215684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KOLEKSI BUKU BABON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9239250" y="2653605"/>
            <a:ext cx="215684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E76F5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 Buku Teks Terverifikasi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9134475" y="3044130"/>
            <a:ext cx="2324100" cy="165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ts val="1350"/>
              </a:lnSpc>
              <a:spcAft>
                <a:spcPts val="45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Bukti Fisik PDF:</a:t>
            </a:r>
            <a:pPr algn="l" indent="0" marL="0">
              <a:lnSpc>
                <a:spcPts val="1350"/>
              </a:lnSpc>
              <a:spcAft>
                <a:spcPts val="450"/>
              </a:spcAft>
              <a:buNone/>
            </a:pPr>
            <a:r>
              <a:rPr lang="en-US" sz="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Ghozali, Sugiyono, Cooper, Sekaran, dkk. tersedia di repositori.</a:t>
            </a:r>
            <a:endParaRPr lang="en-US" sz="900" dirty="0"/>
          </a:p>
          <a:p>
            <a:pPr algn="l" marL="152400" indent="-152400">
              <a:lnSpc>
                <a:spcPts val="1350"/>
              </a:lnSpc>
              <a:spcAft>
                <a:spcPts val="45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Daftar Pustaka APA 7th:</a:t>
            </a:r>
            <a:pPr algn="l" indent="0" marL="0">
              <a:lnSpc>
                <a:spcPts val="1350"/>
              </a:lnSpc>
              <a:spcAft>
                <a:spcPts val="450"/>
              </a:spcAft>
              <a:buNone/>
            </a:pPr>
            <a:r>
              <a:rPr lang="en-US" sz="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Urut alfabetis A-Z murni tanpa nomor urut (Pedoman FEB).</a:t>
            </a:r>
            <a:endParaRPr lang="en-US" sz="900" dirty="0"/>
          </a:p>
          <a:p>
            <a:pPr algn="l" marL="152400" indent="-152400">
              <a:lnSpc>
                <a:spcPts val="1350"/>
              </a:lnSpc>
              <a:spcAft>
                <a:spcPts val="45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Cross-Referencing:</a:t>
            </a:r>
            <a:pPr algn="l" indent="0" marL="0">
              <a:lnSpc>
                <a:spcPts val="1350"/>
              </a:lnSpc>
              <a:spcAft>
                <a:spcPts val="450"/>
              </a:spcAft>
              <a:buNone/>
            </a:pPr>
            <a:r>
              <a:rPr lang="en-US" sz="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Seluruh in-text citation terhubung valid ke Daftar Pustaka.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71500" y="5886450"/>
            <a:ext cx="11049000" cy="590550"/>
          </a:xfrm>
          <a:prstGeom prst="roundRect">
            <a:avLst>
              <a:gd name="adj" fmla="val 19355"/>
            </a:avLst>
          </a:prstGeom>
          <a:solidFill>
            <a:srgbClr val="111827">
              <a:alpha val="75000"/>
            </a:srgbClr>
          </a:solidFill>
          <a:ln w="9525">
            <a:solidFill>
              <a:srgbClr val="48CAE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09625" y="6038850"/>
            <a:ext cx="719842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8CAE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Status Audit Dokumen:</a:t>
            </a:r>
            <a:pPr algn="l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Seluruh ketentuan tata kelola Pedoman FEB UKRIDA 2023, orisinalitas naskah, dan verifikasi sitasi telah dipenuhi 100%.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866906" y="6010275"/>
            <a:ext cx="1155353" cy="342900"/>
          </a:xfrm>
          <a:prstGeom prst="roundRect">
            <a:avLst>
              <a:gd name="adj" fmla="val 55556"/>
            </a:avLst>
          </a:prstGeom>
          <a:solidFill>
            <a:srgbClr val="06D6A0">
              <a:alpha val="15000"/>
            </a:srgbClr>
          </a:solidFill>
          <a:ln w="9525">
            <a:solidFill>
              <a:srgbClr val="06D6A0"/>
            </a:solidFill>
          </a:ln>
        </p:spPr>
        <p:txBody>
          <a:bodyPr wrap="square" lIns="95250" tIns="38100" rIns="95250" bIns="38100" rtlCol="0" anchor="ctr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06D6A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✓ Turnitin Compliant</a:t>
            </a:r>
            <a:endParaRPr lang="en-US" sz="825" dirty="0"/>
          </a:p>
        </p:txBody>
      </p:sp>
      <p:sp>
        <p:nvSpPr>
          <p:cNvPr id="45" name="Text 43"/>
          <p:cNvSpPr/>
          <p:nvPr/>
        </p:nvSpPr>
        <p:spPr>
          <a:xfrm>
            <a:off x="9136559" y="6010275"/>
            <a:ext cx="1112639" cy="342900"/>
          </a:xfrm>
          <a:prstGeom prst="roundRect">
            <a:avLst>
              <a:gd name="adj" fmla="val 55556"/>
            </a:avLst>
          </a:prstGeom>
          <a:solidFill>
            <a:srgbClr val="06D6A0">
              <a:alpha val="15000"/>
            </a:srgbClr>
          </a:solidFill>
          <a:ln w="9525">
            <a:solidFill>
              <a:srgbClr val="06D6A0"/>
            </a:solidFill>
          </a:ln>
        </p:spPr>
        <p:txBody>
          <a:bodyPr wrap="square" lIns="95250" tIns="38100" rIns="95250" bIns="38100" rtlCol="0" anchor="ctr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06D6A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✓ APA 7th Validated</a:t>
            </a:r>
            <a:endParaRPr lang="en-US" sz="825" dirty="0"/>
          </a:p>
        </p:txBody>
      </p:sp>
      <p:sp>
        <p:nvSpPr>
          <p:cNvPr id="46" name="Text 44"/>
          <p:cNvSpPr/>
          <p:nvPr/>
        </p:nvSpPr>
        <p:spPr>
          <a:xfrm>
            <a:off x="10363498" y="6010275"/>
            <a:ext cx="1018877" cy="342900"/>
          </a:xfrm>
          <a:prstGeom prst="roundRect">
            <a:avLst>
              <a:gd name="adj" fmla="val 55556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/>
            </a:solidFill>
          </a:ln>
        </p:spPr>
        <p:txBody>
          <a:bodyPr wrap="square" lIns="95250" tIns="38100" rIns="95250" bIns="38100" rtlCol="0" anchor="ctr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FEB UKRIDA 2026</a:t>
            </a:r>
            <a:endParaRPr lang="en-US" sz="82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381000"/>
            <a:ext cx="592645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F4A26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KESIMPULAN &amp; TANYA JAWAB</a:t>
            </a:r>
            <a:endParaRPr lang="en-US" sz="975" dirty="0"/>
          </a:p>
        </p:txBody>
      </p:sp>
      <p:sp>
        <p:nvSpPr>
          <p:cNvPr id="3" name="Text 1"/>
          <p:cNvSpPr/>
          <p:nvPr/>
        </p:nvSpPr>
        <p:spPr>
          <a:xfrm>
            <a:off x="571500" y="571500"/>
            <a:ext cx="5926455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Kesiapan Eksekusi Riset &amp; Kontribusi Pengetahuan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1020425" y="381000"/>
            <a:ext cx="600075" cy="266700"/>
          </a:xfrm>
          <a:prstGeom prst="roundRect">
            <a:avLst>
              <a:gd name="adj" fmla="val 42857"/>
            </a:avLst>
          </a:prstGeom>
          <a:noFill/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1144250" y="428625"/>
            <a:ext cx="35947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15 / 15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71500" y="1834902"/>
            <a:ext cx="5429250" cy="2628007"/>
          </a:xfrm>
          <a:prstGeom prst="roundRect">
            <a:avLst>
              <a:gd name="adj" fmla="val 5074"/>
            </a:avLst>
          </a:prstGeom>
          <a:solidFill>
            <a:srgbClr val="1C2541">
              <a:alpha val="65000"/>
            </a:srgbClr>
          </a:solidFill>
          <a:ln w="9525">
            <a:solidFill>
              <a:srgbClr val="FFFFFF"/>
            </a:solidFill>
          </a:ln>
          <a:effectLst>
            <a:outerShdw sx="100000" sy="100000" kx="0" ky="0" algn="bl" rotWithShape="0" blurRad="228600" dist="76200" dir="5400000">
              <a:srgbClr val="00000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809625" y="2620714"/>
            <a:ext cx="49530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9625" y="2053977"/>
            <a:ext cx="264261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6D6A0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⚡</a:t>
            </a:r>
            <a:pPr algn="l" indent="0" marL="0">
              <a:buNone/>
            </a:pPr>
            <a:r>
              <a:rPr lang="en-US" sz="1275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 </a:t>
            </a:r>
            <a:pPr algn="l" indent="0" marL="0">
              <a:buNone/>
            </a:pPr>
            <a:r>
              <a:rPr lang="en-US" sz="1275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Kesiapan Metodologis &amp; Lapangan</a:t>
            </a:r>
            <a:endParaRPr lang="en-US" sz="1275" dirty="0"/>
          </a:p>
        </p:txBody>
      </p:sp>
      <p:sp>
        <p:nvSpPr>
          <p:cNvPr id="9" name="Text 7"/>
          <p:cNvSpPr/>
          <p:nvPr/>
        </p:nvSpPr>
        <p:spPr>
          <a:xfrm>
            <a:off x="809625" y="2815977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06D6A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00125" y="2758827"/>
            <a:ext cx="4857750" cy="358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Instrumen Kuesioner Siap:</a:t>
            </a:r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Skala baku tervalidasi (Rook &amp; Fisher, Babin, Goyal, Shaffer, Tangney) siap uji coba instrumen 30 responden.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809625" y="3289250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06D6A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00125" y="3232100"/>
            <a:ext cx="4857750" cy="358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Akses Jaringan Komunitas:</a:t>
            </a:r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Terhubung dengan ekosistem LGS (Local Game Stores), turnamen resmi, dan grup kolektor Pokemon TCG Jabodetabek.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809625" y="3762524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06D6A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00125" y="3705374"/>
            <a:ext cx="4857750" cy="538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Kesiapan Analisis Ekonometrika:</a:t>
            </a:r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Dataset pipeline disiapkan untuk uji MRA 2-Tahap, mean-centering z-score, dan uji asumsi klasik via IBM SPSS &amp; Hayes PROCESS.</a:t>
            </a:r>
            <a:endParaRPr lang="en-US" sz="975" dirty="0"/>
          </a:p>
        </p:txBody>
      </p:sp>
      <p:sp>
        <p:nvSpPr>
          <p:cNvPr id="15" name="Text 13"/>
          <p:cNvSpPr/>
          <p:nvPr/>
        </p:nvSpPr>
        <p:spPr>
          <a:xfrm>
            <a:off x="6191250" y="1834902"/>
            <a:ext cx="5429250" cy="2628007"/>
          </a:xfrm>
          <a:prstGeom prst="roundRect">
            <a:avLst>
              <a:gd name="adj" fmla="val 5074"/>
            </a:avLst>
          </a:prstGeom>
          <a:solidFill>
            <a:srgbClr val="1C2541">
              <a:alpha val="65000"/>
            </a:srgbClr>
          </a:solidFill>
          <a:ln w="9525">
            <a:solidFill>
              <a:srgbClr val="FFFFFF"/>
            </a:solidFill>
          </a:ln>
          <a:effectLst>
            <a:outerShdw sx="100000" sy="100000" kx="0" ky="0" algn="bl" rotWithShape="0" blurRad="228600" dist="76200" dir="5400000">
              <a:srgbClr val="00000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429375" y="2620714"/>
            <a:ext cx="49530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29375" y="2053977"/>
            <a:ext cx="2185988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48CAE4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💎</a:t>
            </a:r>
            <a:pPr algn="l" indent="0" marL="0">
              <a:buNone/>
            </a:pPr>
            <a:r>
              <a:rPr lang="en-US" sz="1275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 </a:t>
            </a:r>
            <a:pPr algn="l" indent="0" marL="0">
              <a:buNone/>
            </a:pPr>
            <a:r>
              <a:rPr lang="en-US" sz="1275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Kontribusi Teoretis &amp; Praktis</a:t>
            </a:r>
            <a:endParaRPr lang="en-US" sz="1275" dirty="0"/>
          </a:p>
        </p:txBody>
      </p:sp>
      <p:sp>
        <p:nvSpPr>
          <p:cNvPr id="18" name="Text 16"/>
          <p:cNvSpPr/>
          <p:nvPr/>
        </p:nvSpPr>
        <p:spPr>
          <a:xfrm>
            <a:off x="6429375" y="2995464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48CAE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619875" y="2938314"/>
            <a:ext cx="4857750" cy="358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Teoretis (Behavioral Finance):</a:t>
            </a:r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Membuktikan secara empiris peran Self-Control dalam memitigasi anomali irasional pada pasar aset alternatif kolektibel.</a:t>
            </a:r>
            <a:endParaRPr lang="en-US" sz="975" dirty="0"/>
          </a:p>
        </p:txBody>
      </p:sp>
      <p:sp>
        <p:nvSpPr>
          <p:cNvPr id="20" name="Text 18"/>
          <p:cNvSpPr/>
          <p:nvPr/>
        </p:nvSpPr>
        <p:spPr>
          <a:xfrm>
            <a:off x="6429375" y="3468737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48CAE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619875" y="3411587"/>
            <a:ext cx="4857750" cy="358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Praktis (Literasi Finansial):</a:t>
            </a:r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Menyediakan panduan bagi generasi muda dalam mengelola bias FOMO dan alokasi dana hobi vs. investasi riil.</a:t>
            </a:r>
            <a:endParaRPr lang="en-US" sz="975" dirty="0"/>
          </a:p>
        </p:txBody>
      </p:sp>
      <p:sp>
        <p:nvSpPr>
          <p:cNvPr id="22" name="Text 20"/>
          <p:cNvSpPr/>
          <p:nvPr/>
        </p:nvSpPr>
        <p:spPr>
          <a:xfrm>
            <a:off x="6429375" y="3942011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48CAE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619875" y="3884861"/>
            <a:ext cx="4857750" cy="358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Kebijakan &amp; Industri:</a:t>
            </a:r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Masukan bagi industri blind-box game mengenai etika transparansi drop-rate dan proteksi konsumen rentan.</a:t>
            </a:r>
            <a:endParaRPr lang="en-US" sz="975" dirty="0"/>
          </a:p>
        </p:txBody>
      </p:sp>
      <p:pic>
        <p:nvPicPr>
          <p:cNvPr id="24" name="Image 0" descr="C:\Users\arthu\AppData\Local\Temp\html2pptx-Uh2nEK\html2pptx-bg-1789997182463-3430a8a873ae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5238750"/>
            <a:ext cx="11620500" cy="161925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876300" y="5434013"/>
            <a:ext cx="10439400" cy="0"/>
          </a:xfrm>
          <a:prstGeom prst="line">
            <a:avLst/>
          </a:prstGeom>
          <a:noFill/>
          <a:ln w="9525">
            <a:solidFill>
              <a:srgbClr val="48CAE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1615738" y="5619750"/>
            <a:ext cx="0" cy="666750"/>
          </a:xfrm>
          <a:prstGeom prst="line">
            <a:avLst/>
          </a:prstGeom>
          <a:noFill/>
          <a:ln w="9525">
            <a:solidFill>
              <a:srgbClr val="48CAE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76300" y="6472238"/>
            <a:ext cx="10439400" cy="0"/>
          </a:xfrm>
          <a:prstGeom prst="line">
            <a:avLst/>
          </a:prstGeom>
          <a:noFill/>
          <a:ln w="9525">
            <a:solidFill>
              <a:srgbClr val="48CAE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76263" y="5619750"/>
            <a:ext cx="0" cy="666750"/>
          </a:xfrm>
          <a:prstGeom prst="line">
            <a:avLst/>
          </a:prstGeom>
          <a:noFill/>
          <a:ln w="9525">
            <a:solidFill>
              <a:srgbClr val="48CAE4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85825" y="5641777"/>
            <a:ext cx="660654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48CAE4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Terima Kasih / Q&amp;A Session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885825" y="5918002"/>
            <a:ext cx="6606540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Proposal penelitian ini terbuka penuh untuk arahan, masukan perbaikan, dan diskusi mendalam bersama Bapak/Ibu Dewan Penguji demi penyempurnaan karya ilmiah skripsi.</a:t>
            </a:r>
            <a:endParaRPr lang="en-US" sz="975" dirty="0"/>
          </a:p>
        </p:txBody>
      </p:sp>
      <p:sp>
        <p:nvSpPr>
          <p:cNvPr id="31" name="Shape 28"/>
          <p:cNvSpPr/>
          <p:nvPr/>
        </p:nvSpPr>
        <p:spPr>
          <a:xfrm>
            <a:off x="8905875" y="5629275"/>
            <a:ext cx="0" cy="64770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100757" y="5629275"/>
            <a:ext cx="220541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utfit Thin" pitchFamily="34" charset="0"/>
                <a:ea typeface="Outfit Thin" pitchFamily="34" charset="-122"/>
                <a:cs typeface="Outfit Thin" pitchFamily="34" charset="-120"/>
              </a:rPr>
              <a:t>Arthur Christian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9100757" y="5819775"/>
            <a:ext cx="220541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4A26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NIM: 112021027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9100757" y="6010275"/>
            <a:ext cx="220541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25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Pembimbing: Dr. Fredella Colline, S.E., M.M.</a:t>
            </a:r>
            <a:endParaRPr lang="en-US" sz="825" dirty="0"/>
          </a:p>
        </p:txBody>
      </p:sp>
      <p:sp>
        <p:nvSpPr>
          <p:cNvPr id="35" name="Text 32"/>
          <p:cNvSpPr/>
          <p:nvPr/>
        </p:nvSpPr>
        <p:spPr>
          <a:xfrm>
            <a:off x="9100757" y="6153150"/>
            <a:ext cx="220541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25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Fakultas Ekonomi dan Bisnis • UKRIDA 2026</a:t>
            </a:r>
            <a:endParaRPr lang="en-US" sz="8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FEB UKRIDA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Seminar Proposal Skripsi - Pengaruh Hedonic, Completeness, Speculative Motive terhadap Impulsive Buying Pokemon TCG</dc:title>
  <dc:subject/>
  <dc:creator>Arthur Christian</dc:creator>
  <cp:lastModifiedBy>Arthur Christian</cp:lastModifiedBy>
  <cp:revision>1</cp:revision>
  <dcterms:created xsi:type="dcterms:W3CDTF">2026-09-21T13:26:22Z</dcterms:created>
  <dcterms:modified xsi:type="dcterms:W3CDTF">2026-09-21T13:26:23Z</dcterms:modified>
</cp:coreProperties>
</file>